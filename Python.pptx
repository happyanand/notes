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9.xml" ContentType="application/vnd.openxmlformats-officedocument.presentationml.slide+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357"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358" r:id="rId38"/>
    <p:sldId id="292" r:id="rId39"/>
    <p:sldId id="293" r:id="rId40"/>
    <p:sldId id="294" r:id="rId41"/>
    <p:sldId id="295" r:id="rId42"/>
    <p:sldId id="296" r:id="rId43"/>
    <p:sldId id="297" r:id="rId44"/>
    <p:sldId id="298" r:id="rId45"/>
    <p:sldId id="359" r:id="rId46"/>
    <p:sldId id="361" r:id="rId47"/>
    <p:sldId id="362" r:id="rId48"/>
    <p:sldId id="363" r:id="rId49"/>
    <p:sldId id="364" r:id="rId50"/>
    <p:sldId id="365"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67" r:id="rId68"/>
    <p:sldId id="318" r:id="rId69"/>
    <p:sldId id="319" r:id="rId70"/>
    <p:sldId id="320" r:id="rId71"/>
    <p:sldId id="321" r:id="rId72"/>
    <p:sldId id="322" r:id="rId73"/>
    <p:sldId id="323" r:id="rId74"/>
    <p:sldId id="368" r:id="rId75"/>
    <p:sldId id="369" r:id="rId76"/>
    <p:sldId id="325" r:id="rId77"/>
    <p:sldId id="326" r:id="rId78"/>
    <p:sldId id="327" r:id="rId79"/>
    <p:sldId id="328" r:id="rId80"/>
    <p:sldId id="329" r:id="rId81"/>
    <p:sldId id="330" r:id="rId82"/>
    <p:sldId id="331" r:id="rId83"/>
    <p:sldId id="332" r:id="rId84"/>
    <p:sldId id="333" r:id="rId85"/>
    <p:sldId id="301"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362" autoAdjust="0"/>
    <p:restoredTop sz="94660"/>
  </p:normalViewPr>
  <p:slideViewPr>
    <p:cSldViewPr>
      <p:cViewPr>
        <p:scale>
          <a:sx n="50" d="100"/>
          <a:sy n="50" d="100"/>
        </p:scale>
        <p:origin x="-1086" y="-48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9F410AB-1BD0-4A51-8153-AA37C4D2EE87}" type="datetimeFigureOut">
              <a:rPr lang="en-US" smtClean="0"/>
              <a:pPr/>
              <a:t>16-05-2019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CE43CE-0EB8-4F10-B050-667D8BD98228}"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9F410AB-1BD0-4A51-8153-AA37C4D2EE87}" type="datetimeFigureOut">
              <a:rPr lang="en-US" smtClean="0"/>
              <a:pPr/>
              <a:t>16-05-2019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CE43CE-0EB8-4F10-B050-667D8BD98228}"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F410AB-1BD0-4A51-8153-AA37C4D2EE87}" type="datetimeFigureOut">
              <a:rPr lang="en-US" smtClean="0"/>
              <a:pPr/>
              <a:t>16-05-2019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CE43CE-0EB8-4F10-B050-667D8BD98228}"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9F410AB-1BD0-4A51-8153-AA37C4D2EE87}" type="datetimeFigureOut">
              <a:rPr lang="en-US" smtClean="0"/>
              <a:pPr/>
              <a:t>16-05-2019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CE43CE-0EB8-4F10-B050-667D8BD98228}"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9F410AB-1BD0-4A51-8153-AA37C4D2EE87}" type="datetimeFigureOut">
              <a:rPr lang="en-US" smtClean="0"/>
              <a:pPr/>
              <a:t>16-05-2019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7CE43CE-0EB8-4F10-B050-667D8BD98228}"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9F410AB-1BD0-4A51-8153-AA37C4D2EE87}" type="datetimeFigureOut">
              <a:rPr lang="en-US" smtClean="0"/>
              <a:pPr/>
              <a:t>16-05-2019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CE43CE-0EB8-4F10-B050-667D8BD98228}"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F410AB-1BD0-4A51-8153-AA37C4D2EE87}" type="datetimeFigureOut">
              <a:rPr lang="en-US" smtClean="0"/>
              <a:pPr/>
              <a:t>16-05-2019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7CE43CE-0EB8-4F10-B050-667D8BD98228}"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F410AB-1BD0-4A51-8153-AA37C4D2EE87}" type="datetimeFigureOut">
              <a:rPr lang="en-US" smtClean="0"/>
              <a:pPr/>
              <a:t>16-05-2019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CE43CE-0EB8-4F10-B050-667D8BD98228}"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F410AB-1BD0-4A51-8153-AA37C4D2EE87}" type="datetimeFigureOut">
              <a:rPr lang="en-US" smtClean="0"/>
              <a:pPr/>
              <a:t>16-05-2019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CE43CE-0EB8-4F10-B050-667D8BD98228}"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9F410AB-1BD0-4A51-8153-AA37C4D2EE87}" type="datetimeFigureOut">
              <a:rPr lang="en-US" smtClean="0"/>
              <a:pPr/>
              <a:t>16-05-2019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CE43CE-0EB8-4F10-B050-667D8BD98228}"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9F410AB-1BD0-4A51-8153-AA37C4D2EE87}" type="datetimeFigureOut">
              <a:rPr lang="en-US" smtClean="0"/>
              <a:pPr/>
              <a:t>16-05-2019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CE43CE-0EB8-4F10-B050-667D8BD98228}"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F410AB-1BD0-4A51-8153-AA37C4D2EE87}" type="datetimeFigureOut">
              <a:rPr lang="en-US" smtClean="0"/>
              <a:pPr/>
              <a:t>16-05-2019</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CE43CE-0EB8-4F10-B050-667D8BD98228}"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tutorialspoint.com/python/python_if_else.htm" TargetMode="External"/><Relationship Id="rId2" Type="http://schemas.openxmlformats.org/officeDocument/2006/relationships/hyperlink" Target="https://www.tutorialspoint.com/python/python_if_statement.htm" TargetMode="External"/><Relationship Id="rId1" Type="http://schemas.openxmlformats.org/officeDocument/2006/relationships/slideLayout" Target="../slideLayouts/slideLayout2.xml"/><Relationship Id="rId4" Type="http://schemas.openxmlformats.org/officeDocument/2006/relationships/hyperlink" Target="https://www.tutorialspoint.com/python/nested_if_statements_in_python.htm"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tutorialspoint.com/python/python_for_loop.htm" TargetMode="External"/><Relationship Id="rId2" Type="http://schemas.openxmlformats.org/officeDocument/2006/relationships/hyperlink" Target="https://www.tutorialspoint.com/python/python_while_loop.htm" TargetMode="External"/><Relationship Id="rId1" Type="http://schemas.openxmlformats.org/officeDocument/2006/relationships/slideLayout" Target="../slideLayouts/slideLayout2.xml"/><Relationship Id="rId4" Type="http://schemas.openxmlformats.org/officeDocument/2006/relationships/hyperlink" Target="https://www.tutorialspoint.com/python/python_nested_loops.htm"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www.tutorialspoint.com/python/python_continue_statement.htm" TargetMode="External"/><Relationship Id="rId2" Type="http://schemas.openxmlformats.org/officeDocument/2006/relationships/hyperlink" Target="https://www.tutorialspoint.com/python/python_break_statement.htm" TargetMode="External"/><Relationship Id="rId1" Type="http://schemas.openxmlformats.org/officeDocument/2006/relationships/slideLayout" Target="../slideLayouts/slideLayout2.xml"/><Relationship Id="rId4" Type="http://schemas.openxmlformats.org/officeDocument/2006/relationships/hyperlink" Target="https://www.tutorialspoint.com/python/python_pass_statement.ht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Python</a:t>
            </a:r>
            <a:endParaRPr lang="en-IN" dirty="0"/>
          </a:p>
        </p:txBody>
      </p:sp>
      <p:sp>
        <p:nvSpPr>
          <p:cNvPr id="3" name="Subtitle 2"/>
          <p:cNvSpPr>
            <a:spLocks noGrp="1"/>
          </p:cNvSpPr>
          <p:nvPr>
            <p:ph type="subTitle" idx="1"/>
          </p:nvPr>
        </p:nvSpPr>
        <p:spPr/>
        <p:txBody>
          <a:bodyPr/>
          <a:lstStyle/>
          <a:p>
            <a:endParaRPr lang="en-I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	Introduction</a:t>
            </a:r>
            <a:endParaRPr lang="en-IN" dirty="0"/>
          </a:p>
        </p:txBody>
      </p:sp>
      <p:sp>
        <p:nvSpPr>
          <p:cNvPr id="3" name="Content Placeholder 2"/>
          <p:cNvSpPr>
            <a:spLocks noGrp="1"/>
          </p:cNvSpPr>
          <p:nvPr>
            <p:ph idx="1"/>
          </p:nvPr>
        </p:nvSpPr>
        <p:spPr>
          <a:xfrm>
            <a:off x="457200" y="1071546"/>
            <a:ext cx="8229600" cy="5572164"/>
          </a:xfrm>
        </p:spPr>
        <p:txBody>
          <a:bodyPr>
            <a:normAutofit/>
          </a:bodyPr>
          <a:lstStyle/>
          <a:p>
            <a:r>
              <a:rPr lang="en-IN" dirty="0"/>
              <a:t>Python is a </a:t>
            </a:r>
            <a:endParaRPr lang="en-IN" dirty="0" smtClean="0"/>
          </a:p>
          <a:p>
            <a:pPr lvl="1"/>
            <a:r>
              <a:rPr lang="en-IN" dirty="0" smtClean="0"/>
              <a:t>general-purpose interpreted</a:t>
            </a:r>
          </a:p>
          <a:p>
            <a:pPr lvl="1"/>
            <a:r>
              <a:rPr lang="en-IN" dirty="0" smtClean="0"/>
              <a:t>Interactive</a:t>
            </a:r>
          </a:p>
          <a:p>
            <a:pPr lvl="1"/>
            <a:r>
              <a:rPr lang="en-IN" dirty="0" smtClean="0"/>
              <a:t>object-oriented</a:t>
            </a:r>
          </a:p>
          <a:p>
            <a:pPr lvl="1"/>
            <a:r>
              <a:rPr lang="en-IN" dirty="0" smtClean="0"/>
              <a:t>high-level </a:t>
            </a:r>
            <a:r>
              <a:rPr lang="en-IN" dirty="0"/>
              <a:t>programming </a:t>
            </a:r>
            <a:r>
              <a:rPr lang="en-IN" dirty="0" smtClean="0"/>
              <a:t>language</a:t>
            </a:r>
          </a:p>
          <a:p>
            <a:r>
              <a:rPr lang="en-IN" dirty="0" smtClean="0"/>
              <a:t>It </a:t>
            </a:r>
            <a:r>
              <a:rPr lang="en-IN" dirty="0"/>
              <a:t>was created by Guido van </a:t>
            </a:r>
            <a:r>
              <a:rPr lang="en-IN" dirty="0" err="1"/>
              <a:t>Rossum</a:t>
            </a:r>
            <a:r>
              <a:rPr lang="en-IN" dirty="0"/>
              <a:t> during 1985- 1990</a:t>
            </a:r>
            <a:r>
              <a:rPr lang="en-IN" dirty="0" smtClean="0"/>
              <a:t>.</a:t>
            </a:r>
          </a:p>
          <a:p>
            <a:r>
              <a:rPr lang="en-IN" dirty="0" smtClean="0"/>
              <a:t>It is available in GPL(General Public Licence).</a:t>
            </a:r>
          </a:p>
          <a:p>
            <a:r>
              <a:rPr lang="en-IN" dirty="0"/>
              <a:t>National Research Institute for Mathematics and Computer Science in the Netherlands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Python Features</a:t>
            </a:r>
            <a:endParaRPr lang="en-IN" dirty="0"/>
          </a:p>
        </p:txBody>
      </p:sp>
      <p:sp>
        <p:nvSpPr>
          <p:cNvPr id="3" name="Content Placeholder 2"/>
          <p:cNvSpPr>
            <a:spLocks noGrp="1"/>
          </p:cNvSpPr>
          <p:nvPr>
            <p:ph idx="1"/>
          </p:nvPr>
        </p:nvSpPr>
        <p:spPr>
          <a:xfrm>
            <a:off x="457200" y="1071546"/>
            <a:ext cx="8229600" cy="5643602"/>
          </a:xfrm>
        </p:spPr>
        <p:txBody>
          <a:bodyPr>
            <a:normAutofit fontScale="62500" lnSpcReduction="20000"/>
          </a:bodyPr>
          <a:lstStyle/>
          <a:p>
            <a:r>
              <a:rPr lang="en-IN" dirty="0" smtClean="0"/>
              <a:t>Easy-to-learn − Python has few keywords, simple structure, and a clearly defined syntax. This allows the student to pick up the language quickly.</a:t>
            </a:r>
          </a:p>
          <a:p>
            <a:r>
              <a:rPr lang="en-IN" dirty="0" smtClean="0"/>
              <a:t>Easy-to-read − Python code is more clearly defined and visible to the eyes.</a:t>
            </a:r>
          </a:p>
          <a:p>
            <a:r>
              <a:rPr lang="en-IN" dirty="0" smtClean="0"/>
              <a:t>Easy-to-maintain − Python's source code is fairly easy-to-maintain.</a:t>
            </a:r>
          </a:p>
          <a:p>
            <a:r>
              <a:rPr lang="en-IN" dirty="0" smtClean="0"/>
              <a:t>A broad standard library − Python's bulk of the library is very portable and cross-platform compatible on UNIX, Windows, and Macintosh.</a:t>
            </a:r>
          </a:p>
          <a:p>
            <a:r>
              <a:rPr lang="en-IN" dirty="0" smtClean="0"/>
              <a:t>Interactive Mode − Python has support for an interactive mode which allows interactive testing and debugging of snippets of code.</a:t>
            </a:r>
          </a:p>
          <a:p>
            <a:r>
              <a:rPr lang="en-IN" dirty="0" smtClean="0"/>
              <a:t>Portable − Python can run on a wide variety of hardware platforms and has the same interface on all platforms.</a:t>
            </a:r>
          </a:p>
          <a:p>
            <a:r>
              <a:rPr lang="en-IN" dirty="0" smtClean="0"/>
              <a:t>Extendable − You can add low-level modules to the Python interpreter. These modules enable programmers to add to or customize their tools to be more efficient.</a:t>
            </a:r>
          </a:p>
          <a:p>
            <a:r>
              <a:rPr lang="en-IN" dirty="0" smtClean="0"/>
              <a:t>Databases − Python provides interfaces to all major commercial databases.</a:t>
            </a:r>
          </a:p>
          <a:p>
            <a:r>
              <a:rPr lang="en-IN" dirty="0" smtClean="0"/>
              <a:t>GUI Programming − Python supports GUI applications that can be created and ported to many system calls, libraries and windows systems, such as Windows MFC, Macintosh, and the X Window system of Unix.</a:t>
            </a:r>
          </a:p>
          <a:p>
            <a:r>
              <a:rPr lang="en-IN" dirty="0" smtClean="0"/>
              <a:t>Scalable − Python provides a better structure and support for large programs than shell scripting.</a:t>
            </a:r>
            <a:endParaRPr lang="en-I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Identifiers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Identifier </a:t>
            </a:r>
            <a:r>
              <a:rPr lang="en-IN" dirty="0"/>
              <a:t>is a name used to identify a variable, function, class, module or other </a:t>
            </a:r>
            <a:r>
              <a:rPr lang="en-IN" dirty="0" smtClean="0"/>
              <a:t>object.</a:t>
            </a:r>
          </a:p>
          <a:p>
            <a:r>
              <a:rPr lang="en-IN" dirty="0"/>
              <a:t>An identifier starts with a letter A to Z or a to z or an underscore (_) followed by zero or more letters, underscores and digits (0 to 9</a:t>
            </a:r>
            <a:r>
              <a:rPr lang="en-IN" dirty="0" smtClean="0"/>
              <a:t>).</a:t>
            </a:r>
          </a:p>
          <a:p>
            <a:r>
              <a:rPr lang="en-IN" dirty="0"/>
              <a:t>Python does not allow punctuation characters such as @, $, and % within identifiers</a:t>
            </a:r>
            <a:r>
              <a:rPr lang="en-IN" dirty="0" smtClean="0"/>
              <a:t>.</a:t>
            </a:r>
          </a:p>
          <a:p>
            <a:r>
              <a:rPr lang="en-IN" dirty="0"/>
              <a:t>Python is a case sensitive programming language</a:t>
            </a:r>
            <a:r>
              <a:rPr lang="en-IN" dirty="0" smtClean="0"/>
              <a:t>.</a:t>
            </a:r>
          </a:p>
          <a:p>
            <a:endParaRPr lang="en-I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Reserved </a:t>
            </a:r>
            <a:r>
              <a:rPr lang="en-IN" dirty="0" smtClean="0"/>
              <a:t>Keywords</a:t>
            </a:r>
            <a:endParaRPr lang="en-IN" dirty="0"/>
          </a:p>
        </p:txBody>
      </p:sp>
      <p:graphicFrame>
        <p:nvGraphicFramePr>
          <p:cNvPr id="6" name="Content Placeholder 5"/>
          <p:cNvGraphicFramePr>
            <a:graphicFrameLocks noGrp="1"/>
          </p:cNvGraphicFramePr>
          <p:nvPr>
            <p:ph idx="1"/>
          </p:nvPr>
        </p:nvGraphicFramePr>
        <p:xfrm>
          <a:off x="571472" y="1000108"/>
          <a:ext cx="8229600" cy="461488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922976">
                <a:tc>
                  <a:txBody>
                    <a:bodyPr/>
                    <a:lstStyle/>
                    <a:p>
                      <a:pPr marL="0" algn="ctr" defTabSz="914400" rtl="0" eaLnBrk="1" latinLnBrk="0" hangingPunct="1"/>
                      <a:r>
                        <a:rPr lang="en-IN" sz="1800" kern="1200" dirty="0" smtClean="0">
                          <a:solidFill>
                            <a:schemeClr val="dk1"/>
                          </a:solidFill>
                          <a:latin typeface="+mn-lt"/>
                          <a:ea typeface="+mn-ea"/>
                          <a:cs typeface="+mn-cs"/>
                        </a:rPr>
                        <a:t>and</a:t>
                      </a:r>
                    </a:p>
                  </a:txBody>
                  <a:tcPr anchor="ctr">
                    <a:blipFill>
                      <a:blip r:embed="rId2"/>
                      <a:tile tx="0" ty="0" sx="100000" sy="100000" flip="none" algn="tl"/>
                    </a:blipFill>
                  </a:tcPr>
                </a:tc>
                <a:tc>
                  <a:txBody>
                    <a:bodyPr/>
                    <a:lstStyle/>
                    <a:p>
                      <a:pPr marL="0" algn="ctr" defTabSz="914400" rtl="0" eaLnBrk="1" latinLnBrk="0" hangingPunct="1"/>
                      <a:r>
                        <a:rPr lang="en-IN" sz="1800" kern="1200" dirty="0" smtClean="0">
                          <a:solidFill>
                            <a:schemeClr val="dk1"/>
                          </a:solidFill>
                          <a:latin typeface="+mn-lt"/>
                          <a:ea typeface="+mn-ea"/>
                          <a:cs typeface="+mn-cs"/>
                        </a:rPr>
                        <a:t>exec</a:t>
                      </a:r>
                    </a:p>
                  </a:txBody>
                  <a:tcPr anchor="ctr">
                    <a:blipFill>
                      <a:blip r:embed="rId2"/>
                      <a:tile tx="0" ty="0" sx="100000" sy="100000" flip="none" algn="tl"/>
                    </a:blipFill>
                  </a:tcPr>
                </a:tc>
                <a:tc>
                  <a:txBody>
                    <a:bodyPr/>
                    <a:lstStyle/>
                    <a:p>
                      <a:pPr marL="0" algn="ctr" defTabSz="914400" rtl="0" eaLnBrk="1" latinLnBrk="0" hangingPunct="1"/>
                      <a:r>
                        <a:rPr lang="en-IN" sz="1800" kern="1200" dirty="0" smtClean="0">
                          <a:solidFill>
                            <a:schemeClr val="dk1"/>
                          </a:solidFill>
                          <a:latin typeface="+mn-lt"/>
                          <a:ea typeface="+mn-ea"/>
                          <a:cs typeface="+mn-cs"/>
                        </a:rPr>
                        <a:t>not</a:t>
                      </a:r>
                    </a:p>
                  </a:txBody>
                  <a:tcPr anchor="ctr">
                    <a:blipFill>
                      <a:blip r:embed="rId2"/>
                      <a:tile tx="0" ty="0" sx="100000" sy="100000" flip="none" algn="tl"/>
                    </a:blipFill>
                  </a:tcPr>
                </a:tc>
                <a:tc>
                  <a:txBody>
                    <a:bodyPr/>
                    <a:lstStyle/>
                    <a:p>
                      <a:pPr marL="0" algn="ctr" defTabSz="914400" rtl="0" eaLnBrk="1" latinLnBrk="0" hangingPunct="1"/>
                      <a:r>
                        <a:rPr lang="en-IN" sz="1800" kern="1200" dirty="0" smtClean="0">
                          <a:solidFill>
                            <a:schemeClr val="dk1"/>
                          </a:solidFill>
                          <a:latin typeface="+mn-lt"/>
                          <a:ea typeface="+mn-ea"/>
                          <a:cs typeface="+mn-cs"/>
                        </a:rPr>
                        <a:t>assert</a:t>
                      </a:r>
                    </a:p>
                  </a:txBody>
                  <a:tcPr anchor="ctr">
                    <a:blipFill>
                      <a:blip r:embed="rId2"/>
                      <a:tile tx="0" ty="0" sx="100000" sy="100000" flip="none" algn="tl"/>
                    </a:blipFill>
                  </a:tcPr>
                </a:tc>
                <a:tc>
                  <a:txBody>
                    <a:bodyPr/>
                    <a:lstStyle/>
                    <a:p>
                      <a:pPr marL="0" algn="ctr" defTabSz="914400" rtl="0" eaLnBrk="1" latinLnBrk="0" hangingPunct="1"/>
                      <a:r>
                        <a:rPr lang="en-IN" sz="1800" kern="1200" dirty="0" smtClean="0">
                          <a:solidFill>
                            <a:schemeClr val="dk1"/>
                          </a:solidFill>
                          <a:latin typeface="+mn-lt"/>
                          <a:ea typeface="+mn-ea"/>
                          <a:cs typeface="+mn-cs"/>
                        </a:rPr>
                        <a:t>finally</a:t>
                      </a:r>
                    </a:p>
                  </a:txBody>
                  <a:tcPr anchor="ctr">
                    <a:blipFill>
                      <a:blip r:embed="rId2"/>
                      <a:tile tx="0" ty="0" sx="100000" sy="100000" flip="none" algn="tl"/>
                    </a:blipFill>
                  </a:tcPr>
                </a:tc>
                <a:tc>
                  <a:txBody>
                    <a:bodyPr/>
                    <a:lstStyle/>
                    <a:p>
                      <a:pPr marL="0" algn="ctr" defTabSz="914400" rtl="0" eaLnBrk="1" latinLnBrk="0" hangingPunct="1"/>
                      <a:r>
                        <a:rPr lang="en-IN" sz="1800" kern="1200" dirty="0" smtClean="0">
                          <a:solidFill>
                            <a:schemeClr val="dk1"/>
                          </a:solidFill>
                          <a:latin typeface="+mn-lt"/>
                          <a:ea typeface="+mn-ea"/>
                          <a:cs typeface="+mn-cs"/>
                        </a:rPr>
                        <a:t>or</a:t>
                      </a:r>
                    </a:p>
                  </a:txBody>
                  <a:tcPr anchor="ctr">
                    <a:blipFill>
                      <a:blip r:embed="rId2"/>
                      <a:tile tx="0" ty="0" sx="100000" sy="100000" flip="none" algn="tl"/>
                    </a:blipFill>
                  </a:tcPr>
                </a:tc>
              </a:tr>
              <a:tr h="922976">
                <a:tc>
                  <a:txBody>
                    <a:bodyPr/>
                    <a:lstStyle/>
                    <a:p>
                      <a:pPr marL="0" algn="ctr" defTabSz="914400" rtl="0" eaLnBrk="1" latinLnBrk="0" hangingPunct="1"/>
                      <a:r>
                        <a:rPr lang="en-IN" sz="1800" b="1" kern="1200" dirty="0" smtClean="0">
                          <a:solidFill>
                            <a:schemeClr val="dk1"/>
                          </a:solidFill>
                          <a:latin typeface="+mn-lt"/>
                          <a:ea typeface="+mn-ea"/>
                          <a:cs typeface="+mn-cs"/>
                        </a:rPr>
                        <a:t>break</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for</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pass</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class</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from</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print</a:t>
                      </a:r>
                    </a:p>
                  </a:txBody>
                  <a:tcPr anchor="ctr">
                    <a:blipFill>
                      <a:blip r:embed="rId2"/>
                      <a:tile tx="0" ty="0" sx="100000" sy="100000" flip="none" algn="tl"/>
                    </a:blipFill>
                  </a:tcPr>
                </a:tc>
              </a:tr>
              <a:tr h="922976">
                <a:tc>
                  <a:txBody>
                    <a:bodyPr/>
                    <a:lstStyle/>
                    <a:p>
                      <a:pPr marL="0" algn="ctr" defTabSz="914400" rtl="0" eaLnBrk="1" latinLnBrk="0" hangingPunct="1"/>
                      <a:r>
                        <a:rPr lang="en-IN" sz="1800" b="1" kern="1200" dirty="0" smtClean="0">
                          <a:solidFill>
                            <a:schemeClr val="dk1"/>
                          </a:solidFill>
                          <a:latin typeface="+mn-lt"/>
                          <a:ea typeface="+mn-ea"/>
                          <a:cs typeface="+mn-cs"/>
                        </a:rPr>
                        <a:t>continue</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global</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raise</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def</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if</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return</a:t>
                      </a:r>
                    </a:p>
                  </a:txBody>
                  <a:tcPr anchor="ctr">
                    <a:blipFill>
                      <a:blip r:embed="rId2"/>
                      <a:tile tx="0" ty="0" sx="100000" sy="100000" flip="none" algn="tl"/>
                    </a:blipFill>
                  </a:tcPr>
                </a:tc>
              </a:tr>
              <a:tr h="922976">
                <a:tc>
                  <a:txBody>
                    <a:bodyPr/>
                    <a:lstStyle/>
                    <a:p>
                      <a:pPr marL="0" algn="ctr" defTabSz="914400" rtl="0" eaLnBrk="1" latinLnBrk="0" hangingPunct="1"/>
                      <a:r>
                        <a:rPr lang="en-IN" sz="1800" b="1" kern="1200" dirty="0" smtClean="0">
                          <a:solidFill>
                            <a:schemeClr val="dk1"/>
                          </a:solidFill>
                          <a:latin typeface="+mn-lt"/>
                          <a:ea typeface="+mn-ea"/>
                          <a:cs typeface="+mn-cs"/>
                        </a:rPr>
                        <a:t>del</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import</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try</a:t>
                      </a:r>
                    </a:p>
                  </a:txBody>
                  <a:tcPr anchor="ctr">
                    <a:blipFill>
                      <a:blip r:embed="rId2"/>
                      <a:tile tx="0" ty="0" sx="100000" sy="100000" flip="none" algn="tl"/>
                    </a:blipFill>
                  </a:tcPr>
                </a:tc>
                <a:tc>
                  <a:txBody>
                    <a:bodyPr/>
                    <a:lstStyle/>
                    <a:p>
                      <a:pPr marL="0" algn="ctr" defTabSz="914400" rtl="0" eaLnBrk="1" latinLnBrk="0" hangingPunct="1"/>
                      <a:r>
                        <a:rPr lang="en-IN" sz="1800" b="1" kern="1200" dirty="0" err="1" smtClean="0">
                          <a:solidFill>
                            <a:schemeClr val="dk1"/>
                          </a:solidFill>
                          <a:latin typeface="+mn-lt"/>
                          <a:ea typeface="+mn-ea"/>
                          <a:cs typeface="+mn-cs"/>
                        </a:rPr>
                        <a:t>elif</a:t>
                      </a:r>
                      <a:endParaRPr lang="en-IN" sz="1800" b="1" kern="1200" dirty="0" smtClean="0">
                        <a:solidFill>
                          <a:schemeClr val="dk1"/>
                        </a:solidFill>
                        <a:latin typeface="+mn-lt"/>
                        <a:ea typeface="+mn-ea"/>
                        <a:cs typeface="+mn-cs"/>
                      </a:endParaRP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in</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while</a:t>
                      </a:r>
                    </a:p>
                  </a:txBody>
                  <a:tcPr anchor="ctr">
                    <a:blipFill>
                      <a:blip r:embed="rId2"/>
                      <a:tile tx="0" ty="0" sx="100000" sy="100000" flip="none" algn="tl"/>
                    </a:blipFill>
                  </a:tcPr>
                </a:tc>
              </a:tr>
              <a:tr h="922976">
                <a:tc>
                  <a:txBody>
                    <a:bodyPr/>
                    <a:lstStyle/>
                    <a:p>
                      <a:pPr marL="0" algn="ctr" defTabSz="914400" rtl="0" eaLnBrk="1" latinLnBrk="0" hangingPunct="1"/>
                      <a:r>
                        <a:rPr lang="en-IN" sz="1800" b="1" kern="1200" dirty="0" smtClean="0">
                          <a:solidFill>
                            <a:schemeClr val="dk1"/>
                          </a:solidFill>
                          <a:latin typeface="+mn-lt"/>
                          <a:ea typeface="+mn-ea"/>
                          <a:cs typeface="+mn-cs"/>
                        </a:rPr>
                        <a:t>else</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is</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with</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except</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lambda</a:t>
                      </a:r>
                    </a:p>
                  </a:txBody>
                  <a:tcPr anchor="ctr">
                    <a:blipFill>
                      <a:blip r:embed="rId2"/>
                      <a:tile tx="0" ty="0" sx="100000" sy="100000" flip="none" algn="tl"/>
                    </a:blipFill>
                  </a:tcPr>
                </a:tc>
                <a:tc>
                  <a:txBody>
                    <a:bodyPr/>
                    <a:lstStyle/>
                    <a:p>
                      <a:pPr marL="0" algn="ctr" defTabSz="914400" rtl="0" eaLnBrk="1" latinLnBrk="0" hangingPunct="1"/>
                      <a:r>
                        <a:rPr lang="en-IN" sz="1800" b="1" kern="1200" dirty="0" smtClean="0">
                          <a:solidFill>
                            <a:schemeClr val="dk1"/>
                          </a:solidFill>
                          <a:latin typeface="+mn-lt"/>
                          <a:ea typeface="+mn-ea"/>
                          <a:cs typeface="+mn-cs"/>
                        </a:rPr>
                        <a:t>yield</a:t>
                      </a:r>
                    </a:p>
                  </a:txBody>
                  <a:tcPr anchor="ctr">
                    <a:blipFill>
                      <a:blip r:embed="rId2"/>
                      <a:tile tx="0" ty="0" sx="100000" sy="100000" flip="none" algn="tl"/>
                    </a:blip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Lines and </a:t>
            </a:r>
            <a:r>
              <a:rPr lang="en-IN" dirty="0" smtClean="0"/>
              <a:t>Indentation</a:t>
            </a:r>
            <a:endParaRPr lang="en-IN" dirty="0"/>
          </a:p>
        </p:txBody>
      </p:sp>
      <p:sp>
        <p:nvSpPr>
          <p:cNvPr id="3" name="Content Placeholder 2"/>
          <p:cNvSpPr>
            <a:spLocks noGrp="1"/>
          </p:cNvSpPr>
          <p:nvPr>
            <p:ph idx="1"/>
          </p:nvPr>
        </p:nvSpPr>
        <p:spPr>
          <a:xfrm>
            <a:off x="457200" y="1071546"/>
            <a:ext cx="8229600" cy="5643602"/>
          </a:xfrm>
        </p:spPr>
        <p:txBody>
          <a:bodyPr>
            <a:normAutofit fontScale="85000" lnSpcReduction="20000"/>
          </a:bodyPr>
          <a:lstStyle/>
          <a:p>
            <a:r>
              <a:rPr lang="en-IN" dirty="0"/>
              <a:t>Python provides no braces to indicate blocks of code for class and function definitions or flow control. Blocks of code are denoted by line indentation, which is rigidly enforced</a:t>
            </a:r>
            <a:r>
              <a:rPr lang="en-IN" dirty="0" smtClean="0"/>
              <a:t>.</a:t>
            </a:r>
          </a:p>
          <a:p>
            <a:r>
              <a:rPr lang="en-IN" dirty="0"/>
              <a:t>Multi-Line Statements</a:t>
            </a:r>
          </a:p>
          <a:p>
            <a:pPr lvl="1"/>
            <a:r>
              <a:rPr lang="en-IN" dirty="0"/>
              <a:t>Statements in Python typically end with a new line. Python does, however, allow the use of the line continuation character (\) to denote that the line should continue</a:t>
            </a:r>
            <a:r>
              <a:rPr lang="en-IN" dirty="0" smtClean="0"/>
              <a:t>.</a:t>
            </a:r>
          </a:p>
          <a:p>
            <a:pPr lvl="1"/>
            <a:r>
              <a:rPr lang="en-IN" dirty="0" smtClean="0"/>
              <a:t>total = </a:t>
            </a:r>
            <a:r>
              <a:rPr lang="en-IN" dirty="0" err="1" smtClean="0"/>
              <a:t>item_one</a:t>
            </a:r>
            <a:r>
              <a:rPr lang="en-IN" dirty="0" smtClean="0"/>
              <a:t> + \ </a:t>
            </a:r>
          </a:p>
          <a:p>
            <a:pPr lvl="1">
              <a:buNone/>
            </a:pPr>
            <a:r>
              <a:rPr lang="en-IN" dirty="0"/>
              <a:t>	</a:t>
            </a:r>
            <a:r>
              <a:rPr lang="en-IN" dirty="0" smtClean="0"/>
              <a:t>		</a:t>
            </a:r>
            <a:r>
              <a:rPr lang="en-IN" dirty="0" err="1" smtClean="0"/>
              <a:t>item_two</a:t>
            </a:r>
            <a:r>
              <a:rPr lang="en-IN" dirty="0" smtClean="0"/>
              <a:t> + \ </a:t>
            </a:r>
          </a:p>
          <a:p>
            <a:pPr lvl="1">
              <a:buNone/>
            </a:pPr>
            <a:r>
              <a:rPr lang="en-IN" dirty="0"/>
              <a:t>	</a:t>
            </a:r>
            <a:r>
              <a:rPr lang="en-IN" dirty="0" smtClean="0"/>
              <a:t>		</a:t>
            </a:r>
            <a:r>
              <a:rPr lang="en-IN" dirty="0" err="1" smtClean="0"/>
              <a:t>item_three</a:t>
            </a:r>
            <a:endParaRPr lang="en-IN" dirty="0" smtClean="0"/>
          </a:p>
          <a:p>
            <a:r>
              <a:rPr lang="en-IN" dirty="0" smtClean="0"/>
              <a:t>Statements </a:t>
            </a:r>
            <a:r>
              <a:rPr lang="en-IN" dirty="0"/>
              <a:t>contained within the [], {}, or () brackets do not need to use the line continuation character</a:t>
            </a:r>
            <a:r>
              <a:rPr lang="en-IN" dirty="0" smtClean="0"/>
              <a:t>.</a:t>
            </a:r>
          </a:p>
          <a:p>
            <a:pPr lvl="1"/>
            <a:r>
              <a:rPr lang="en-IN" dirty="0" smtClean="0"/>
              <a:t>Example:</a:t>
            </a:r>
          </a:p>
          <a:p>
            <a:pPr lvl="1">
              <a:buNone/>
            </a:pPr>
            <a:r>
              <a:rPr lang="en-IN" dirty="0" smtClean="0"/>
              <a:t>days = ['Monday', 'Tuesday', 'Wednesday', 'Thursday', 'Friday']</a:t>
            </a:r>
          </a:p>
          <a:p>
            <a:pPr lvl="1">
              <a:buNone/>
            </a:pPr>
            <a:endParaRPr lang="en-IN"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Quotation in </a:t>
            </a:r>
            <a:r>
              <a:rPr lang="en-IN" dirty="0" smtClean="0"/>
              <a:t>Python</a:t>
            </a:r>
            <a:endParaRPr lang="en-IN" dirty="0"/>
          </a:p>
        </p:txBody>
      </p:sp>
      <p:sp>
        <p:nvSpPr>
          <p:cNvPr id="3" name="Content Placeholder 2"/>
          <p:cNvSpPr>
            <a:spLocks noGrp="1"/>
          </p:cNvSpPr>
          <p:nvPr>
            <p:ph idx="1"/>
          </p:nvPr>
        </p:nvSpPr>
        <p:spPr>
          <a:xfrm>
            <a:off x="457200" y="1071546"/>
            <a:ext cx="8229600" cy="5643602"/>
          </a:xfrm>
        </p:spPr>
        <p:txBody>
          <a:bodyPr>
            <a:normAutofit lnSpcReduction="10000"/>
          </a:bodyPr>
          <a:lstStyle/>
          <a:p>
            <a:r>
              <a:rPr lang="en-IN" dirty="0"/>
              <a:t>Python accepts single ('), double (") and triple (''' or """) quotes to denote string literals, as long as the same type of quote starts and ends the string</a:t>
            </a:r>
            <a:r>
              <a:rPr lang="en-IN" dirty="0" smtClean="0"/>
              <a:t>.</a:t>
            </a:r>
          </a:p>
          <a:p>
            <a:r>
              <a:rPr lang="en-IN" dirty="0" smtClean="0"/>
              <a:t>Example:</a:t>
            </a:r>
          </a:p>
          <a:p>
            <a:pPr>
              <a:buNone/>
            </a:pPr>
            <a:r>
              <a:rPr lang="en-IN" dirty="0" smtClean="0"/>
              <a:t>	word = 'word' </a:t>
            </a:r>
          </a:p>
          <a:p>
            <a:pPr>
              <a:buNone/>
            </a:pPr>
            <a:r>
              <a:rPr lang="en-IN" dirty="0" smtClean="0"/>
              <a:t>	sentence = "This is a sentence." </a:t>
            </a:r>
          </a:p>
          <a:p>
            <a:pPr>
              <a:buNone/>
            </a:pPr>
            <a:r>
              <a:rPr lang="en-IN" dirty="0"/>
              <a:t>	</a:t>
            </a:r>
            <a:r>
              <a:rPr lang="en-IN" dirty="0" smtClean="0"/>
              <a:t>paragraph = """This is a paragraph. It is made up of multiple lines and sentences.""“</a:t>
            </a:r>
          </a:p>
          <a:p>
            <a:r>
              <a:rPr lang="en-IN" dirty="0"/>
              <a:t>The triple quotes are used to span the string across multiple lines.</a:t>
            </a:r>
            <a:endParaRPr lang="en-IN"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Comments in </a:t>
            </a:r>
            <a:r>
              <a:rPr lang="en-IN" dirty="0" smtClean="0"/>
              <a:t>Python</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a:t>A hash sign </a:t>
            </a:r>
            <a:r>
              <a:rPr lang="en-IN" dirty="0" smtClean="0"/>
              <a:t>(#)</a:t>
            </a:r>
          </a:p>
          <a:p>
            <a:r>
              <a:rPr lang="en-IN" dirty="0" smtClean="0"/>
              <a:t>Example:</a:t>
            </a:r>
          </a:p>
          <a:p>
            <a:pPr>
              <a:buNone/>
            </a:pPr>
            <a:r>
              <a:rPr lang="en-IN" dirty="0"/>
              <a:t># First comment</a:t>
            </a:r>
            <a:r>
              <a:rPr lang="en-IN" dirty="0" smtClean="0"/>
              <a:t> </a:t>
            </a:r>
            <a:r>
              <a:rPr lang="en-IN" dirty="0"/>
              <a:t>print</a:t>
            </a:r>
            <a:r>
              <a:rPr lang="en-IN" dirty="0" smtClean="0"/>
              <a:t> </a:t>
            </a:r>
          </a:p>
          <a:p>
            <a:pPr>
              <a:buNone/>
            </a:pPr>
            <a:r>
              <a:rPr lang="en-IN" dirty="0" smtClean="0"/>
              <a:t>"</a:t>
            </a:r>
            <a:r>
              <a:rPr lang="en-IN" dirty="0"/>
              <a:t>Hello, Python!"</a:t>
            </a:r>
            <a:r>
              <a:rPr lang="en-IN" dirty="0" smtClean="0"/>
              <a:t> </a:t>
            </a:r>
            <a:r>
              <a:rPr lang="en-IN" dirty="0"/>
              <a:t># second comment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Multiple Statements on a Single </a:t>
            </a:r>
            <a:r>
              <a:rPr lang="en-IN" dirty="0" smtClean="0"/>
              <a:t>Line</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a:t>The semicolon ( ; ) allows multiple statements on the single </a:t>
            </a:r>
            <a:r>
              <a:rPr lang="en-IN" dirty="0" smtClean="0"/>
              <a:t>line.</a:t>
            </a:r>
          </a:p>
          <a:p>
            <a:r>
              <a:rPr lang="en-IN" dirty="0" smtClean="0"/>
              <a:t>Example:</a:t>
            </a:r>
          </a:p>
          <a:p>
            <a:pPr>
              <a:buNone/>
            </a:pPr>
            <a:r>
              <a:rPr lang="en-IN" dirty="0" smtClean="0"/>
              <a:t>	import sys</a:t>
            </a:r>
            <a:r>
              <a:rPr lang="en-IN" dirty="0"/>
              <a:t>;</a:t>
            </a:r>
            <a:r>
              <a:rPr lang="en-IN" dirty="0" smtClean="0"/>
              <a:t> x </a:t>
            </a:r>
            <a:r>
              <a:rPr lang="en-IN" dirty="0"/>
              <a:t>=</a:t>
            </a:r>
            <a:r>
              <a:rPr lang="en-IN" dirty="0" smtClean="0"/>
              <a:t> </a:t>
            </a:r>
            <a:r>
              <a:rPr lang="en-IN" dirty="0"/>
              <a:t>'</a:t>
            </a:r>
            <a:r>
              <a:rPr lang="en-IN" dirty="0" err="1"/>
              <a:t>foo</a:t>
            </a:r>
            <a:r>
              <a:rPr lang="en-IN" dirty="0"/>
              <a:t>';</a:t>
            </a:r>
            <a:r>
              <a:rPr lang="en-IN" dirty="0" smtClean="0"/>
              <a:t> </a:t>
            </a:r>
            <a:r>
              <a:rPr lang="en-IN" dirty="0" err="1" smtClean="0"/>
              <a:t>sys</a:t>
            </a:r>
            <a:r>
              <a:rPr lang="en-IN" dirty="0" err="1"/>
              <a:t>.</a:t>
            </a:r>
            <a:r>
              <a:rPr lang="en-IN" dirty="0" err="1" smtClean="0"/>
              <a:t>stdout</a:t>
            </a:r>
            <a:r>
              <a:rPr lang="en-IN" dirty="0" err="1"/>
              <a:t>.</a:t>
            </a:r>
            <a:r>
              <a:rPr lang="en-IN" dirty="0" err="1" smtClean="0"/>
              <a:t>write</a:t>
            </a:r>
            <a:r>
              <a:rPr lang="en-IN" dirty="0"/>
              <a:t>(</a:t>
            </a:r>
            <a:r>
              <a:rPr lang="en-IN" dirty="0" smtClean="0"/>
              <a:t>x </a:t>
            </a:r>
            <a:r>
              <a:rPr lang="en-IN" dirty="0"/>
              <a:t>+</a:t>
            </a:r>
            <a:r>
              <a:rPr lang="en-IN" dirty="0" smtClean="0"/>
              <a:t> </a:t>
            </a:r>
            <a:r>
              <a:rPr lang="en-IN" dirty="0"/>
              <a:t>'\n')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Command Line </a:t>
            </a:r>
            <a:r>
              <a:rPr lang="en-IN" dirty="0" smtClean="0"/>
              <a:t>Arguments</a:t>
            </a:r>
            <a:endParaRPr lang="en-IN" dirty="0"/>
          </a:p>
        </p:txBody>
      </p:sp>
      <p:sp>
        <p:nvSpPr>
          <p:cNvPr id="3" name="Content Placeholder 2"/>
          <p:cNvSpPr>
            <a:spLocks noGrp="1"/>
          </p:cNvSpPr>
          <p:nvPr>
            <p:ph idx="1"/>
          </p:nvPr>
        </p:nvSpPr>
        <p:spPr>
          <a:xfrm>
            <a:off x="457200" y="1071546"/>
            <a:ext cx="8229600" cy="5643602"/>
          </a:xfrm>
        </p:spPr>
        <p:txBody>
          <a:bodyPr>
            <a:normAutofit fontScale="92500" lnSpcReduction="10000"/>
          </a:bodyPr>
          <a:lstStyle/>
          <a:p>
            <a:pPr>
              <a:buNone/>
            </a:pPr>
            <a:r>
              <a:rPr lang="en-IN" dirty="0" smtClean="0"/>
              <a:t>$ python </a:t>
            </a:r>
            <a:r>
              <a:rPr lang="en-IN" dirty="0"/>
              <a:t>-</a:t>
            </a:r>
            <a:r>
              <a:rPr lang="en-IN" dirty="0" smtClean="0"/>
              <a:t>h </a:t>
            </a:r>
          </a:p>
          <a:p>
            <a:pPr>
              <a:buNone/>
            </a:pPr>
            <a:r>
              <a:rPr lang="en-IN" dirty="0" smtClean="0"/>
              <a:t>usage</a:t>
            </a:r>
            <a:r>
              <a:rPr lang="en-IN" dirty="0"/>
              <a:t>:</a:t>
            </a:r>
            <a:r>
              <a:rPr lang="en-IN" dirty="0" smtClean="0"/>
              <a:t> python </a:t>
            </a:r>
            <a:r>
              <a:rPr lang="en-IN" dirty="0"/>
              <a:t>[</a:t>
            </a:r>
            <a:r>
              <a:rPr lang="en-IN" dirty="0" smtClean="0"/>
              <a:t>option</a:t>
            </a:r>
            <a:r>
              <a:rPr lang="en-IN" dirty="0"/>
              <a:t>]</a:t>
            </a:r>
            <a:r>
              <a:rPr lang="en-IN" dirty="0" smtClean="0"/>
              <a:t> </a:t>
            </a:r>
            <a:r>
              <a:rPr lang="en-IN" dirty="0"/>
              <a:t>...</a:t>
            </a:r>
            <a:r>
              <a:rPr lang="en-IN" dirty="0" smtClean="0"/>
              <a:t> </a:t>
            </a:r>
            <a:r>
              <a:rPr lang="en-IN" dirty="0"/>
              <a:t>[-</a:t>
            </a:r>
            <a:r>
              <a:rPr lang="en-IN" dirty="0" smtClean="0"/>
              <a:t>c </a:t>
            </a:r>
            <a:r>
              <a:rPr lang="en-IN" dirty="0" err="1" smtClean="0"/>
              <a:t>cmd</a:t>
            </a:r>
            <a:r>
              <a:rPr lang="en-IN" dirty="0" smtClean="0"/>
              <a:t> </a:t>
            </a:r>
            <a:r>
              <a:rPr lang="en-IN" dirty="0"/>
              <a:t>|</a:t>
            </a:r>
            <a:r>
              <a:rPr lang="en-IN" dirty="0" smtClean="0"/>
              <a:t> </a:t>
            </a:r>
            <a:r>
              <a:rPr lang="en-IN" dirty="0"/>
              <a:t>-</a:t>
            </a:r>
            <a:r>
              <a:rPr lang="en-IN" dirty="0" smtClean="0"/>
              <a:t>m mod </a:t>
            </a:r>
            <a:r>
              <a:rPr lang="en-IN" dirty="0"/>
              <a:t>|</a:t>
            </a:r>
            <a:r>
              <a:rPr lang="en-IN" dirty="0" smtClean="0"/>
              <a:t> file </a:t>
            </a:r>
            <a:r>
              <a:rPr lang="en-IN" dirty="0"/>
              <a:t>|</a:t>
            </a:r>
            <a:r>
              <a:rPr lang="en-IN" dirty="0" smtClean="0"/>
              <a:t> </a:t>
            </a:r>
            <a:r>
              <a:rPr lang="en-IN" dirty="0"/>
              <a:t>-]</a:t>
            </a:r>
            <a:r>
              <a:rPr lang="en-IN" dirty="0" smtClean="0"/>
              <a:t> </a:t>
            </a:r>
            <a:r>
              <a:rPr lang="en-IN" dirty="0"/>
              <a:t>[</a:t>
            </a:r>
            <a:r>
              <a:rPr lang="en-IN" dirty="0" err="1" smtClean="0"/>
              <a:t>arg</a:t>
            </a:r>
            <a:r>
              <a:rPr lang="en-IN" dirty="0"/>
              <a:t>]</a:t>
            </a:r>
            <a:r>
              <a:rPr lang="en-IN" dirty="0" smtClean="0"/>
              <a:t> </a:t>
            </a:r>
            <a:r>
              <a:rPr lang="en-IN" dirty="0"/>
              <a:t>...</a:t>
            </a:r>
            <a:r>
              <a:rPr lang="en-IN" dirty="0" smtClean="0"/>
              <a:t> </a:t>
            </a:r>
          </a:p>
          <a:p>
            <a:pPr>
              <a:buNone/>
            </a:pPr>
            <a:r>
              <a:rPr lang="en-IN" dirty="0" smtClean="0"/>
              <a:t>Options </a:t>
            </a:r>
            <a:r>
              <a:rPr lang="en-IN" dirty="0"/>
              <a:t>and</a:t>
            </a:r>
            <a:r>
              <a:rPr lang="en-IN" dirty="0" smtClean="0"/>
              <a:t> arguments </a:t>
            </a:r>
            <a:r>
              <a:rPr lang="en-IN" dirty="0"/>
              <a:t>(and</a:t>
            </a:r>
            <a:r>
              <a:rPr lang="en-IN" dirty="0" smtClean="0"/>
              <a:t> corresponding environment variables</a:t>
            </a:r>
            <a:r>
              <a:rPr lang="en-IN" dirty="0"/>
              <a:t>):</a:t>
            </a:r>
            <a:r>
              <a:rPr lang="en-IN" dirty="0" smtClean="0"/>
              <a:t> </a:t>
            </a:r>
          </a:p>
          <a:p>
            <a:pPr>
              <a:buNone/>
            </a:pPr>
            <a:r>
              <a:rPr lang="en-IN" dirty="0" smtClean="0"/>
              <a:t>-c </a:t>
            </a:r>
            <a:r>
              <a:rPr lang="en-IN" dirty="0" err="1" smtClean="0"/>
              <a:t>cmd</a:t>
            </a:r>
            <a:r>
              <a:rPr lang="en-IN" dirty="0" smtClean="0"/>
              <a:t> </a:t>
            </a:r>
            <a:r>
              <a:rPr lang="en-IN" dirty="0"/>
              <a:t>:</a:t>
            </a:r>
            <a:r>
              <a:rPr lang="en-IN" dirty="0" smtClean="0"/>
              <a:t> program passed </a:t>
            </a:r>
            <a:r>
              <a:rPr lang="en-IN" dirty="0"/>
              <a:t>in</a:t>
            </a:r>
            <a:r>
              <a:rPr lang="en-IN" dirty="0" smtClean="0"/>
              <a:t> </a:t>
            </a:r>
            <a:r>
              <a:rPr lang="en-IN" dirty="0"/>
              <a:t>as</a:t>
            </a:r>
            <a:r>
              <a:rPr lang="en-IN" dirty="0" smtClean="0"/>
              <a:t> </a:t>
            </a:r>
            <a:r>
              <a:rPr lang="en-IN" dirty="0"/>
              <a:t>string</a:t>
            </a:r>
            <a:r>
              <a:rPr lang="en-IN" dirty="0" smtClean="0"/>
              <a:t> </a:t>
            </a:r>
            <a:r>
              <a:rPr lang="en-IN" dirty="0"/>
              <a:t>(</a:t>
            </a:r>
            <a:r>
              <a:rPr lang="en-IN" dirty="0" smtClean="0"/>
              <a:t>terminates option list</a:t>
            </a:r>
            <a:r>
              <a:rPr lang="en-IN" dirty="0"/>
              <a:t>)</a:t>
            </a:r>
            <a:r>
              <a:rPr lang="en-IN" dirty="0" smtClean="0"/>
              <a:t> </a:t>
            </a:r>
          </a:p>
          <a:p>
            <a:pPr>
              <a:buNone/>
            </a:pPr>
            <a:r>
              <a:rPr lang="en-IN" dirty="0" smtClean="0"/>
              <a:t>-d </a:t>
            </a:r>
            <a:r>
              <a:rPr lang="en-IN" dirty="0"/>
              <a:t>:</a:t>
            </a:r>
            <a:r>
              <a:rPr lang="en-IN" dirty="0" smtClean="0"/>
              <a:t> debug output </a:t>
            </a:r>
            <a:r>
              <a:rPr lang="en-IN" dirty="0"/>
              <a:t>from</a:t>
            </a:r>
            <a:r>
              <a:rPr lang="en-IN" dirty="0" smtClean="0"/>
              <a:t> parser </a:t>
            </a:r>
            <a:r>
              <a:rPr lang="en-IN" dirty="0"/>
              <a:t>(</a:t>
            </a:r>
            <a:r>
              <a:rPr lang="en-IN" dirty="0" smtClean="0"/>
              <a:t>also PYTHONDEBUG</a:t>
            </a:r>
            <a:r>
              <a:rPr lang="en-IN" dirty="0"/>
              <a:t>=</a:t>
            </a:r>
            <a:r>
              <a:rPr lang="en-IN" dirty="0" smtClean="0"/>
              <a:t>x</a:t>
            </a:r>
            <a:r>
              <a:rPr lang="en-IN" dirty="0"/>
              <a:t>)</a:t>
            </a:r>
            <a:r>
              <a:rPr lang="en-IN" dirty="0" smtClean="0"/>
              <a:t> </a:t>
            </a:r>
          </a:p>
          <a:p>
            <a:pPr>
              <a:buNone/>
            </a:pPr>
            <a:r>
              <a:rPr lang="en-IN" dirty="0" smtClean="0"/>
              <a:t>-E </a:t>
            </a:r>
            <a:r>
              <a:rPr lang="en-IN" dirty="0"/>
              <a:t>:</a:t>
            </a:r>
            <a:r>
              <a:rPr lang="en-IN" dirty="0" smtClean="0"/>
              <a:t> ignore environment variables </a:t>
            </a:r>
            <a:r>
              <a:rPr lang="en-IN" dirty="0"/>
              <a:t>(</a:t>
            </a:r>
            <a:r>
              <a:rPr lang="en-IN" dirty="0" smtClean="0"/>
              <a:t>such </a:t>
            </a:r>
            <a:r>
              <a:rPr lang="en-IN" dirty="0"/>
              <a:t>as</a:t>
            </a:r>
            <a:r>
              <a:rPr lang="en-IN" dirty="0" smtClean="0"/>
              <a:t> PYTHONPATH</a:t>
            </a:r>
            <a:r>
              <a:rPr lang="en-IN" dirty="0"/>
              <a:t>)</a:t>
            </a:r>
            <a:r>
              <a:rPr lang="en-IN" dirty="0" smtClean="0"/>
              <a:t> </a:t>
            </a:r>
          </a:p>
          <a:p>
            <a:pPr>
              <a:buNone/>
            </a:pPr>
            <a:r>
              <a:rPr lang="en-IN" dirty="0" smtClean="0"/>
              <a:t>-h </a:t>
            </a:r>
            <a:r>
              <a:rPr lang="en-IN" dirty="0"/>
              <a:t>:</a:t>
            </a:r>
            <a:r>
              <a:rPr lang="en-IN" dirty="0" smtClean="0"/>
              <a:t> </a:t>
            </a:r>
            <a:r>
              <a:rPr lang="en-IN" dirty="0"/>
              <a:t>print</a:t>
            </a:r>
            <a:r>
              <a:rPr lang="en-IN" dirty="0" smtClean="0"/>
              <a:t> </a:t>
            </a:r>
            <a:r>
              <a:rPr lang="en-IN" dirty="0"/>
              <a:t>this</a:t>
            </a:r>
            <a:r>
              <a:rPr lang="en-IN" dirty="0" smtClean="0"/>
              <a:t> help message </a:t>
            </a:r>
            <a:r>
              <a:rPr lang="en-IN" dirty="0"/>
              <a:t>and</a:t>
            </a:r>
            <a:r>
              <a:rPr lang="en-IN" dirty="0" smtClean="0"/>
              <a:t> </a:t>
            </a:r>
            <a:r>
              <a:rPr lang="en-IN" dirty="0"/>
              <a:t>exit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Variables</a:t>
            </a:r>
            <a:endParaRPr lang="en-IN" dirty="0"/>
          </a:p>
        </p:txBody>
      </p:sp>
      <p:sp>
        <p:nvSpPr>
          <p:cNvPr id="3" name="Content Placeholder 2"/>
          <p:cNvSpPr>
            <a:spLocks noGrp="1"/>
          </p:cNvSpPr>
          <p:nvPr>
            <p:ph idx="1"/>
          </p:nvPr>
        </p:nvSpPr>
        <p:spPr>
          <a:xfrm>
            <a:off x="457200" y="1071546"/>
            <a:ext cx="8229600" cy="5643602"/>
          </a:xfrm>
        </p:spPr>
        <p:txBody>
          <a:bodyPr>
            <a:normAutofit fontScale="92500" lnSpcReduction="10000"/>
          </a:bodyPr>
          <a:lstStyle/>
          <a:p>
            <a:r>
              <a:rPr lang="en-IN" dirty="0"/>
              <a:t>Variables are nothing but reserved memory locations to store values</a:t>
            </a:r>
            <a:r>
              <a:rPr lang="en-IN" dirty="0" smtClean="0"/>
              <a:t>.</a:t>
            </a:r>
          </a:p>
          <a:p>
            <a:r>
              <a:rPr lang="en-IN" dirty="0"/>
              <a:t>Assigning Values to </a:t>
            </a:r>
            <a:r>
              <a:rPr lang="en-IN" dirty="0" smtClean="0"/>
              <a:t>Variables</a:t>
            </a:r>
          </a:p>
          <a:p>
            <a:pPr lvl="1"/>
            <a:r>
              <a:rPr lang="en-IN" dirty="0"/>
              <a:t>The equal sign (=) is used to assign values to variables</a:t>
            </a:r>
            <a:r>
              <a:rPr lang="en-IN" dirty="0" smtClean="0"/>
              <a:t>.</a:t>
            </a:r>
            <a:endParaRPr lang="en-IN" dirty="0"/>
          </a:p>
          <a:p>
            <a:r>
              <a:rPr lang="en-IN" dirty="0"/>
              <a:t>The equal sign (=) is used to assign values to variables</a:t>
            </a:r>
            <a:r>
              <a:rPr lang="en-IN" dirty="0" smtClean="0"/>
              <a:t>.</a:t>
            </a:r>
          </a:p>
          <a:p>
            <a:pPr lvl="1"/>
            <a:r>
              <a:rPr lang="en-IN" dirty="0"/>
              <a:t>Python allows you to assign a single value to several variables simultaneously. </a:t>
            </a:r>
            <a:endParaRPr lang="en-IN" dirty="0" smtClean="0"/>
          </a:p>
          <a:p>
            <a:pPr lvl="1"/>
            <a:r>
              <a:rPr lang="en-IN" dirty="0" smtClean="0"/>
              <a:t>Example:</a:t>
            </a:r>
          </a:p>
          <a:p>
            <a:pPr lvl="2"/>
            <a:r>
              <a:rPr lang="en-IN" dirty="0" smtClean="0"/>
              <a:t>a = b = c = 1</a:t>
            </a:r>
            <a:endParaRPr lang="en-IN" dirty="0"/>
          </a:p>
          <a:p>
            <a:pPr lvl="1"/>
            <a:r>
              <a:rPr lang="en-IN" dirty="0"/>
              <a:t>You can also assign multiple objects to multiple variables</a:t>
            </a:r>
            <a:r>
              <a:rPr lang="en-IN" dirty="0" smtClean="0"/>
              <a:t>.</a:t>
            </a:r>
          </a:p>
          <a:p>
            <a:pPr lvl="2"/>
            <a:r>
              <a:rPr lang="en-IN" dirty="0" err="1" smtClean="0"/>
              <a:t>a,b,c</a:t>
            </a:r>
            <a:r>
              <a:rPr lang="en-IN" dirty="0" smtClean="0"/>
              <a:t> = 1,2,"john"</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Data </a:t>
            </a:r>
            <a:r>
              <a:rPr lang="en-IN" dirty="0" smtClean="0"/>
              <a:t>Types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a:t>Python has five standard data types </a:t>
            </a:r>
            <a:endParaRPr lang="en-IN" dirty="0" smtClean="0"/>
          </a:p>
          <a:p>
            <a:pPr lvl="1"/>
            <a:r>
              <a:rPr lang="en-IN" dirty="0"/>
              <a:t>Numbers</a:t>
            </a:r>
          </a:p>
          <a:p>
            <a:pPr lvl="1"/>
            <a:r>
              <a:rPr lang="en-IN" dirty="0"/>
              <a:t>String</a:t>
            </a:r>
          </a:p>
          <a:p>
            <a:pPr lvl="1"/>
            <a:r>
              <a:rPr lang="en-IN" dirty="0"/>
              <a:t>List</a:t>
            </a:r>
          </a:p>
          <a:p>
            <a:pPr lvl="1"/>
            <a:r>
              <a:rPr lang="en-IN" dirty="0" err="1"/>
              <a:t>Tuple</a:t>
            </a:r>
            <a:endParaRPr lang="en-IN" dirty="0"/>
          </a:p>
          <a:p>
            <a:pPr lvl="1"/>
            <a:r>
              <a:rPr lang="en-IN" dirty="0" smtClean="0"/>
              <a:t>Dictionary</a:t>
            </a:r>
          </a:p>
          <a:p>
            <a:endParaRPr lang="en-IN" dirty="0"/>
          </a:p>
          <a:p>
            <a:pPr lvl="1"/>
            <a:endParaRPr lang="en-IN"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Numbers</a:t>
            </a:r>
            <a:endParaRPr lang="en-IN" dirty="0"/>
          </a:p>
        </p:txBody>
      </p:sp>
      <p:sp>
        <p:nvSpPr>
          <p:cNvPr id="3" name="Content Placeholder 2"/>
          <p:cNvSpPr>
            <a:spLocks noGrp="1"/>
          </p:cNvSpPr>
          <p:nvPr>
            <p:ph idx="1"/>
          </p:nvPr>
        </p:nvSpPr>
        <p:spPr>
          <a:xfrm>
            <a:off x="457200" y="1071546"/>
            <a:ext cx="8229600" cy="5643602"/>
          </a:xfrm>
        </p:spPr>
        <p:txBody>
          <a:bodyPr>
            <a:normAutofit fontScale="92500" lnSpcReduction="20000"/>
          </a:bodyPr>
          <a:lstStyle/>
          <a:p>
            <a:r>
              <a:rPr lang="en-IN" dirty="0"/>
              <a:t>Number data types store numeric values</a:t>
            </a:r>
            <a:r>
              <a:rPr lang="en-IN" dirty="0" smtClean="0"/>
              <a:t>.</a:t>
            </a:r>
          </a:p>
          <a:p>
            <a:r>
              <a:rPr lang="en-IN" dirty="0" smtClean="0"/>
              <a:t>Example:</a:t>
            </a:r>
          </a:p>
          <a:p>
            <a:pPr lvl="1"/>
            <a:r>
              <a:rPr lang="en-IN" dirty="0" smtClean="0"/>
              <a:t>var1 = 1 </a:t>
            </a:r>
          </a:p>
          <a:p>
            <a:pPr lvl="1"/>
            <a:r>
              <a:rPr lang="en-IN" dirty="0" smtClean="0"/>
              <a:t>var2 = 10</a:t>
            </a:r>
          </a:p>
          <a:p>
            <a:r>
              <a:rPr lang="en-IN" dirty="0"/>
              <a:t>Python supports four different numerical </a:t>
            </a:r>
            <a:r>
              <a:rPr lang="en-IN" dirty="0" smtClean="0"/>
              <a:t>types</a:t>
            </a:r>
          </a:p>
          <a:p>
            <a:pPr lvl="1"/>
            <a:r>
              <a:rPr lang="en-IN" dirty="0" err="1"/>
              <a:t>int</a:t>
            </a:r>
            <a:r>
              <a:rPr lang="en-IN" dirty="0"/>
              <a:t> (signed integers</a:t>
            </a:r>
            <a:r>
              <a:rPr lang="en-IN" dirty="0" smtClean="0"/>
              <a:t>)</a:t>
            </a:r>
          </a:p>
          <a:p>
            <a:pPr lvl="2"/>
            <a:r>
              <a:rPr lang="en-IN" dirty="0" smtClean="0"/>
              <a:t>var1 = 3;</a:t>
            </a:r>
            <a:endParaRPr lang="en-IN" dirty="0"/>
          </a:p>
          <a:p>
            <a:pPr lvl="1"/>
            <a:r>
              <a:rPr lang="en-IN" dirty="0"/>
              <a:t>long (long integers, they can also be represented in octal and hexadecimal</a:t>
            </a:r>
            <a:r>
              <a:rPr lang="en-IN" dirty="0" smtClean="0"/>
              <a:t>)</a:t>
            </a:r>
          </a:p>
          <a:p>
            <a:pPr lvl="2"/>
            <a:r>
              <a:rPr lang="en-IN" dirty="0" smtClean="0"/>
              <a:t>Var1 = 3356843564368356;</a:t>
            </a:r>
            <a:endParaRPr lang="en-IN" dirty="0"/>
          </a:p>
          <a:p>
            <a:pPr lvl="1"/>
            <a:r>
              <a:rPr lang="en-IN" dirty="0"/>
              <a:t>float (floating point real values</a:t>
            </a:r>
            <a:r>
              <a:rPr lang="en-IN" dirty="0" smtClean="0"/>
              <a:t>)</a:t>
            </a:r>
          </a:p>
          <a:p>
            <a:pPr lvl="2"/>
            <a:r>
              <a:rPr lang="en-IN" dirty="0" smtClean="0"/>
              <a:t>Var1 = 23.25;</a:t>
            </a:r>
            <a:endParaRPr lang="en-IN" dirty="0"/>
          </a:p>
          <a:p>
            <a:pPr lvl="1"/>
            <a:r>
              <a:rPr lang="en-IN" dirty="0"/>
              <a:t>complex (complex numbers</a:t>
            </a:r>
            <a:r>
              <a:rPr lang="en-IN" dirty="0" smtClean="0"/>
              <a:t>)</a:t>
            </a:r>
          </a:p>
          <a:p>
            <a:pPr lvl="2"/>
            <a:r>
              <a:rPr lang="en-IN" dirty="0" smtClean="0"/>
              <a:t>Var1 = 12+25j / 12+25J</a:t>
            </a:r>
            <a:endParaRPr lang="en-IN" dirty="0"/>
          </a:p>
          <a:p>
            <a:endParaRPr lang="en-I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Strings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Var1 = ‘Welcome to Python Programming’</a:t>
            </a:r>
          </a:p>
          <a:p>
            <a:r>
              <a:rPr lang="en-IN" dirty="0" smtClean="0"/>
              <a:t>Var1 = “Welcome to Python Programming”</a:t>
            </a:r>
          </a:p>
          <a:p>
            <a:r>
              <a:rPr lang="en-IN" dirty="0" smtClean="0"/>
              <a:t>Var1 = “””Welcome to Python </a:t>
            </a:r>
          </a:p>
          <a:p>
            <a:pPr>
              <a:buNone/>
            </a:pPr>
            <a:r>
              <a:rPr lang="en-IN" dirty="0"/>
              <a:t>	</a:t>
            </a:r>
            <a:r>
              <a:rPr lang="en-IN" dirty="0" smtClean="0"/>
              <a:t>					Programming”””</a:t>
            </a:r>
          </a:p>
          <a:p>
            <a:pPr>
              <a:buNone/>
            </a:pPr>
            <a:endParaRPr lang="en-IN" dirty="0" smtClean="0"/>
          </a:p>
          <a:p>
            <a:endParaRPr lang="en-IN"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Lists</a:t>
            </a:r>
            <a:endParaRPr lang="en-IN" b="1" dirty="0"/>
          </a:p>
        </p:txBody>
      </p:sp>
      <p:sp>
        <p:nvSpPr>
          <p:cNvPr id="3" name="Content Placeholder 2"/>
          <p:cNvSpPr>
            <a:spLocks noGrp="1"/>
          </p:cNvSpPr>
          <p:nvPr>
            <p:ph idx="1"/>
          </p:nvPr>
        </p:nvSpPr>
        <p:spPr>
          <a:xfrm>
            <a:off x="457200" y="1071546"/>
            <a:ext cx="8229600" cy="5643602"/>
          </a:xfrm>
        </p:spPr>
        <p:txBody>
          <a:bodyPr>
            <a:normAutofit fontScale="77500" lnSpcReduction="20000"/>
          </a:bodyPr>
          <a:lstStyle/>
          <a:p>
            <a:r>
              <a:rPr lang="en-IN" dirty="0"/>
              <a:t>A list contains items separated by commas and enclosed within square brackets </a:t>
            </a:r>
            <a:r>
              <a:rPr lang="en-IN" dirty="0" smtClean="0"/>
              <a:t>([]).</a:t>
            </a:r>
          </a:p>
          <a:p>
            <a:r>
              <a:rPr lang="en-IN" dirty="0" smtClean="0"/>
              <a:t>Difference </a:t>
            </a:r>
            <a:r>
              <a:rPr lang="en-IN" dirty="0"/>
              <a:t>between </a:t>
            </a:r>
            <a:r>
              <a:rPr lang="en-IN" dirty="0" smtClean="0"/>
              <a:t>array and List is </a:t>
            </a:r>
            <a:r>
              <a:rPr lang="en-IN" dirty="0"/>
              <a:t>that all the items belonging to a list can be of different data type</a:t>
            </a:r>
            <a:r>
              <a:rPr lang="en-IN" dirty="0" smtClean="0"/>
              <a:t>.</a:t>
            </a:r>
          </a:p>
          <a:p>
            <a:r>
              <a:rPr lang="en-IN" dirty="0" smtClean="0"/>
              <a:t>Example of List Usage:</a:t>
            </a:r>
          </a:p>
          <a:p>
            <a:pPr>
              <a:buNone/>
            </a:pPr>
            <a:r>
              <a:rPr lang="en-IN" dirty="0" smtClean="0"/>
              <a:t>	list </a:t>
            </a:r>
            <a:r>
              <a:rPr lang="en-IN" dirty="0"/>
              <a:t>=</a:t>
            </a:r>
            <a:r>
              <a:rPr lang="en-IN" dirty="0" smtClean="0"/>
              <a:t> </a:t>
            </a:r>
            <a:r>
              <a:rPr lang="en-IN" dirty="0"/>
              <a:t>[</a:t>
            </a:r>
            <a:r>
              <a:rPr lang="en-IN" dirty="0" smtClean="0"/>
              <a:t> </a:t>
            </a:r>
            <a:r>
              <a:rPr lang="en-IN" dirty="0"/>
              <a:t>'</a:t>
            </a:r>
            <a:r>
              <a:rPr lang="en-IN" dirty="0" err="1"/>
              <a:t>abcd</a:t>
            </a:r>
            <a:r>
              <a:rPr lang="en-IN" dirty="0"/>
              <a:t>',</a:t>
            </a:r>
            <a:r>
              <a:rPr lang="en-IN" dirty="0" smtClean="0"/>
              <a:t> </a:t>
            </a:r>
            <a:r>
              <a:rPr lang="en-IN" dirty="0"/>
              <a:t>786</a:t>
            </a:r>
            <a:r>
              <a:rPr lang="en-IN" dirty="0" smtClean="0"/>
              <a:t> </a:t>
            </a:r>
            <a:r>
              <a:rPr lang="en-IN" dirty="0"/>
              <a:t>,</a:t>
            </a:r>
            <a:r>
              <a:rPr lang="en-IN" dirty="0" smtClean="0"/>
              <a:t> </a:t>
            </a:r>
            <a:r>
              <a:rPr lang="en-IN" dirty="0"/>
              <a:t>2.23,</a:t>
            </a:r>
            <a:r>
              <a:rPr lang="en-IN" dirty="0" smtClean="0"/>
              <a:t> </a:t>
            </a:r>
            <a:r>
              <a:rPr lang="en-IN" dirty="0"/>
              <a:t>'john',</a:t>
            </a:r>
            <a:r>
              <a:rPr lang="en-IN" dirty="0" smtClean="0"/>
              <a:t> </a:t>
            </a:r>
            <a:r>
              <a:rPr lang="en-IN" dirty="0"/>
              <a:t>70.2</a:t>
            </a:r>
            <a:r>
              <a:rPr lang="en-IN" dirty="0" smtClean="0"/>
              <a:t> </a:t>
            </a:r>
            <a:r>
              <a:rPr lang="en-IN" dirty="0"/>
              <a:t>]</a:t>
            </a:r>
            <a:r>
              <a:rPr lang="en-IN" dirty="0" smtClean="0"/>
              <a:t> </a:t>
            </a:r>
          </a:p>
          <a:p>
            <a:pPr>
              <a:buNone/>
            </a:pPr>
            <a:r>
              <a:rPr lang="en-IN" dirty="0"/>
              <a:t>	</a:t>
            </a:r>
            <a:r>
              <a:rPr lang="en-IN" dirty="0" err="1" smtClean="0"/>
              <a:t>tinylist</a:t>
            </a:r>
            <a:r>
              <a:rPr lang="en-IN" dirty="0" smtClean="0"/>
              <a:t> </a:t>
            </a:r>
            <a:r>
              <a:rPr lang="en-IN" dirty="0"/>
              <a:t>=</a:t>
            </a:r>
            <a:r>
              <a:rPr lang="en-IN" dirty="0" smtClean="0"/>
              <a:t> </a:t>
            </a:r>
            <a:r>
              <a:rPr lang="en-IN" dirty="0"/>
              <a:t>[123,</a:t>
            </a:r>
            <a:r>
              <a:rPr lang="en-IN" dirty="0" smtClean="0"/>
              <a:t> </a:t>
            </a:r>
            <a:r>
              <a:rPr lang="en-IN" dirty="0"/>
              <a:t>'john']</a:t>
            </a:r>
            <a:r>
              <a:rPr lang="en-IN" dirty="0" smtClean="0"/>
              <a:t> </a:t>
            </a:r>
          </a:p>
          <a:p>
            <a:pPr>
              <a:buNone/>
            </a:pPr>
            <a:r>
              <a:rPr lang="en-IN" dirty="0"/>
              <a:t>	</a:t>
            </a:r>
            <a:r>
              <a:rPr lang="en-IN" dirty="0" smtClean="0"/>
              <a:t>print list 	      # </a:t>
            </a:r>
            <a:r>
              <a:rPr lang="en-IN" dirty="0"/>
              <a:t>Prints complete list</a:t>
            </a:r>
            <a:r>
              <a:rPr lang="en-IN" dirty="0" smtClean="0"/>
              <a:t> </a:t>
            </a:r>
          </a:p>
          <a:p>
            <a:pPr>
              <a:buNone/>
            </a:pPr>
            <a:r>
              <a:rPr lang="en-IN" dirty="0"/>
              <a:t>	</a:t>
            </a:r>
            <a:r>
              <a:rPr lang="en-IN" dirty="0" smtClean="0"/>
              <a:t>print list</a:t>
            </a:r>
            <a:r>
              <a:rPr lang="en-IN" dirty="0"/>
              <a:t>[0</a:t>
            </a:r>
            <a:r>
              <a:rPr lang="en-IN" dirty="0" smtClean="0"/>
              <a:t>]	      # </a:t>
            </a:r>
            <a:r>
              <a:rPr lang="en-IN" dirty="0"/>
              <a:t>Prints first element of the list</a:t>
            </a:r>
            <a:r>
              <a:rPr lang="en-IN" dirty="0" smtClean="0"/>
              <a:t> </a:t>
            </a:r>
          </a:p>
          <a:p>
            <a:pPr>
              <a:buNone/>
            </a:pPr>
            <a:r>
              <a:rPr lang="en-IN" dirty="0"/>
              <a:t>	</a:t>
            </a:r>
            <a:r>
              <a:rPr lang="en-IN" dirty="0" smtClean="0"/>
              <a:t>print list</a:t>
            </a:r>
            <a:r>
              <a:rPr lang="en-IN" dirty="0"/>
              <a:t>[1:3]</a:t>
            </a:r>
            <a:r>
              <a:rPr lang="en-IN" dirty="0" smtClean="0"/>
              <a:t>    # </a:t>
            </a:r>
            <a:r>
              <a:rPr lang="en-IN" dirty="0"/>
              <a:t>Prints elements starting from 2nd till 3rd </a:t>
            </a:r>
            <a:endParaRPr lang="en-IN" dirty="0" smtClean="0"/>
          </a:p>
          <a:p>
            <a:pPr>
              <a:buNone/>
            </a:pPr>
            <a:r>
              <a:rPr lang="en-IN" dirty="0"/>
              <a:t>	</a:t>
            </a:r>
            <a:r>
              <a:rPr lang="en-IN" dirty="0" smtClean="0"/>
              <a:t>print list</a:t>
            </a:r>
            <a:r>
              <a:rPr lang="en-IN" dirty="0"/>
              <a:t>[2:]</a:t>
            </a:r>
            <a:r>
              <a:rPr lang="en-IN" dirty="0" smtClean="0"/>
              <a:t>       # </a:t>
            </a:r>
            <a:r>
              <a:rPr lang="en-IN" dirty="0"/>
              <a:t>Prints elements starting from 3rd element</a:t>
            </a:r>
            <a:r>
              <a:rPr lang="en-IN" dirty="0" smtClean="0"/>
              <a:t> </a:t>
            </a:r>
          </a:p>
          <a:p>
            <a:pPr>
              <a:buNone/>
            </a:pPr>
            <a:r>
              <a:rPr lang="en-IN" dirty="0"/>
              <a:t>	</a:t>
            </a:r>
            <a:r>
              <a:rPr lang="en-IN" dirty="0" smtClean="0"/>
              <a:t>print </a:t>
            </a:r>
            <a:r>
              <a:rPr lang="en-IN" dirty="0" err="1" smtClean="0"/>
              <a:t>tinylist</a:t>
            </a:r>
            <a:r>
              <a:rPr lang="en-IN" dirty="0" smtClean="0"/>
              <a:t> </a:t>
            </a:r>
            <a:r>
              <a:rPr lang="en-IN" dirty="0"/>
              <a:t>*</a:t>
            </a:r>
            <a:r>
              <a:rPr lang="en-IN" dirty="0" smtClean="0"/>
              <a:t> </a:t>
            </a:r>
            <a:r>
              <a:rPr lang="en-IN" dirty="0"/>
              <a:t>2</a:t>
            </a:r>
            <a:r>
              <a:rPr lang="en-IN" dirty="0" smtClean="0"/>
              <a:t> </a:t>
            </a:r>
            <a:r>
              <a:rPr lang="en-IN" dirty="0"/>
              <a:t># Prints list two times</a:t>
            </a:r>
            <a:r>
              <a:rPr lang="en-IN" dirty="0" smtClean="0"/>
              <a:t> </a:t>
            </a:r>
          </a:p>
          <a:p>
            <a:pPr>
              <a:buNone/>
            </a:pPr>
            <a:r>
              <a:rPr lang="en-IN" dirty="0"/>
              <a:t>	</a:t>
            </a:r>
            <a:r>
              <a:rPr lang="en-IN" dirty="0" smtClean="0"/>
              <a:t>print list </a:t>
            </a:r>
            <a:r>
              <a:rPr lang="en-IN" dirty="0"/>
              <a:t>+</a:t>
            </a:r>
            <a:r>
              <a:rPr lang="en-IN" dirty="0" smtClean="0"/>
              <a:t> </a:t>
            </a:r>
            <a:r>
              <a:rPr lang="en-IN" dirty="0" err="1" smtClean="0"/>
              <a:t>tinylist</a:t>
            </a:r>
            <a:r>
              <a:rPr lang="en-IN" dirty="0" smtClean="0"/>
              <a:t> </a:t>
            </a:r>
            <a:r>
              <a:rPr lang="en-IN" dirty="0"/>
              <a:t># </a:t>
            </a:r>
            <a:r>
              <a:rPr lang="en-IN" dirty="0" smtClean="0"/>
              <a:t>Prints </a:t>
            </a:r>
            <a:r>
              <a:rPr lang="en-IN" dirty="0"/>
              <a:t>concatenated lists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err="1" smtClean="0"/>
              <a:t>Tuples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Differences </a:t>
            </a:r>
            <a:r>
              <a:rPr lang="en-IN" dirty="0"/>
              <a:t>between lists and </a:t>
            </a:r>
            <a:r>
              <a:rPr lang="en-IN" dirty="0" err="1"/>
              <a:t>tuples</a:t>
            </a:r>
            <a:r>
              <a:rPr lang="en-IN" dirty="0"/>
              <a:t> are: </a:t>
            </a:r>
            <a:endParaRPr lang="en-IN" dirty="0" smtClean="0"/>
          </a:p>
          <a:p>
            <a:pPr lvl="1"/>
            <a:r>
              <a:rPr lang="en-IN" dirty="0" smtClean="0"/>
              <a:t>Lists </a:t>
            </a:r>
            <a:r>
              <a:rPr lang="en-IN" dirty="0"/>
              <a:t>are enclosed in brackets ( [ ] ) and their elements and size can be changed, </a:t>
            </a:r>
            <a:endParaRPr lang="en-IN" dirty="0" smtClean="0"/>
          </a:p>
          <a:p>
            <a:pPr lvl="1"/>
            <a:r>
              <a:rPr lang="en-IN" dirty="0" smtClean="0"/>
              <a:t>while </a:t>
            </a:r>
            <a:r>
              <a:rPr lang="en-IN" dirty="0" err="1"/>
              <a:t>tuples</a:t>
            </a:r>
            <a:r>
              <a:rPr lang="en-IN" dirty="0"/>
              <a:t> are enclosed in parentheses ( ( ) ) and cannot be updated</a:t>
            </a:r>
            <a:r>
              <a:rPr lang="en-IN" dirty="0" smtClean="0"/>
              <a:t>.</a:t>
            </a:r>
          </a:p>
          <a:p>
            <a:r>
              <a:rPr lang="en-IN" dirty="0" err="1"/>
              <a:t>Tuples</a:t>
            </a:r>
            <a:r>
              <a:rPr lang="en-IN" dirty="0"/>
              <a:t> can be thought of as </a:t>
            </a:r>
            <a:r>
              <a:rPr lang="en-IN" b="1" dirty="0"/>
              <a:t>read-only</a:t>
            </a:r>
            <a:r>
              <a:rPr lang="en-IN" dirty="0"/>
              <a:t> lists</a:t>
            </a:r>
            <a:r>
              <a:rPr lang="en-IN" dirty="0" smtClean="0"/>
              <a:t>.</a:t>
            </a:r>
          </a:p>
          <a:p>
            <a:pPr>
              <a:buNone/>
            </a:pPr>
            <a:r>
              <a:rPr lang="en-IN" dirty="0" smtClean="0"/>
              <a:t>	</a:t>
            </a:r>
            <a:r>
              <a:rPr lang="en-IN" dirty="0" err="1" smtClean="0"/>
              <a:t>tuple</a:t>
            </a:r>
            <a:r>
              <a:rPr lang="en-IN" dirty="0" smtClean="0"/>
              <a:t> </a:t>
            </a:r>
            <a:r>
              <a:rPr lang="en-IN" dirty="0"/>
              <a:t>=</a:t>
            </a:r>
            <a:r>
              <a:rPr lang="en-IN" dirty="0" smtClean="0"/>
              <a:t> </a:t>
            </a:r>
            <a:r>
              <a:rPr lang="en-IN" dirty="0"/>
              <a:t>(</a:t>
            </a:r>
            <a:r>
              <a:rPr lang="en-IN" dirty="0" smtClean="0"/>
              <a:t> </a:t>
            </a:r>
            <a:r>
              <a:rPr lang="en-IN" dirty="0"/>
              <a:t>'</a:t>
            </a:r>
            <a:r>
              <a:rPr lang="en-IN" dirty="0" err="1"/>
              <a:t>abcd</a:t>
            </a:r>
            <a:r>
              <a:rPr lang="en-IN" dirty="0"/>
              <a:t>',</a:t>
            </a:r>
            <a:r>
              <a:rPr lang="en-IN" dirty="0" smtClean="0"/>
              <a:t> </a:t>
            </a:r>
            <a:r>
              <a:rPr lang="en-IN" dirty="0"/>
              <a:t>786</a:t>
            </a:r>
            <a:r>
              <a:rPr lang="en-IN" dirty="0" smtClean="0"/>
              <a:t> </a:t>
            </a:r>
            <a:r>
              <a:rPr lang="en-IN" dirty="0"/>
              <a:t>,</a:t>
            </a:r>
            <a:r>
              <a:rPr lang="en-IN" dirty="0" smtClean="0"/>
              <a:t> </a:t>
            </a:r>
            <a:r>
              <a:rPr lang="en-IN" dirty="0"/>
              <a:t>2.23,</a:t>
            </a:r>
            <a:r>
              <a:rPr lang="en-IN" dirty="0" smtClean="0"/>
              <a:t> </a:t>
            </a:r>
            <a:r>
              <a:rPr lang="en-IN" dirty="0"/>
              <a:t>'john',</a:t>
            </a:r>
            <a:r>
              <a:rPr lang="en-IN" dirty="0" smtClean="0"/>
              <a:t> </a:t>
            </a:r>
            <a:r>
              <a:rPr lang="en-IN" dirty="0"/>
              <a:t>70.2</a:t>
            </a:r>
            <a:r>
              <a:rPr lang="en-IN" dirty="0" smtClean="0"/>
              <a:t> </a:t>
            </a:r>
            <a:r>
              <a:rPr lang="en-IN" dirty="0"/>
              <a:t>)</a:t>
            </a:r>
            <a:r>
              <a:rPr lang="en-IN" dirty="0" smtClean="0"/>
              <a:t> </a:t>
            </a:r>
          </a:p>
          <a:p>
            <a:pPr>
              <a:buNone/>
            </a:pPr>
            <a:r>
              <a:rPr lang="en-IN" dirty="0" smtClean="0"/>
              <a:t>	list </a:t>
            </a:r>
            <a:r>
              <a:rPr lang="en-IN" dirty="0"/>
              <a:t>=</a:t>
            </a:r>
            <a:r>
              <a:rPr lang="en-IN" dirty="0" smtClean="0"/>
              <a:t> </a:t>
            </a:r>
            <a:r>
              <a:rPr lang="en-IN" dirty="0"/>
              <a:t>[</a:t>
            </a:r>
            <a:r>
              <a:rPr lang="en-IN" dirty="0" smtClean="0"/>
              <a:t> </a:t>
            </a:r>
            <a:r>
              <a:rPr lang="en-IN" dirty="0"/>
              <a:t>'</a:t>
            </a:r>
            <a:r>
              <a:rPr lang="en-IN" dirty="0" err="1"/>
              <a:t>abcd</a:t>
            </a:r>
            <a:r>
              <a:rPr lang="en-IN" dirty="0"/>
              <a:t>',</a:t>
            </a:r>
            <a:r>
              <a:rPr lang="en-IN" dirty="0" smtClean="0"/>
              <a:t> </a:t>
            </a:r>
            <a:r>
              <a:rPr lang="en-IN" dirty="0"/>
              <a:t>786</a:t>
            </a:r>
            <a:r>
              <a:rPr lang="en-IN" dirty="0" smtClean="0"/>
              <a:t> </a:t>
            </a:r>
            <a:r>
              <a:rPr lang="en-IN" dirty="0"/>
              <a:t>,</a:t>
            </a:r>
            <a:r>
              <a:rPr lang="en-IN" dirty="0" smtClean="0"/>
              <a:t> </a:t>
            </a:r>
            <a:r>
              <a:rPr lang="en-IN" dirty="0"/>
              <a:t>2.23,</a:t>
            </a:r>
            <a:r>
              <a:rPr lang="en-IN" dirty="0" smtClean="0"/>
              <a:t> </a:t>
            </a:r>
            <a:r>
              <a:rPr lang="en-IN" dirty="0"/>
              <a:t>'john',</a:t>
            </a:r>
            <a:r>
              <a:rPr lang="en-IN" dirty="0" smtClean="0"/>
              <a:t> </a:t>
            </a:r>
            <a:r>
              <a:rPr lang="en-IN" dirty="0"/>
              <a:t>70.2</a:t>
            </a:r>
            <a:r>
              <a:rPr lang="en-IN" dirty="0" smtClean="0"/>
              <a:t> </a:t>
            </a:r>
            <a:r>
              <a:rPr lang="en-IN" dirty="0"/>
              <a:t>]</a:t>
            </a:r>
            <a:r>
              <a:rPr lang="en-IN" dirty="0" smtClean="0"/>
              <a:t> </a:t>
            </a:r>
          </a:p>
          <a:p>
            <a:pPr>
              <a:buNone/>
            </a:pPr>
            <a:r>
              <a:rPr lang="en-IN" dirty="0"/>
              <a:t>	</a:t>
            </a:r>
            <a:r>
              <a:rPr lang="en-IN" dirty="0" err="1" smtClean="0"/>
              <a:t>tuple</a:t>
            </a:r>
            <a:r>
              <a:rPr lang="en-IN" dirty="0" smtClean="0"/>
              <a:t>[2</a:t>
            </a:r>
            <a:r>
              <a:rPr lang="en-IN" dirty="0"/>
              <a:t>]</a:t>
            </a:r>
            <a:r>
              <a:rPr lang="en-IN" dirty="0" smtClean="0"/>
              <a:t> </a:t>
            </a:r>
            <a:r>
              <a:rPr lang="en-IN" dirty="0"/>
              <a:t>=</a:t>
            </a:r>
            <a:r>
              <a:rPr lang="en-IN" dirty="0" smtClean="0"/>
              <a:t> </a:t>
            </a:r>
            <a:r>
              <a:rPr lang="en-IN" dirty="0"/>
              <a:t>1000</a:t>
            </a:r>
            <a:r>
              <a:rPr lang="en-IN" dirty="0" smtClean="0"/>
              <a:t> </a:t>
            </a:r>
            <a:r>
              <a:rPr lang="en-IN" dirty="0"/>
              <a:t># Invalid syntax with </a:t>
            </a:r>
            <a:r>
              <a:rPr lang="en-IN" dirty="0" err="1"/>
              <a:t>tuple</a:t>
            </a:r>
            <a:r>
              <a:rPr lang="en-IN" dirty="0" smtClean="0"/>
              <a:t> </a:t>
            </a:r>
          </a:p>
          <a:p>
            <a:pPr>
              <a:buNone/>
            </a:pPr>
            <a:r>
              <a:rPr lang="en-IN" dirty="0"/>
              <a:t>	</a:t>
            </a:r>
            <a:r>
              <a:rPr lang="en-IN" dirty="0" smtClean="0"/>
              <a:t>list[2</a:t>
            </a:r>
            <a:r>
              <a:rPr lang="en-IN" dirty="0"/>
              <a:t>]</a:t>
            </a:r>
            <a:r>
              <a:rPr lang="en-IN" dirty="0" smtClean="0"/>
              <a:t> </a:t>
            </a:r>
            <a:r>
              <a:rPr lang="en-IN" dirty="0"/>
              <a:t>=</a:t>
            </a:r>
            <a:r>
              <a:rPr lang="en-IN" dirty="0" smtClean="0"/>
              <a:t> </a:t>
            </a:r>
            <a:r>
              <a:rPr lang="en-IN" dirty="0"/>
              <a:t>1000</a:t>
            </a:r>
            <a:r>
              <a:rPr lang="en-IN" dirty="0" smtClean="0"/>
              <a:t> </a:t>
            </a:r>
            <a:r>
              <a:rPr lang="en-IN" dirty="0"/>
              <a:t># Valid syntax with list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Dictionary</a:t>
            </a:r>
            <a:endParaRPr lang="en-IN" dirty="0"/>
          </a:p>
        </p:txBody>
      </p:sp>
      <p:sp>
        <p:nvSpPr>
          <p:cNvPr id="3" name="Content Placeholder 2"/>
          <p:cNvSpPr>
            <a:spLocks noGrp="1"/>
          </p:cNvSpPr>
          <p:nvPr>
            <p:ph idx="1"/>
          </p:nvPr>
        </p:nvSpPr>
        <p:spPr>
          <a:xfrm>
            <a:off x="457200" y="1071546"/>
            <a:ext cx="8229600" cy="5643602"/>
          </a:xfrm>
        </p:spPr>
        <p:txBody>
          <a:bodyPr>
            <a:normAutofit fontScale="70000" lnSpcReduction="20000"/>
          </a:bodyPr>
          <a:lstStyle/>
          <a:p>
            <a:r>
              <a:rPr lang="en-IN" dirty="0"/>
              <a:t>Python's dictionaries are kind of hash table type. </a:t>
            </a:r>
            <a:endParaRPr lang="en-IN" dirty="0" smtClean="0"/>
          </a:p>
          <a:p>
            <a:r>
              <a:rPr lang="en-IN" dirty="0" smtClean="0"/>
              <a:t>They </a:t>
            </a:r>
            <a:r>
              <a:rPr lang="en-IN" dirty="0"/>
              <a:t>work like associative arrays or hashes found in Perl and consist of key-value pairs. </a:t>
            </a:r>
            <a:endParaRPr lang="en-IN" dirty="0" smtClean="0"/>
          </a:p>
          <a:p>
            <a:r>
              <a:rPr lang="en-IN" dirty="0" smtClean="0"/>
              <a:t>A </a:t>
            </a:r>
            <a:r>
              <a:rPr lang="en-IN" dirty="0"/>
              <a:t>dictionary key can be almost any Python type, but are usually numbers or strings. </a:t>
            </a:r>
            <a:endParaRPr lang="en-IN" dirty="0" smtClean="0"/>
          </a:p>
          <a:p>
            <a:r>
              <a:rPr lang="en-IN" dirty="0" smtClean="0"/>
              <a:t>Values</a:t>
            </a:r>
            <a:r>
              <a:rPr lang="en-IN" dirty="0"/>
              <a:t>, on the other hand, can be any arbitrary Python object</a:t>
            </a:r>
            <a:r>
              <a:rPr lang="en-IN" dirty="0" smtClean="0"/>
              <a:t>.</a:t>
            </a:r>
          </a:p>
          <a:p>
            <a:r>
              <a:rPr lang="en-IN" dirty="0"/>
              <a:t>Dictionaries are enclosed by curly braces ({ }) and values can be assigned and accessed using square braces </a:t>
            </a:r>
            <a:r>
              <a:rPr lang="en-IN" dirty="0" smtClean="0"/>
              <a:t>([]).</a:t>
            </a:r>
          </a:p>
          <a:p>
            <a:pPr>
              <a:buNone/>
            </a:pPr>
            <a:r>
              <a:rPr lang="en-IN" dirty="0" smtClean="0"/>
              <a:t>		</a:t>
            </a:r>
            <a:r>
              <a:rPr lang="en-IN" dirty="0" err="1" smtClean="0"/>
              <a:t>dict</a:t>
            </a:r>
            <a:r>
              <a:rPr lang="en-IN" dirty="0" smtClean="0"/>
              <a:t> </a:t>
            </a:r>
            <a:r>
              <a:rPr lang="en-IN" dirty="0"/>
              <a:t>=</a:t>
            </a:r>
            <a:r>
              <a:rPr lang="en-IN" dirty="0" smtClean="0"/>
              <a:t> </a:t>
            </a:r>
            <a:r>
              <a:rPr lang="en-IN" dirty="0"/>
              <a:t>{}</a:t>
            </a:r>
            <a:r>
              <a:rPr lang="en-IN" dirty="0" smtClean="0"/>
              <a:t> </a:t>
            </a:r>
          </a:p>
          <a:p>
            <a:pPr>
              <a:buNone/>
            </a:pPr>
            <a:r>
              <a:rPr lang="en-IN" dirty="0"/>
              <a:t>	</a:t>
            </a:r>
            <a:r>
              <a:rPr lang="en-IN" dirty="0" smtClean="0"/>
              <a:t>	</a:t>
            </a:r>
            <a:r>
              <a:rPr lang="en-IN" dirty="0" err="1" smtClean="0"/>
              <a:t>dict</a:t>
            </a:r>
            <a:r>
              <a:rPr lang="en-IN" dirty="0"/>
              <a:t>['one']</a:t>
            </a:r>
            <a:r>
              <a:rPr lang="en-IN" dirty="0" smtClean="0"/>
              <a:t> </a:t>
            </a:r>
            <a:r>
              <a:rPr lang="en-IN" dirty="0"/>
              <a:t>=</a:t>
            </a:r>
            <a:r>
              <a:rPr lang="en-IN" dirty="0" smtClean="0"/>
              <a:t> </a:t>
            </a:r>
            <a:r>
              <a:rPr lang="en-IN" dirty="0"/>
              <a:t>"This is one"</a:t>
            </a:r>
            <a:r>
              <a:rPr lang="en-IN" dirty="0" smtClean="0"/>
              <a:t> </a:t>
            </a:r>
          </a:p>
          <a:p>
            <a:pPr>
              <a:buNone/>
            </a:pPr>
            <a:r>
              <a:rPr lang="en-IN" dirty="0"/>
              <a:t>	</a:t>
            </a:r>
            <a:r>
              <a:rPr lang="en-IN" dirty="0" smtClean="0"/>
              <a:t>	</a:t>
            </a:r>
            <a:r>
              <a:rPr lang="en-IN" dirty="0" err="1" smtClean="0"/>
              <a:t>dict</a:t>
            </a:r>
            <a:r>
              <a:rPr lang="en-IN" dirty="0" smtClean="0"/>
              <a:t>[2</a:t>
            </a:r>
            <a:r>
              <a:rPr lang="en-IN" dirty="0"/>
              <a:t>]</a:t>
            </a:r>
            <a:r>
              <a:rPr lang="en-IN" dirty="0" smtClean="0"/>
              <a:t> </a:t>
            </a:r>
            <a:r>
              <a:rPr lang="en-IN" dirty="0"/>
              <a:t>=</a:t>
            </a:r>
            <a:r>
              <a:rPr lang="en-IN" dirty="0" smtClean="0"/>
              <a:t> </a:t>
            </a:r>
            <a:r>
              <a:rPr lang="en-IN" dirty="0"/>
              <a:t>"This is two"</a:t>
            </a:r>
            <a:r>
              <a:rPr lang="en-IN" dirty="0" smtClean="0"/>
              <a:t> </a:t>
            </a:r>
          </a:p>
          <a:p>
            <a:pPr>
              <a:buNone/>
            </a:pPr>
            <a:r>
              <a:rPr lang="en-IN" dirty="0"/>
              <a:t>	</a:t>
            </a:r>
            <a:r>
              <a:rPr lang="en-IN" dirty="0" smtClean="0"/>
              <a:t>	</a:t>
            </a:r>
            <a:r>
              <a:rPr lang="en-IN" dirty="0" err="1" smtClean="0"/>
              <a:t>tinydict</a:t>
            </a:r>
            <a:r>
              <a:rPr lang="en-IN" dirty="0" smtClean="0"/>
              <a:t> </a:t>
            </a:r>
            <a:r>
              <a:rPr lang="en-IN" dirty="0"/>
              <a:t>=</a:t>
            </a:r>
            <a:r>
              <a:rPr lang="en-IN" dirty="0" smtClean="0"/>
              <a:t> </a:t>
            </a:r>
            <a:r>
              <a:rPr lang="en-IN" dirty="0"/>
              <a:t>{'name':</a:t>
            </a:r>
            <a:r>
              <a:rPr lang="en-IN" dirty="0" smtClean="0"/>
              <a:t> </a:t>
            </a:r>
            <a:r>
              <a:rPr lang="en-IN" dirty="0"/>
              <a:t>'john','code':6734,</a:t>
            </a:r>
            <a:r>
              <a:rPr lang="en-IN" dirty="0" smtClean="0"/>
              <a:t> </a:t>
            </a:r>
            <a:r>
              <a:rPr lang="en-IN" dirty="0"/>
              <a:t>'dept':</a:t>
            </a:r>
            <a:r>
              <a:rPr lang="en-IN" dirty="0" smtClean="0"/>
              <a:t> </a:t>
            </a:r>
            <a:r>
              <a:rPr lang="en-IN" dirty="0"/>
              <a:t>'sales'}</a:t>
            </a:r>
            <a:r>
              <a:rPr lang="en-IN" dirty="0" smtClean="0"/>
              <a:t> </a:t>
            </a:r>
          </a:p>
          <a:p>
            <a:pPr>
              <a:buNone/>
            </a:pPr>
            <a:r>
              <a:rPr lang="en-IN" dirty="0"/>
              <a:t>	</a:t>
            </a:r>
            <a:r>
              <a:rPr lang="en-IN" dirty="0" smtClean="0"/>
              <a:t>	print </a:t>
            </a:r>
            <a:r>
              <a:rPr lang="en-IN" dirty="0" err="1" smtClean="0"/>
              <a:t>dict</a:t>
            </a:r>
            <a:r>
              <a:rPr lang="en-IN" dirty="0"/>
              <a:t>['one']</a:t>
            </a:r>
            <a:r>
              <a:rPr lang="en-IN" dirty="0" smtClean="0"/>
              <a:t> </a:t>
            </a:r>
            <a:r>
              <a:rPr lang="en-IN" dirty="0"/>
              <a:t># Prints value for 'one' key</a:t>
            </a:r>
            <a:r>
              <a:rPr lang="en-IN" dirty="0" smtClean="0"/>
              <a:t> </a:t>
            </a:r>
          </a:p>
          <a:p>
            <a:pPr>
              <a:buNone/>
            </a:pPr>
            <a:r>
              <a:rPr lang="en-IN" dirty="0"/>
              <a:t>	</a:t>
            </a:r>
            <a:r>
              <a:rPr lang="en-IN" dirty="0" smtClean="0"/>
              <a:t>	print </a:t>
            </a:r>
            <a:r>
              <a:rPr lang="en-IN" dirty="0" err="1" smtClean="0"/>
              <a:t>dict</a:t>
            </a:r>
            <a:r>
              <a:rPr lang="en-IN" dirty="0"/>
              <a:t>[2]</a:t>
            </a:r>
            <a:r>
              <a:rPr lang="en-IN" dirty="0" smtClean="0"/>
              <a:t> </a:t>
            </a:r>
            <a:r>
              <a:rPr lang="en-IN" dirty="0"/>
              <a:t># Prints value for 2 key</a:t>
            </a:r>
            <a:r>
              <a:rPr lang="en-IN" dirty="0" smtClean="0"/>
              <a:t> </a:t>
            </a:r>
          </a:p>
          <a:p>
            <a:pPr>
              <a:buNone/>
            </a:pPr>
            <a:r>
              <a:rPr lang="en-IN" dirty="0"/>
              <a:t>	</a:t>
            </a:r>
            <a:r>
              <a:rPr lang="en-IN" dirty="0" smtClean="0"/>
              <a:t>	print </a:t>
            </a:r>
            <a:r>
              <a:rPr lang="en-IN" dirty="0" err="1" smtClean="0"/>
              <a:t>tinydict</a:t>
            </a:r>
            <a:r>
              <a:rPr lang="en-IN" dirty="0" smtClean="0"/>
              <a:t> </a:t>
            </a:r>
            <a:r>
              <a:rPr lang="en-IN" dirty="0"/>
              <a:t># Prints complete dictionary</a:t>
            </a:r>
            <a:r>
              <a:rPr lang="en-IN" dirty="0" smtClean="0"/>
              <a:t> </a:t>
            </a:r>
          </a:p>
          <a:p>
            <a:pPr>
              <a:buNone/>
            </a:pPr>
            <a:r>
              <a:rPr lang="en-IN" dirty="0"/>
              <a:t>	</a:t>
            </a:r>
            <a:r>
              <a:rPr lang="en-IN" dirty="0" smtClean="0"/>
              <a:t>	print </a:t>
            </a:r>
            <a:r>
              <a:rPr lang="en-IN" dirty="0" err="1" smtClean="0"/>
              <a:t>tinydict</a:t>
            </a:r>
            <a:r>
              <a:rPr lang="en-IN" dirty="0" err="1"/>
              <a:t>.</a:t>
            </a:r>
            <a:r>
              <a:rPr lang="en-IN" dirty="0" err="1" smtClean="0"/>
              <a:t>keys</a:t>
            </a:r>
            <a:r>
              <a:rPr lang="en-IN" dirty="0"/>
              <a:t>()</a:t>
            </a:r>
            <a:r>
              <a:rPr lang="en-IN" dirty="0" smtClean="0"/>
              <a:t> </a:t>
            </a:r>
            <a:r>
              <a:rPr lang="en-IN" dirty="0"/>
              <a:t># Prints all the keys</a:t>
            </a:r>
            <a:r>
              <a:rPr lang="en-IN" dirty="0" smtClean="0"/>
              <a:t> </a:t>
            </a:r>
          </a:p>
          <a:p>
            <a:pPr>
              <a:buNone/>
            </a:pPr>
            <a:r>
              <a:rPr lang="en-IN" dirty="0"/>
              <a:t>	</a:t>
            </a:r>
            <a:r>
              <a:rPr lang="en-IN" dirty="0" smtClean="0"/>
              <a:t>	print </a:t>
            </a:r>
            <a:r>
              <a:rPr lang="en-IN" dirty="0" err="1" smtClean="0"/>
              <a:t>tinydict</a:t>
            </a:r>
            <a:r>
              <a:rPr lang="en-IN" dirty="0" err="1"/>
              <a:t>.</a:t>
            </a:r>
            <a:r>
              <a:rPr lang="en-IN" dirty="0" err="1" smtClean="0"/>
              <a:t>values</a:t>
            </a:r>
            <a:r>
              <a:rPr lang="en-IN" dirty="0"/>
              <a:t>()</a:t>
            </a:r>
            <a:r>
              <a:rPr lang="en-IN" dirty="0" smtClean="0"/>
              <a:t> </a:t>
            </a:r>
            <a:r>
              <a:rPr lang="en-IN" dirty="0"/>
              <a:t># Prints all the values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Data Type </a:t>
            </a:r>
            <a:r>
              <a:rPr lang="en-IN" dirty="0" smtClean="0"/>
              <a:t>Conversion</a:t>
            </a:r>
            <a:endParaRPr lang="en-IN" dirty="0"/>
          </a:p>
        </p:txBody>
      </p:sp>
      <p:graphicFrame>
        <p:nvGraphicFramePr>
          <p:cNvPr id="5" name="Content Placeholder 4"/>
          <p:cNvGraphicFramePr>
            <a:graphicFrameLocks noGrp="1"/>
          </p:cNvGraphicFramePr>
          <p:nvPr>
            <p:ph idx="1"/>
          </p:nvPr>
        </p:nvGraphicFramePr>
        <p:xfrm>
          <a:off x="457200" y="1071563"/>
          <a:ext cx="8229600" cy="4617720"/>
        </p:xfrm>
        <a:graphic>
          <a:graphicData uri="http://schemas.openxmlformats.org/drawingml/2006/table">
            <a:tbl>
              <a:tblPr firstRow="1" bandRow="1">
                <a:tableStyleId>{5C22544A-7EE6-4342-B048-85BDC9FD1C3A}</a:tableStyleId>
              </a:tblPr>
              <a:tblGrid>
                <a:gridCol w="900090"/>
                <a:gridCol w="2286016"/>
                <a:gridCol w="5043494"/>
              </a:tblGrid>
              <a:tr h="370840">
                <a:tc>
                  <a:txBody>
                    <a:bodyPr/>
                    <a:lstStyle/>
                    <a:p>
                      <a:r>
                        <a:rPr lang="en-IN" dirty="0" smtClean="0"/>
                        <a:t>Sl. No.</a:t>
                      </a:r>
                      <a:endParaRPr lang="en-IN" dirty="0"/>
                    </a:p>
                  </a:txBody>
                  <a:tcPr/>
                </a:tc>
                <a:tc>
                  <a:txBody>
                    <a:bodyPr/>
                    <a:lstStyle/>
                    <a:p>
                      <a:r>
                        <a:rPr lang="en-IN" dirty="0" smtClean="0"/>
                        <a:t>Function</a:t>
                      </a:r>
                      <a:endParaRPr lang="en-IN" dirty="0"/>
                    </a:p>
                  </a:txBody>
                  <a:tcPr/>
                </a:tc>
                <a:tc>
                  <a:txBody>
                    <a:bodyPr/>
                    <a:lstStyle/>
                    <a:p>
                      <a:r>
                        <a:rPr lang="en-IN" dirty="0" smtClean="0"/>
                        <a:t>Description</a:t>
                      </a:r>
                      <a:endParaRPr lang="en-IN" dirty="0"/>
                    </a:p>
                  </a:txBody>
                  <a:tcPr/>
                </a:tc>
              </a:tr>
              <a:tr h="370840">
                <a:tc>
                  <a:txBody>
                    <a:bodyPr/>
                    <a:lstStyle/>
                    <a:p>
                      <a:r>
                        <a:rPr lang="en-IN" dirty="0" smtClean="0"/>
                        <a:t>1</a:t>
                      </a:r>
                      <a:endParaRPr lang="en-IN" dirty="0"/>
                    </a:p>
                  </a:txBody>
                  <a:tcPr/>
                </a:tc>
                <a:tc>
                  <a:txBody>
                    <a:bodyPr/>
                    <a:lstStyle/>
                    <a:p>
                      <a:r>
                        <a:rPr lang="en-IN" sz="1800" b="1" kern="1200" dirty="0" err="1" smtClean="0">
                          <a:solidFill>
                            <a:schemeClr val="dk1"/>
                          </a:solidFill>
                          <a:latin typeface="+mn-lt"/>
                          <a:ea typeface="+mn-ea"/>
                          <a:cs typeface="+mn-cs"/>
                        </a:rPr>
                        <a:t>int</a:t>
                      </a:r>
                      <a:r>
                        <a:rPr lang="en-IN" sz="1800" b="1" kern="1200" dirty="0" smtClean="0">
                          <a:solidFill>
                            <a:schemeClr val="dk1"/>
                          </a:solidFill>
                          <a:latin typeface="+mn-lt"/>
                          <a:ea typeface="+mn-ea"/>
                          <a:cs typeface="+mn-cs"/>
                        </a:rPr>
                        <a:t>(x [,base])</a:t>
                      </a:r>
                      <a:endParaRPr lang="en-IN" sz="1800" kern="1200" dirty="0" smtClean="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x to an integer. base specifies the base if x is a string.</a:t>
                      </a:r>
                      <a:endParaRPr lang="en-IN" dirty="0" smtClean="0"/>
                    </a:p>
                  </a:txBody>
                  <a:tcPr/>
                </a:tc>
              </a:tr>
              <a:tr h="370840">
                <a:tc>
                  <a:txBody>
                    <a:bodyPr/>
                    <a:lstStyle/>
                    <a:p>
                      <a:r>
                        <a:rPr lang="en-IN" dirty="0" smtClean="0"/>
                        <a:t>2</a:t>
                      </a:r>
                      <a:endParaRPr lang="en-IN" dirty="0"/>
                    </a:p>
                  </a:txBody>
                  <a:tcPr/>
                </a:tc>
                <a:tc>
                  <a:txBody>
                    <a:bodyPr/>
                    <a:lstStyle/>
                    <a:p>
                      <a:r>
                        <a:rPr lang="en-IN" sz="1800" b="1" kern="1200" dirty="0" smtClean="0">
                          <a:solidFill>
                            <a:schemeClr val="dk1"/>
                          </a:solidFill>
                          <a:latin typeface="+mn-lt"/>
                          <a:ea typeface="+mn-ea"/>
                          <a:cs typeface="+mn-cs"/>
                        </a:rPr>
                        <a:t>long(x [,base] )</a:t>
                      </a:r>
                      <a:endParaRPr lang="en-IN" sz="1800" kern="1200" dirty="0" smtClean="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x to a long integer. base specifies the base if x is a string.</a:t>
                      </a:r>
                    </a:p>
                  </a:txBody>
                  <a:tcPr/>
                </a:tc>
              </a:tr>
              <a:tr h="370840">
                <a:tc>
                  <a:txBody>
                    <a:bodyPr/>
                    <a:lstStyle/>
                    <a:p>
                      <a:r>
                        <a:rPr lang="en-IN" dirty="0" smtClean="0"/>
                        <a:t>3</a:t>
                      </a:r>
                      <a:endParaRPr lang="en-IN" dirty="0"/>
                    </a:p>
                  </a:txBody>
                  <a:tcPr/>
                </a:tc>
                <a:tc>
                  <a:txBody>
                    <a:bodyPr/>
                    <a:lstStyle/>
                    <a:p>
                      <a:r>
                        <a:rPr lang="en-IN" sz="1800" b="1" kern="1200" dirty="0" smtClean="0">
                          <a:solidFill>
                            <a:schemeClr val="dk1"/>
                          </a:solidFill>
                          <a:latin typeface="+mn-lt"/>
                          <a:ea typeface="+mn-ea"/>
                          <a:cs typeface="+mn-cs"/>
                        </a:rPr>
                        <a:t>float(x)</a:t>
                      </a:r>
                      <a:endParaRPr lang="en-IN" sz="1800" kern="1200" dirty="0" smtClean="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x to a floating-point number.</a:t>
                      </a:r>
                    </a:p>
                  </a:txBody>
                  <a:tcPr/>
                </a:tc>
              </a:tr>
              <a:tr h="370840">
                <a:tc>
                  <a:txBody>
                    <a:bodyPr/>
                    <a:lstStyle/>
                    <a:p>
                      <a:r>
                        <a:rPr lang="en-IN" dirty="0" smtClean="0"/>
                        <a:t>4</a:t>
                      </a:r>
                      <a:endParaRPr lang="en-IN" dirty="0"/>
                    </a:p>
                  </a:txBody>
                  <a:tcPr/>
                </a:tc>
                <a:tc>
                  <a:txBody>
                    <a:bodyPr/>
                    <a:lstStyle/>
                    <a:p>
                      <a:r>
                        <a:rPr lang="en-IN" sz="1800" b="1" kern="1200" dirty="0" smtClean="0">
                          <a:solidFill>
                            <a:schemeClr val="dk1"/>
                          </a:solidFill>
                          <a:latin typeface="+mn-lt"/>
                          <a:ea typeface="+mn-ea"/>
                          <a:cs typeface="+mn-cs"/>
                        </a:rPr>
                        <a:t>complex(real [,</a:t>
                      </a:r>
                      <a:r>
                        <a:rPr lang="en-IN" sz="1800" b="1" kern="1200" dirty="0" err="1" smtClean="0">
                          <a:solidFill>
                            <a:schemeClr val="dk1"/>
                          </a:solidFill>
                          <a:latin typeface="+mn-lt"/>
                          <a:ea typeface="+mn-ea"/>
                          <a:cs typeface="+mn-cs"/>
                        </a:rPr>
                        <a:t>imag</a:t>
                      </a:r>
                      <a:r>
                        <a:rPr lang="en-IN" sz="1800" b="1" kern="1200" dirty="0" smtClean="0">
                          <a:solidFill>
                            <a:schemeClr val="dk1"/>
                          </a:solidFill>
                          <a:latin typeface="+mn-lt"/>
                          <a:ea typeface="+mn-ea"/>
                          <a:cs typeface="+mn-cs"/>
                        </a:rPr>
                        <a:t>])</a:t>
                      </a:r>
                      <a:endParaRPr lang="en-IN" sz="1800" kern="1200" dirty="0" smtClean="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Creates a complex number.</a:t>
                      </a:r>
                    </a:p>
                  </a:txBody>
                  <a:tcPr/>
                </a:tc>
              </a:tr>
              <a:tr h="370840">
                <a:tc>
                  <a:txBody>
                    <a:bodyPr/>
                    <a:lstStyle/>
                    <a:p>
                      <a:r>
                        <a:rPr lang="en-IN" dirty="0" smtClean="0"/>
                        <a:t>5</a:t>
                      </a:r>
                      <a:endParaRPr lang="en-IN" dirty="0"/>
                    </a:p>
                  </a:txBody>
                  <a:tcPr/>
                </a:tc>
                <a:tc>
                  <a:txBody>
                    <a:bodyPr/>
                    <a:lstStyle/>
                    <a:p>
                      <a:r>
                        <a:rPr lang="en-IN" sz="1800" b="1" kern="1200" dirty="0" err="1" smtClean="0">
                          <a:solidFill>
                            <a:schemeClr val="dk1"/>
                          </a:solidFill>
                          <a:latin typeface="+mn-lt"/>
                          <a:ea typeface="+mn-ea"/>
                          <a:cs typeface="+mn-cs"/>
                        </a:rPr>
                        <a:t>str</a:t>
                      </a:r>
                      <a:r>
                        <a:rPr lang="en-IN" sz="1800" b="1" kern="1200" dirty="0" smtClean="0">
                          <a:solidFill>
                            <a:schemeClr val="dk1"/>
                          </a:solidFill>
                          <a:latin typeface="+mn-lt"/>
                          <a:ea typeface="+mn-ea"/>
                          <a:cs typeface="+mn-cs"/>
                        </a:rPr>
                        <a:t>(x)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object x to a string representation.</a:t>
                      </a:r>
                    </a:p>
                  </a:txBody>
                  <a:tcPr/>
                </a:tc>
              </a:tr>
              <a:tr h="370840">
                <a:tc>
                  <a:txBody>
                    <a:bodyPr/>
                    <a:lstStyle/>
                    <a:p>
                      <a:r>
                        <a:rPr lang="en-IN" dirty="0" smtClean="0"/>
                        <a:t>6</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1" kern="1200" dirty="0" err="1" smtClean="0">
                          <a:solidFill>
                            <a:schemeClr val="dk1"/>
                          </a:solidFill>
                          <a:latin typeface="+mn-lt"/>
                          <a:ea typeface="+mn-ea"/>
                          <a:cs typeface="+mn-cs"/>
                        </a:rPr>
                        <a:t>repr</a:t>
                      </a:r>
                      <a:r>
                        <a:rPr lang="en-IN" sz="1800" b="1" kern="1200" dirty="0" smtClean="0">
                          <a:solidFill>
                            <a:schemeClr val="dk1"/>
                          </a:solidFill>
                          <a:latin typeface="+mn-lt"/>
                          <a:ea typeface="+mn-ea"/>
                          <a:cs typeface="+mn-cs"/>
                        </a:rPr>
                        <a:t>(x)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object x to an expression string.</a:t>
                      </a:r>
                    </a:p>
                  </a:txBody>
                  <a:tcPr/>
                </a:tc>
              </a:tr>
              <a:tr h="370840">
                <a:tc>
                  <a:txBody>
                    <a:bodyPr/>
                    <a:lstStyle/>
                    <a:p>
                      <a:r>
                        <a:rPr lang="en-IN" dirty="0" smtClean="0"/>
                        <a:t>7</a:t>
                      </a:r>
                      <a:endParaRPr lang="en-IN" dirty="0"/>
                    </a:p>
                  </a:txBody>
                  <a:tcPr/>
                </a:tc>
                <a:tc>
                  <a:txBody>
                    <a:bodyPr/>
                    <a:lstStyle/>
                    <a:p>
                      <a:r>
                        <a:rPr lang="en-IN" sz="1800" b="1" kern="1200" dirty="0" err="1" smtClean="0">
                          <a:solidFill>
                            <a:schemeClr val="dk1"/>
                          </a:solidFill>
                          <a:latin typeface="+mn-lt"/>
                          <a:ea typeface="+mn-ea"/>
                          <a:cs typeface="+mn-cs"/>
                        </a:rPr>
                        <a:t>eval</a:t>
                      </a:r>
                      <a:r>
                        <a:rPr lang="en-IN" sz="1800" b="1" kern="1200" dirty="0" smtClean="0">
                          <a:solidFill>
                            <a:schemeClr val="dk1"/>
                          </a:solidFill>
                          <a:latin typeface="+mn-lt"/>
                          <a:ea typeface="+mn-ea"/>
                          <a:cs typeface="+mn-cs"/>
                        </a:rPr>
                        <a:t>(</a:t>
                      </a:r>
                      <a:r>
                        <a:rPr lang="en-IN" sz="1800" b="1" kern="1200" dirty="0" err="1" smtClean="0">
                          <a:solidFill>
                            <a:schemeClr val="dk1"/>
                          </a:solidFill>
                          <a:latin typeface="+mn-lt"/>
                          <a:ea typeface="+mn-ea"/>
                          <a:cs typeface="+mn-cs"/>
                        </a:rPr>
                        <a:t>str</a:t>
                      </a:r>
                      <a:r>
                        <a:rPr lang="en-IN" sz="1800" b="1" kern="1200" dirty="0" smtClean="0">
                          <a:solidFill>
                            <a:schemeClr val="dk1"/>
                          </a:solidFill>
                          <a:latin typeface="+mn-lt"/>
                          <a:ea typeface="+mn-ea"/>
                          <a:cs typeface="+mn-cs"/>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Evaluates a string and returns an object.</a:t>
                      </a:r>
                    </a:p>
                  </a:txBody>
                  <a:tcPr/>
                </a:tc>
              </a:tr>
              <a:tr h="370840">
                <a:tc>
                  <a:txBody>
                    <a:bodyPr/>
                    <a:lstStyle/>
                    <a:p>
                      <a:r>
                        <a:rPr lang="en-IN" dirty="0" smtClean="0"/>
                        <a:t>8</a:t>
                      </a:r>
                      <a:endParaRPr lang="en-IN" dirty="0"/>
                    </a:p>
                  </a:txBody>
                  <a:tcPr/>
                </a:tc>
                <a:tc>
                  <a:txBody>
                    <a:bodyPr/>
                    <a:lstStyle/>
                    <a:p>
                      <a:r>
                        <a:rPr lang="en-IN" sz="1800" b="1" kern="1200" dirty="0" err="1" smtClean="0">
                          <a:solidFill>
                            <a:schemeClr val="dk1"/>
                          </a:solidFill>
                          <a:latin typeface="+mn-lt"/>
                          <a:ea typeface="+mn-ea"/>
                          <a:cs typeface="+mn-cs"/>
                        </a:rPr>
                        <a:t>tuple</a:t>
                      </a:r>
                      <a:r>
                        <a:rPr lang="en-IN" sz="1800" b="1" kern="1200" dirty="0" smtClean="0">
                          <a:solidFill>
                            <a:schemeClr val="dk1"/>
                          </a:solidFill>
                          <a:latin typeface="+mn-lt"/>
                          <a:ea typeface="+mn-ea"/>
                          <a:cs typeface="+mn-cs"/>
                        </a:rPr>
                        <a:t>(s)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s to a </a:t>
                      </a:r>
                      <a:r>
                        <a:rPr lang="en-IN" sz="1800" kern="1200" dirty="0" err="1" smtClean="0">
                          <a:solidFill>
                            <a:schemeClr val="dk1"/>
                          </a:solidFill>
                          <a:latin typeface="+mn-lt"/>
                          <a:ea typeface="+mn-ea"/>
                          <a:cs typeface="+mn-cs"/>
                        </a:rPr>
                        <a:t>tuple</a:t>
                      </a:r>
                      <a:r>
                        <a:rPr lang="en-IN" sz="1800" kern="1200" dirty="0" smtClean="0">
                          <a:solidFill>
                            <a:schemeClr val="dk1"/>
                          </a:solidFill>
                          <a:latin typeface="+mn-lt"/>
                          <a:ea typeface="+mn-ea"/>
                          <a:cs typeface="+mn-cs"/>
                        </a:rPr>
                        <a:t>.</a:t>
                      </a:r>
                    </a:p>
                  </a:txBody>
                  <a:tcPr/>
                </a:tc>
              </a:tr>
              <a:tr h="370840">
                <a:tc>
                  <a:txBody>
                    <a:bodyPr/>
                    <a:lstStyle/>
                    <a:p>
                      <a:r>
                        <a:rPr lang="en-IN" dirty="0" smtClean="0"/>
                        <a:t>9</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1" kern="1200" dirty="0" smtClean="0">
                          <a:solidFill>
                            <a:schemeClr val="dk1"/>
                          </a:solidFill>
                          <a:latin typeface="+mn-lt"/>
                          <a:ea typeface="+mn-ea"/>
                          <a:cs typeface="+mn-cs"/>
                        </a:rPr>
                        <a:t>list(s)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s to a list.</a:t>
                      </a:r>
                    </a:p>
                  </a:txBody>
                  <a:tcPr/>
                </a:tc>
              </a:tr>
              <a:tr h="370840">
                <a:tc>
                  <a:txBody>
                    <a:bodyPr/>
                    <a:lstStyle/>
                    <a:p>
                      <a:r>
                        <a:rPr lang="en-IN" dirty="0" smtClean="0"/>
                        <a:t>10</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1" kern="1200" dirty="0" smtClean="0">
                          <a:solidFill>
                            <a:schemeClr val="dk1"/>
                          </a:solidFill>
                          <a:latin typeface="+mn-lt"/>
                          <a:ea typeface="+mn-ea"/>
                          <a:cs typeface="+mn-cs"/>
                        </a:rPr>
                        <a:t>set(s)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s to a set.</a:t>
                      </a:r>
                    </a:p>
                  </a:txBody>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Data Type </a:t>
            </a:r>
            <a:r>
              <a:rPr lang="en-IN" dirty="0" smtClean="0"/>
              <a:t>Conversion</a:t>
            </a:r>
            <a:endParaRPr lang="en-IN" dirty="0"/>
          </a:p>
        </p:txBody>
      </p:sp>
      <p:graphicFrame>
        <p:nvGraphicFramePr>
          <p:cNvPr id="5" name="Content Placeholder 4"/>
          <p:cNvGraphicFramePr>
            <a:graphicFrameLocks noGrp="1"/>
          </p:cNvGraphicFramePr>
          <p:nvPr>
            <p:ph idx="1"/>
          </p:nvPr>
        </p:nvGraphicFramePr>
        <p:xfrm>
          <a:off x="457200" y="1071563"/>
          <a:ext cx="8229600" cy="3235960"/>
        </p:xfrm>
        <a:graphic>
          <a:graphicData uri="http://schemas.openxmlformats.org/drawingml/2006/table">
            <a:tbl>
              <a:tblPr firstRow="1" bandRow="1">
                <a:tableStyleId>{5C22544A-7EE6-4342-B048-85BDC9FD1C3A}</a:tableStyleId>
              </a:tblPr>
              <a:tblGrid>
                <a:gridCol w="900090"/>
                <a:gridCol w="2286016"/>
                <a:gridCol w="5043494"/>
              </a:tblGrid>
              <a:tr h="370840">
                <a:tc>
                  <a:txBody>
                    <a:bodyPr/>
                    <a:lstStyle/>
                    <a:p>
                      <a:r>
                        <a:rPr lang="en-IN" dirty="0" smtClean="0"/>
                        <a:t>Sl. No.</a:t>
                      </a:r>
                      <a:endParaRPr lang="en-IN" dirty="0"/>
                    </a:p>
                  </a:txBody>
                  <a:tcPr/>
                </a:tc>
                <a:tc>
                  <a:txBody>
                    <a:bodyPr/>
                    <a:lstStyle/>
                    <a:p>
                      <a:r>
                        <a:rPr lang="en-IN" dirty="0" smtClean="0"/>
                        <a:t>Function</a:t>
                      </a:r>
                      <a:endParaRPr lang="en-IN" dirty="0"/>
                    </a:p>
                  </a:txBody>
                  <a:tcPr/>
                </a:tc>
                <a:tc>
                  <a:txBody>
                    <a:bodyPr/>
                    <a:lstStyle/>
                    <a:p>
                      <a:r>
                        <a:rPr lang="en-IN" dirty="0" smtClean="0"/>
                        <a:t>Description</a:t>
                      </a:r>
                      <a:endParaRPr lang="en-IN" dirty="0"/>
                    </a:p>
                  </a:txBody>
                  <a:tcPr/>
                </a:tc>
              </a:tr>
              <a:tr h="370840">
                <a:tc>
                  <a:txBody>
                    <a:bodyPr/>
                    <a:lstStyle/>
                    <a:p>
                      <a:r>
                        <a:rPr lang="en-IN" dirty="0" smtClean="0"/>
                        <a:t>11</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1" kern="1200" dirty="0" err="1" smtClean="0">
                          <a:solidFill>
                            <a:schemeClr val="dk1"/>
                          </a:solidFill>
                          <a:latin typeface="+mn-lt"/>
                          <a:ea typeface="+mn-ea"/>
                          <a:cs typeface="+mn-cs"/>
                        </a:rPr>
                        <a:t>dict</a:t>
                      </a:r>
                      <a:r>
                        <a:rPr lang="en-IN" sz="1800" b="1" kern="1200" dirty="0" smtClean="0">
                          <a:solidFill>
                            <a:schemeClr val="dk1"/>
                          </a:solidFill>
                          <a:latin typeface="+mn-lt"/>
                          <a:ea typeface="+mn-ea"/>
                          <a:cs typeface="+mn-cs"/>
                        </a:rPr>
                        <a:t>(d)</a:t>
                      </a:r>
                    </a:p>
                    <a:p>
                      <a:pPr marL="0" marR="0" indent="0" algn="l" defTabSz="914400" rtl="0" eaLnBrk="1" fontAlgn="auto" latinLnBrk="0" hangingPunct="1">
                        <a:lnSpc>
                          <a:spcPct val="100000"/>
                        </a:lnSpc>
                        <a:spcBef>
                          <a:spcPts val="0"/>
                        </a:spcBef>
                        <a:spcAft>
                          <a:spcPts val="0"/>
                        </a:spcAft>
                        <a:buClrTx/>
                        <a:buSzTx/>
                        <a:buFontTx/>
                        <a:buNone/>
                        <a:tabLst/>
                        <a:defRPr/>
                      </a:pPr>
                      <a:endParaRPr lang="en-IN" sz="1800" b="1" kern="1200" dirty="0" smtClean="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Creates a dictionary. d must be a sequence of (</a:t>
                      </a:r>
                      <a:r>
                        <a:rPr lang="en-IN" sz="1800" kern="1200" dirty="0" err="1" smtClean="0">
                          <a:solidFill>
                            <a:schemeClr val="dk1"/>
                          </a:solidFill>
                          <a:latin typeface="+mn-lt"/>
                          <a:ea typeface="+mn-ea"/>
                          <a:cs typeface="+mn-cs"/>
                        </a:rPr>
                        <a:t>key,value</a:t>
                      </a:r>
                      <a:r>
                        <a:rPr lang="en-IN" sz="1800" kern="1200" dirty="0" smtClean="0">
                          <a:solidFill>
                            <a:schemeClr val="dk1"/>
                          </a:solidFill>
                          <a:latin typeface="+mn-lt"/>
                          <a:ea typeface="+mn-ea"/>
                          <a:cs typeface="+mn-cs"/>
                        </a:rPr>
                        <a:t>) </a:t>
                      </a:r>
                      <a:r>
                        <a:rPr lang="en-IN" sz="1800" kern="1200" dirty="0" err="1" smtClean="0">
                          <a:solidFill>
                            <a:schemeClr val="dk1"/>
                          </a:solidFill>
                          <a:latin typeface="+mn-lt"/>
                          <a:ea typeface="+mn-ea"/>
                          <a:cs typeface="+mn-cs"/>
                        </a:rPr>
                        <a:t>tuples</a:t>
                      </a:r>
                      <a:r>
                        <a:rPr lang="en-IN" sz="1800" kern="1200" dirty="0" smtClean="0">
                          <a:solidFill>
                            <a:schemeClr val="dk1"/>
                          </a:solidFill>
                          <a:latin typeface="+mn-lt"/>
                          <a:ea typeface="+mn-ea"/>
                          <a:cs typeface="+mn-cs"/>
                        </a:rPr>
                        <a:t>.</a:t>
                      </a:r>
                    </a:p>
                  </a:txBody>
                  <a:tcPr/>
                </a:tc>
              </a:tr>
              <a:tr h="370840">
                <a:tc>
                  <a:txBody>
                    <a:bodyPr/>
                    <a:lstStyle/>
                    <a:p>
                      <a:r>
                        <a:rPr lang="en-IN" dirty="0" smtClean="0"/>
                        <a:t>12</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1" kern="1200" dirty="0" err="1" smtClean="0">
                          <a:solidFill>
                            <a:schemeClr val="dk1"/>
                          </a:solidFill>
                          <a:latin typeface="+mn-lt"/>
                          <a:ea typeface="+mn-ea"/>
                          <a:cs typeface="+mn-cs"/>
                        </a:rPr>
                        <a:t>frozenset</a:t>
                      </a:r>
                      <a:r>
                        <a:rPr lang="en-IN" sz="1800" b="1" kern="1200" dirty="0" smtClean="0">
                          <a:solidFill>
                            <a:schemeClr val="dk1"/>
                          </a:solidFill>
                          <a:latin typeface="+mn-lt"/>
                          <a:ea typeface="+mn-ea"/>
                          <a:cs typeface="+mn-cs"/>
                        </a:rPr>
                        <a:t>(s)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s to a frozen set.</a:t>
                      </a:r>
                    </a:p>
                  </a:txBody>
                  <a:tcPr/>
                </a:tc>
              </a:tr>
              <a:tr h="370840">
                <a:tc>
                  <a:txBody>
                    <a:bodyPr/>
                    <a:lstStyle/>
                    <a:p>
                      <a:r>
                        <a:rPr lang="en-IN" dirty="0" smtClean="0"/>
                        <a:t>13</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1" kern="1200" dirty="0" err="1" smtClean="0">
                          <a:solidFill>
                            <a:schemeClr val="dk1"/>
                          </a:solidFill>
                          <a:latin typeface="+mn-lt"/>
                          <a:ea typeface="+mn-ea"/>
                          <a:cs typeface="+mn-cs"/>
                        </a:rPr>
                        <a:t>chr</a:t>
                      </a:r>
                      <a:r>
                        <a:rPr lang="en-IN" sz="1800" b="1" kern="1200" dirty="0" smtClean="0">
                          <a:solidFill>
                            <a:schemeClr val="dk1"/>
                          </a:solidFill>
                          <a:latin typeface="+mn-lt"/>
                          <a:ea typeface="+mn-ea"/>
                          <a:cs typeface="+mn-cs"/>
                        </a:rPr>
                        <a:t>(x)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an integer to a character.</a:t>
                      </a:r>
                    </a:p>
                  </a:txBody>
                  <a:tcPr/>
                </a:tc>
              </a:tr>
              <a:tr h="370840">
                <a:tc>
                  <a:txBody>
                    <a:bodyPr/>
                    <a:lstStyle/>
                    <a:p>
                      <a:r>
                        <a:rPr lang="en-IN" dirty="0" smtClean="0"/>
                        <a:t>14</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1" kern="1200" dirty="0" err="1" smtClean="0">
                          <a:solidFill>
                            <a:schemeClr val="dk1"/>
                          </a:solidFill>
                          <a:latin typeface="+mn-lt"/>
                          <a:ea typeface="+mn-ea"/>
                          <a:cs typeface="+mn-cs"/>
                        </a:rPr>
                        <a:t>unichr</a:t>
                      </a:r>
                      <a:r>
                        <a:rPr lang="en-IN" sz="1800" b="1" kern="1200" dirty="0" smtClean="0">
                          <a:solidFill>
                            <a:schemeClr val="dk1"/>
                          </a:solidFill>
                          <a:latin typeface="+mn-lt"/>
                          <a:ea typeface="+mn-ea"/>
                          <a:cs typeface="+mn-cs"/>
                        </a:rPr>
                        <a:t>(x)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an integer to a Unicode character.</a:t>
                      </a:r>
                    </a:p>
                  </a:txBody>
                  <a:tcPr/>
                </a:tc>
              </a:tr>
              <a:tr h="370840">
                <a:tc>
                  <a:txBody>
                    <a:bodyPr/>
                    <a:lstStyle/>
                    <a:p>
                      <a:r>
                        <a:rPr lang="en-IN" dirty="0" smtClean="0"/>
                        <a:t>15</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1" kern="1200" dirty="0" err="1" smtClean="0">
                          <a:solidFill>
                            <a:schemeClr val="dk1"/>
                          </a:solidFill>
                          <a:latin typeface="+mn-lt"/>
                          <a:ea typeface="+mn-ea"/>
                          <a:cs typeface="+mn-cs"/>
                        </a:rPr>
                        <a:t>ord</a:t>
                      </a:r>
                      <a:r>
                        <a:rPr lang="en-IN" sz="1800" b="1" kern="1200" dirty="0" smtClean="0">
                          <a:solidFill>
                            <a:schemeClr val="dk1"/>
                          </a:solidFill>
                          <a:latin typeface="+mn-lt"/>
                          <a:ea typeface="+mn-ea"/>
                          <a:cs typeface="+mn-cs"/>
                        </a:rPr>
                        <a:t>(x)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a single character to its integer value.</a:t>
                      </a:r>
                    </a:p>
                  </a:txBody>
                  <a:tcPr/>
                </a:tc>
              </a:tr>
              <a:tr h="370840">
                <a:tc>
                  <a:txBody>
                    <a:bodyPr/>
                    <a:lstStyle/>
                    <a:p>
                      <a:r>
                        <a:rPr lang="en-IN" dirty="0" smtClean="0"/>
                        <a:t>16</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1" kern="1200" dirty="0" smtClean="0">
                          <a:solidFill>
                            <a:schemeClr val="dk1"/>
                          </a:solidFill>
                          <a:latin typeface="+mn-lt"/>
                          <a:ea typeface="+mn-ea"/>
                          <a:cs typeface="+mn-cs"/>
                        </a:rPr>
                        <a:t>hex(x)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an integer to a hexadecimal string.</a:t>
                      </a:r>
                    </a:p>
                  </a:txBody>
                  <a:tcPr/>
                </a:tc>
              </a:tr>
              <a:tr h="370840">
                <a:tc>
                  <a:txBody>
                    <a:bodyPr/>
                    <a:lstStyle/>
                    <a:p>
                      <a:r>
                        <a:rPr lang="en-IN" dirty="0" smtClean="0"/>
                        <a:t>17</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1" kern="1200" dirty="0" err="1" smtClean="0">
                          <a:solidFill>
                            <a:schemeClr val="dk1"/>
                          </a:solidFill>
                          <a:latin typeface="+mn-lt"/>
                          <a:ea typeface="+mn-ea"/>
                          <a:cs typeface="+mn-cs"/>
                        </a:rPr>
                        <a:t>oct</a:t>
                      </a:r>
                      <a:r>
                        <a:rPr lang="en-IN" sz="1800" b="1" kern="1200" dirty="0" smtClean="0">
                          <a:solidFill>
                            <a:schemeClr val="dk1"/>
                          </a:solidFill>
                          <a:latin typeface="+mn-lt"/>
                          <a:ea typeface="+mn-ea"/>
                          <a:cs typeface="+mn-cs"/>
                        </a:rPr>
                        <a:t>(x)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Converts an integer to an octal string.</a:t>
                      </a:r>
                    </a:p>
                  </a:txBody>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Operators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pPr>
              <a:buNone/>
            </a:pPr>
            <a:r>
              <a:rPr lang="en-IN" dirty="0"/>
              <a:t>Python language supports the following types of operators</a:t>
            </a:r>
            <a:r>
              <a:rPr lang="en-IN" dirty="0" smtClean="0"/>
              <a:t>.</a:t>
            </a:r>
          </a:p>
          <a:p>
            <a:pPr lvl="1"/>
            <a:r>
              <a:rPr lang="en-IN" dirty="0"/>
              <a:t>Arithmetic Operators</a:t>
            </a:r>
          </a:p>
          <a:p>
            <a:pPr lvl="1"/>
            <a:r>
              <a:rPr lang="en-IN" dirty="0"/>
              <a:t>Comparison (Relational) Operators</a:t>
            </a:r>
          </a:p>
          <a:p>
            <a:pPr lvl="1"/>
            <a:r>
              <a:rPr lang="en-IN" dirty="0"/>
              <a:t>Assignment Operators</a:t>
            </a:r>
          </a:p>
          <a:p>
            <a:pPr lvl="1"/>
            <a:r>
              <a:rPr lang="en-IN" dirty="0"/>
              <a:t>Logical Operators</a:t>
            </a:r>
          </a:p>
          <a:p>
            <a:pPr lvl="1"/>
            <a:r>
              <a:rPr lang="en-IN" dirty="0"/>
              <a:t>Bitwise Operators</a:t>
            </a:r>
          </a:p>
          <a:p>
            <a:pPr lvl="1"/>
            <a:r>
              <a:rPr lang="en-IN" dirty="0"/>
              <a:t>Membership Operators</a:t>
            </a:r>
          </a:p>
          <a:p>
            <a:pPr lvl="1"/>
            <a:r>
              <a:rPr lang="en-IN" dirty="0"/>
              <a:t>Identity Operators</a:t>
            </a:r>
          </a:p>
          <a:p>
            <a:pPr>
              <a:buNone/>
            </a:pPr>
            <a:endParaRPr lang="en-IN"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Arithmetic Operators</a:t>
            </a:r>
            <a:br>
              <a:rPr lang="en-IN" dirty="0" smtClean="0"/>
            </a:br>
            <a:r>
              <a:rPr lang="en-IN" sz="2200" dirty="0"/>
              <a:t> Assume variable a holds 10 and variable b holds 20, </a:t>
            </a:r>
            <a:r>
              <a:rPr lang="en-IN" sz="2200" dirty="0" smtClean="0"/>
              <a:t>then</a:t>
            </a:r>
            <a:endParaRPr lang="en-IN" sz="2200" dirty="0"/>
          </a:p>
        </p:txBody>
      </p:sp>
      <p:graphicFrame>
        <p:nvGraphicFramePr>
          <p:cNvPr id="4" name="Content Placeholder 3"/>
          <p:cNvGraphicFramePr>
            <a:graphicFrameLocks noGrp="1"/>
          </p:cNvGraphicFramePr>
          <p:nvPr>
            <p:ph idx="1"/>
          </p:nvPr>
        </p:nvGraphicFramePr>
        <p:xfrm>
          <a:off x="428596" y="1071546"/>
          <a:ext cx="8229600" cy="5379720"/>
        </p:xfrm>
        <a:graphic>
          <a:graphicData uri="http://schemas.openxmlformats.org/drawingml/2006/table">
            <a:tbl>
              <a:tblPr firstRow="1" bandRow="1">
                <a:tableStyleId>{5C22544A-7EE6-4342-B048-85BDC9FD1C3A}</a:tableStyleId>
              </a:tblPr>
              <a:tblGrid>
                <a:gridCol w="1828784"/>
                <a:gridCol w="4572032"/>
                <a:gridCol w="1828784"/>
              </a:tblGrid>
              <a:tr h="370840">
                <a:tc>
                  <a:txBody>
                    <a:bodyPr/>
                    <a:lstStyle/>
                    <a:p>
                      <a:pPr algn="ctr" fontAlgn="t"/>
                      <a:r>
                        <a:rPr lang="en-IN" dirty="0"/>
                        <a:t>Operator</a:t>
                      </a:r>
                    </a:p>
                  </a:txBody>
                  <a:tcPr marL="76200" marR="76200" marT="76200" marB="76200"/>
                </a:tc>
                <a:tc>
                  <a:txBody>
                    <a:bodyPr/>
                    <a:lstStyle/>
                    <a:p>
                      <a:pPr algn="ctr" fontAlgn="t"/>
                      <a:r>
                        <a:rPr lang="en-IN" dirty="0"/>
                        <a:t>Description</a:t>
                      </a:r>
                    </a:p>
                  </a:txBody>
                  <a:tcPr marL="76200" marR="76200" marT="76200" marB="76200"/>
                </a:tc>
                <a:tc>
                  <a:txBody>
                    <a:bodyPr/>
                    <a:lstStyle/>
                    <a:p>
                      <a:pPr algn="ctr" fontAlgn="t"/>
                      <a:r>
                        <a:rPr lang="en-IN" dirty="0"/>
                        <a:t>Example</a:t>
                      </a:r>
                    </a:p>
                  </a:txBody>
                  <a:tcPr marL="76200" marR="76200" marT="76200" marB="76200"/>
                </a:tc>
              </a:tr>
              <a:tr h="370840">
                <a:tc>
                  <a:txBody>
                    <a:bodyPr/>
                    <a:lstStyle/>
                    <a:p>
                      <a:pPr algn="ctr" fontAlgn="t"/>
                      <a:r>
                        <a:rPr lang="en-IN" sz="1700" dirty="0"/>
                        <a:t>+ Addition</a:t>
                      </a:r>
                    </a:p>
                  </a:txBody>
                  <a:tcPr marL="76200" marR="76200" marT="76200" marB="76200"/>
                </a:tc>
                <a:tc>
                  <a:txBody>
                    <a:bodyPr/>
                    <a:lstStyle/>
                    <a:p>
                      <a:pPr fontAlgn="t"/>
                      <a:r>
                        <a:rPr lang="en-IN" sz="1700"/>
                        <a:t>Adds values on either side of the operator.</a:t>
                      </a:r>
                    </a:p>
                  </a:txBody>
                  <a:tcPr marL="76200" marR="76200" marT="76200" marB="76200"/>
                </a:tc>
                <a:tc>
                  <a:txBody>
                    <a:bodyPr/>
                    <a:lstStyle/>
                    <a:p>
                      <a:pPr algn="ctr" fontAlgn="t"/>
                      <a:r>
                        <a:rPr lang="en-IN" sz="1700"/>
                        <a:t>a + b = 30</a:t>
                      </a:r>
                    </a:p>
                  </a:txBody>
                  <a:tcPr marL="76200" marR="76200" marT="76200" marB="76200"/>
                </a:tc>
              </a:tr>
              <a:tr h="370840">
                <a:tc>
                  <a:txBody>
                    <a:bodyPr/>
                    <a:lstStyle/>
                    <a:p>
                      <a:pPr algn="ctr" fontAlgn="t"/>
                      <a:r>
                        <a:rPr lang="en-IN" sz="1700"/>
                        <a:t>- Subtraction</a:t>
                      </a:r>
                    </a:p>
                  </a:txBody>
                  <a:tcPr marL="76200" marR="76200" marT="76200" marB="76200"/>
                </a:tc>
                <a:tc>
                  <a:txBody>
                    <a:bodyPr/>
                    <a:lstStyle/>
                    <a:p>
                      <a:pPr fontAlgn="t"/>
                      <a:r>
                        <a:rPr lang="en-IN" sz="1700"/>
                        <a:t>Subtracts right hand operand from left hand operand.</a:t>
                      </a:r>
                    </a:p>
                  </a:txBody>
                  <a:tcPr marL="76200" marR="76200" marT="76200" marB="76200"/>
                </a:tc>
                <a:tc>
                  <a:txBody>
                    <a:bodyPr/>
                    <a:lstStyle/>
                    <a:p>
                      <a:pPr algn="ctr" fontAlgn="t"/>
                      <a:r>
                        <a:rPr lang="en-IN" sz="1700" dirty="0"/>
                        <a:t>a – b = -10</a:t>
                      </a:r>
                    </a:p>
                  </a:txBody>
                  <a:tcPr marL="76200" marR="76200" marT="76200" marB="76200"/>
                </a:tc>
              </a:tr>
              <a:tr h="370840">
                <a:tc>
                  <a:txBody>
                    <a:bodyPr/>
                    <a:lstStyle/>
                    <a:p>
                      <a:pPr algn="ctr" fontAlgn="t"/>
                      <a:r>
                        <a:rPr lang="en-IN" sz="1700"/>
                        <a:t>* Multiplication</a:t>
                      </a:r>
                    </a:p>
                  </a:txBody>
                  <a:tcPr marL="76200" marR="76200" marT="76200" marB="76200"/>
                </a:tc>
                <a:tc>
                  <a:txBody>
                    <a:bodyPr/>
                    <a:lstStyle/>
                    <a:p>
                      <a:pPr fontAlgn="t"/>
                      <a:r>
                        <a:rPr lang="en-IN" sz="1700"/>
                        <a:t>Multiplies values on either side of the operator</a:t>
                      </a:r>
                    </a:p>
                  </a:txBody>
                  <a:tcPr marL="76200" marR="76200" marT="76200" marB="76200"/>
                </a:tc>
                <a:tc>
                  <a:txBody>
                    <a:bodyPr/>
                    <a:lstStyle/>
                    <a:p>
                      <a:pPr algn="ctr" fontAlgn="t"/>
                      <a:r>
                        <a:rPr lang="en-IN" sz="1700"/>
                        <a:t>a * b = 200</a:t>
                      </a:r>
                    </a:p>
                  </a:txBody>
                  <a:tcPr marL="76200" marR="76200" marT="76200" marB="76200"/>
                </a:tc>
              </a:tr>
              <a:tr h="370840">
                <a:tc>
                  <a:txBody>
                    <a:bodyPr/>
                    <a:lstStyle/>
                    <a:p>
                      <a:pPr algn="ctr" fontAlgn="t"/>
                      <a:r>
                        <a:rPr lang="en-IN" sz="1700"/>
                        <a:t>/ Division</a:t>
                      </a:r>
                    </a:p>
                  </a:txBody>
                  <a:tcPr marL="76200" marR="76200" marT="76200" marB="76200"/>
                </a:tc>
                <a:tc>
                  <a:txBody>
                    <a:bodyPr/>
                    <a:lstStyle/>
                    <a:p>
                      <a:pPr fontAlgn="t"/>
                      <a:r>
                        <a:rPr lang="en-IN" sz="1700"/>
                        <a:t>Divides left hand operand by right hand operand</a:t>
                      </a:r>
                    </a:p>
                  </a:txBody>
                  <a:tcPr marL="76200" marR="76200" marT="76200" marB="76200"/>
                </a:tc>
                <a:tc>
                  <a:txBody>
                    <a:bodyPr/>
                    <a:lstStyle/>
                    <a:p>
                      <a:pPr algn="ctr" fontAlgn="t"/>
                      <a:r>
                        <a:rPr lang="en-IN" sz="1700"/>
                        <a:t>b / a = 2</a:t>
                      </a:r>
                    </a:p>
                  </a:txBody>
                  <a:tcPr marL="76200" marR="76200" marT="76200" marB="76200"/>
                </a:tc>
              </a:tr>
              <a:tr h="370840">
                <a:tc>
                  <a:txBody>
                    <a:bodyPr/>
                    <a:lstStyle/>
                    <a:p>
                      <a:pPr algn="ctr" fontAlgn="t"/>
                      <a:r>
                        <a:rPr lang="en-IN" sz="1700"/>
                        <a:t>% Modulus</a:t>
                      </a:r>
                    </a:p>
                  </a:txBody>
                  <a:tcPr marL="76200" marR="76200" marT="76200" marB="76200"/>
                </a:tc>
                <a:tc>
                  <a:txBody>
                    <a:bodyPr/>
                    <a:lstStyle/>
                    <a:p>
                      <a:pPr fontAlgn="t"/>
                      <a:r>
                        <a:rPr lang="en-IN" sz="1700"/>
                        <a:t>Divides left hand operand by right hand operand and returns remainder</a:t>
                      </a:r>
                    </a:p>
                  </a:txBody>
                  <a:tcPr marL="76200" marR="76200" marT="76200" marB="76200"/>
                </a:tc>
                <a:tc>
                  <a:txBody>
                    <a:bodyPr/>
                    <a:lstStyle/>
                    <a:p>
                      <a:pPr algn="ctr" fontAlgn="t"/>
                      <a:r>
                        <a:rPr lang="en-IN" sz="1700" dirty="0"/>
                        <a:t>b % a = 0</a:t>
                      </a:r>
                    </a:p>
                  </a:txBody>
                  <a:tcPr marL="76200" marR="76200" marT="76200" marB="76200"/>
                </a:tc>
              </a:tr>
              <a:tr h="370840">
                <a:tc>
                  <a:txBody>
                    <a:bodyPr/>
                    <a:lstStyle/>
                    <a:p>
                      <a:pPr algn="ctr" fontAlgn="t"/>
                      <a:r>
                        <a:rPr lang="en-IN" sz="1700" dirty="0"/>
                        <a:t>** Exponent</a:t>
                      </a:r>
                    </a:p>
                  </a:txBody>
                  <a:tcPr marL="76200" marR="76200" marT="76200" marB="76200"/>
                </a:tc>
                <a:tc>
                  <a:txBody>
                    <a:bodyPr/>
                    <a:lstStyle/>
                    <a:p>
                      <a:pPr fontAlgn="t"/>
                      <a:r>
                        <a:rPr lang="en-IN" sz="1700"/>
                        <a:t>Performs exponential (power) calculation on operators</a:t>
                      </a:r>
                    </a:p>
                  </a:txBody>
                  <a:tcPr marL="76200" marR="76200" marT="76200" marB="76200"/>
                </a:tc>
                <a:tc>
                  <a:txBody>
                    <a:bodyPr/>
                    <a:lstStyle/>
                    <a:p>
                      <a:pPr algn="ctr" fontAlgn="t"/>
                      <a:r>
                        <a:rPr lang="en-IN" sz="1700"/>
                        <a:t>a**b =10 to the power 20</a:t>
                      </a:r>
                    </a:p>
                  </a:txBody>
                  <a:tcPr marL="76200" marR="76200" marT="76200" marB="76200"/>
                </a:tc>
              </a:tr>
              <a:tr h="370840">
                <a:tc>
                  <a:txBody>
                    <a:bodyPr/>
                    <a:lstStyle/>
                    <a:p>
                      <a:pPr algn="ctr" fontAlgn="t"/>
                      <a:r>
                        <a:rPr lang="en-IN" sz="1700" dirty="0"/>
                        <a:t>//</a:t>
                      </a:r>
                    </a:p>
                  </a:txBody>
                  <a:tcPr marL="76200" marR="76200" marT="76200" marB="76200"/>
                </a:tc>
                <a:tc>
                  <a:txBody>
                    <a:bodyPr/>
                    <a:lstStyle/>
                    <a:p>
                      <a:pPr fontAlgn="t"/>
                      <a:r>
                        <a:rPr lang="en-IN" sz="1700" dirty="0"/>
                        <a:t>Floor Division - The division of operands where the result is the quotient in which the digits after the decimal point are removed. But if one of the operands is negative, the result is floored, i.e., rounded away from zero (towards negative infinity) −</a:t>
                      </a:r>
                    </a:p>
                  </a:txBody>
                  <a:tcPr marL="76200" marR="76200" marT="76200" marB="76200"/>
                </a:tc>
                <a:tc>
                  <a:txBody>
                    <a:bodyPr/>
                    <a:lstStyle/>
                    <a:p>
                      <a:pPr algn="ctr" fontAlgn="t"/>
                      <a:r>
                        <a:rPr lang="en-IN" sz="1700" dirty="0"/>
                        <a:t>9//2 = 4 and 9.0//2.0 = 4.0, -11//3 = -4, -11.0//3 = -4.0</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Comparison </a:t>
            </a:r>
            <a:r>
              <a:rPr lang="en-IN" dirty="0" smtClean="0"/>
              <a:t>Operators</a:t>
            </a:r>
            <a:br>
              <a:rPr lang="en-IN" dirty="0" smtClean="0"/>
            </a:br>
            <a:r>
              <a:rPr lang="en-IN" sz="2200" dirty="0" smtClean="0"/>
              <a:t>Assume variable a holds 10 and variable b holds 20, then</a:t>
            </a:r>
            <a:endParaRPr lang="en-IN" sz="2200" dirty="0"/>
          </a:p>
        </p:txBody>
      </p:sp>
      <p:sp>
        <p:nvSpPr>
          <p:cNvPr id="3" name="Content Placeholder 2"/>
          <p:cNvSpPr>
            <a:spLocks noGrp="1"/>
          </p:cNvSpPr>
          <p:nvPr>
            <p:ph idx="1"/>
          </p:nvPr>
        </p:nvSpPr>
        <p:spPr>
          <a:xfrm>
            <a:off x="457200" y="1071546"/>
            <a:ext cx="8229600" cy="5643602"/>
          </a:xfrm>
        </p:spPr>
        <p:txBody>
          <a:bodyPr>
            <a:normAutofit/>
          </a:bodyPr>
          <a:lstStyle/>
          <a:p>
            <a:pPr>
              <a:buNone/>
            </a:pPr>
            <a:endParaRPr lang="en-IN" dirty="0"/>
          </a:p>
        </p:txBody>
      </p:sp>
      <p:graphicFrame>
        <p:nvGraphicFramePr>
          <p:cNvPr id="4" name="Table 3"/>
          <p:cNvGraphicFramePr>
            <a:graphicFrameLocks noGrp="1"/>
          </p:cNvGraphicFramePr>
          <p:nvPr/>
        </p:nvGraphicFramePr>
        <p:xfrm>
          <a:off x="0" y="1071546"/>
          <a:ext cx="9144000" cy="6156960"/>
        </p:xfrm>
        <a:graphic>
          <a:graphicData uri="http://schemas.openxmlformats.org/drawingml/2006/table">
            <a:tbl>
              <a:tblPr firstRow="1" bandRow="1">
                <a:tableStyleId>{5C22544A-7EE6-4342-B048-85BDC9FD1C3A}</a:tableStyleId>
              </a:tblPr>
              <a:tblGrid>
                <a:gridCol w="1613647"/>
                <a:gridCol w="4661647"/>
                <a:gridCol w="2868706"/>
              </a:tblGrid>
              <a:tr h="401964">
                <a:tc>
                  <a:txBody>
                    <a:bodyPr/>
                    <a:lstStyle/>
                    <a:p>
                      <a:pPr algn="ctr" fontAlgn="t"/>
                      <a:r>
                        <a:rPr lang="en-IN" dirty="0"/>
                        <a:t>Operator</a:t>
                      </a:r>
                    </a:p>
                  </a:txBody>
                  <a:tcPr marL="76200" marR="76200" marT="76200" marB="76200"/>
                </a:tc>
                <a:tc>
                  <a:txBody>
                    <a:bodyPr/>
                    <a:lstStyle/>
                    <a:p>
                      <a:pPr algn="ctr" fontAlgn="t"/>
                      <a:r>
                        <a:rPr lang="en-IN"/>
                        <a:t>Description</a:t>
                      </a:r>
                    </a:p>
                  </a:txBody>
                  <a:tcPr marL="76200" marR="76200" marT="76200" marB="76200"/>
                </a:tc>
                <a:tc>
                  <a:txBody>
                    <a:bodyPr/>
                    <a:lstStyle/>
                    <a:p>
                      <a:pPr algn="ctr" fontAlgn="t"/>
                      <a:r>
                        <a:rPr lang="en-IN" dirty="0"/>
                        <a:t>Example</a:t>
                      </a:r>
                    </a:p>
                  </a:txBody>
                  <a:tcPr marL="76200" marR="76200" marT="76200" marB="76200"/>
                </a:tc>
              </a:tr>
              <a:tr h="660370">
                <a:tc>
                  <a:txBody>
                    <a:bodyPr/>
                    <a:lstStyle/>
                    <a:p>
                      <a:pPr algn="ctr" fontAlgn="t"/>
                      <a:r>
                        <a:rPr lang="en-IN" dirty="0"/>
                        <a:t>==</a:t>
                      </a:r>
                    </a:p>
                  </a:txBody>
                  <a:tcPr marL="76200" marR="76200" marT="76200" marB="76200"/>
                </a:tc>
                <a:tc>
                  <a:txBody>
                    <a:bodyPr/>
                    <a:lstStyle/>
                    <a:p>
                      <a:pPr fontAlgn="t"/>
                      <a:r>
                        <a:rPr lang="en-IN"/>
                        <a:t>If the values of two operands are equal, then the condition becomes true.</a:t>
                      </a:r>
                    </a:p>
                  </a:txBody>
                  <a:tcPr marL="76200" marR="76200" marT="76200" marB="76200"/>
                </a:tc>
                <a:tc>
                  <a:txBody>
                    <a:bodyPr/>
                    <a:lstStyle/>
                    <a:p>
                      <a:pPr algn="ctr" fontAlgn="t"/>
                      <a:r>
                        <a:rPr lang="en-IN" dirty="0"/>
                        <a:t>(a == b) is not true.</a:t>
                      </a:r>
                    </a:p>
                  </a:txBody>
                  <a:tcPr marL="76200" marR="76200" marT="76200" marB="76200"/>
                </a:tc>
              </a:tr>
              <a:tr h="660370">
                <a:tc>
                  <a:txBody>
                    <a:bodyPr/>
                    <a:lstStyle/>
                    <a:p>
                      <a:pPr algn="ctr" fontAlgn="t"/>
                      <a:r>
                        <a:rPr lang="en-IN"/>
                        <a:t>!=</a:t>
                      </a:r>
                    </a:p>
                  </a:txBody>
                  <a:tcPr marL="76200" marR="76200" marT="76200" marB="76200"/>
                </a:tc>
                <a:tc>
                  <a:txBody>
                    <a:bodyPr/>
                    <a:lstStyle/>
                    <a:p>
                      <a:pPr fontAlgn="t"/>
                      <a:r>
                        <a:rPr lang="en-IN"/>
                        <a:t>If values of two operands are not equal, then condition becomes true.</a:t>
                      </a:r>
                    </a:p>
                  </a:txBody>
                  <a:tcPr marL="76200" marR="76200" marT="76200" marB="76200"/>
                </a:tc>
                <a:tc>
                  <a:txBody>
                    <a:bodyPr/>
                    <a:lstStyle/>
                    <a:p>
                      <a:pPr algn="ctr" fontAlgn="t"/>
                      <a:r>
                        <a:rPr lang="en-IN"/>
                        <a:t>(a != b) is true.</a:t>
                      </a:r>
                    </a:p>
                  </a:txBody>
                  <a:tcPr marL="76200" marR="76200" marT="76200" marB="76200"/>
                </a:tc>
              </a:tr>
              <a:tr h="660370">
                <a:tc>
                  <a:txBody>
                    <a:bodyPr/>
                    <a:lstStyle/>
                    <a:p>
                      <a:pPr algn="ctr" fontAlgn="t"/>
                      <a:r>
                        <a:rPr lang="en-IN"/>
                        <a:t>&lt;&gt;</a:t>
                      </a:r>
                    </a:p>
                  </a:txBody>
                  <a:tcPr marL="76200" marR="76200" marT="76200" marB="76200"/>
                </a:tc>
                <a:tc>
                  <a:txBody>
                    <a:bodyPr/>
                    <a:lstStyle/>
                    <a:p>
                      <a:pPr fontAlgn="t"/>
                      <a:r>
                        <a:rPr lang="en-IN"/>
                        <a:t>If values of two operands are not equal, then condition becomes true.</a:t>
                      </a:r>
                    </a:p>
                  </a:txBody>
                  <a:tcPr marL="76200" marR="76200" marT="76200" marB="76200"/>
                </a:tc>
                <a:tc>
                  <a:txBody>
                    <a:bodyPr/>
                    <a:lstStyle/>
                    <a:p>
                      <a:pPr algn="ctr" fontAlgn="t"/>
                      <a:r>
                        <a:rPr lang="en-IN"/>
                        <a:t>(a &lt;&gt; b) is true. This is similar to != operator.</a:t>
                      </a:r>
                    </a:p>
                  </a:txBody>
                  <a:tcPr marL="76200" marR="76200" marT="76200" marB="76200"/>
                </a:tc>
              </a:tr>
              <a:tr h="918775">
                <a:tc>
                  <a:txBody>
                    <a:bodyPr/>
                    <a:lstStyle/>
                    <a:p>
                      <a:pPr algn="ctr" fontAlgn="t"/>
                      <a:r>
                        <a:rPr lang="en-IN"/>
                        <a:t>&gt;</a:t>
                      </a:r>
                    </a:p>
                  </a:txBody>
                  <a:tcPr marL="76200" marR="76200" marT="76200" marB="76200"/>
                </a:tc>
                <a:tc>
                  <a:txBody>
                    <a:bodyPr/>
                    <a:lstStyle/>
                    <a:p>
                      <a:pPr fontAlgn="t"/>
                      <a:r>
                        <a:rPr lang="en-IN"/>
                        <a:t>If the value of left operand is greater than the value of right operand, then condition becomes true.</a:t>
                      </a:r>
                    </a:p>
                  </a:txBody>
                  <a:tcPr marL="76200" marR="76200" marT="76200" marB="76200"/>
                </a:tc>
                <a:tc>
                  <a:txBody>
                    <a:bodyPr/>
                    <a:lstStyle/>
                    <a:p>
                      <a:pPr algn="ctr" fontAlgn="t"/>
                      <a:r>
                        <a:rPr lang="en-IN"/>
                        <a:t>(a &gt; b) is not true.</a:t>
                      </a:r>
                    </a:p>
                  </a:txBody>
                  <a:tcPr marL="76200" marR="76200" marT="76200" marB="76200"/>
                </a:tc>
              </a:tr>
              <a:tr h="660370">
                <a:tc>
                  <a:txBody>
                    <a:bodyPr/>
                    <a:lstStyle/>
                    <a:p>
                      <a:pPr algn="ctr" fontAlgn="t"/>
                      <a:r>
                        <a:rPr lang="en-IN"/>
                        <a:t>&lt;</a:t>
                      </a:r>
                    </a:p>
                  </a:txBody>
                  <a:tcPr marL="76200" marR="76200" marT="76200" marB="76200"/>
                </a:tc>
                <a:tc>
                  <a:txBody>
                    <a:bodyPr/>
                    <a:lstStyle/>
                    <a:p>
                      <a:pPr fontAlgn="t"/>
                      <a:r>
                        <a:rPr lang="en-IN"/>
                        <a:t>If the value of left operand is less than the value of right operand, then condition becomes true.</a:t>
                      </a:r>
                    </a:p>
                  </a:txBody>
                  <a:tcPr marL="76200" marR="76200" marT="76200" marB="76200"/>
                </a:tc>
                <a:tc>
                  <a:txBody>
                    <a:bodyPr/>
                    <a:lstStyle/>
                    <a:p>
                      <a:pPr algn="ctr" fontAlgn="t"/>
                      <a:r>
                        <a:rPr lang="en-IN"/>
                        <a:t>(a &lt; b) is true.</a:t>
                      </a:r>
                    </a:p>
                  </a:txBody>
                  <a:tcPr marL="76200" marR="76200" marT="76200" marB="76200"/>
                </a:tc>
              </a:tr>
              <a:tr h="918775">
                <a:tc>
                  <a:txBody>
                    <a:bodyPr/>
                    <a:lstStyle/>
                    <a:p>
                      <a:pPr algn="ctr" fontAlgn="t"/>
                      <a:r>
                        <a:rPr lang="en-IN"/>
                        <a:t>&gt;=</a:t>
                      </a:r>
                    </a:p>
                  </a:txBody>
                  <a:tcPr marL="76200" marR="76200" marT="76200" marB="76200"/>
                </a:tc>
                <a:tc>
                  <a:txBody>
                    <a:bodyPr/>
                    <a:lstStyle/>
                    <a:p>
                      <a:pPr fontAlgn="t"/>
                      <a:r>
                        <a:rPr lang="en-IN"/>
                        <a:t>If the value of left operand is greater than or equal to the value of right operand, then condition becomes true.</a:t>
                      </a:r>
                    </a:p>
                  </a:txBody>
                  <a:tcPr marL="76200" marR="76200" marT="76200" marB="76200"/>
                </a:tc>
                <a:tc>
                  <a:txBody>
                    <a:bodyPr/>
                    <a:lstStyle/>
                    <a:p>
                      <a:pPr algn="ctr" fontAlgn="t"/>
                      <a:r>
                        <a:rPr lang="en-IN"/>
                        <a:t>(a &gt;= b) is not true.</a:t>
                      </a:r>
                    </a:p>
                  </a:txBody>
                  <a:tcPr marL="76200" marR="76200" marT="76200" marB="76200"/>
                </a:tc>
              </a:tr>
              <a:tr h="918775">
                <a:tc>
                  <a:txBody>
                    <a:bodyPr/>
                    <a:lstStyle/>
                    <a:p>
                      <a:pPr algn="ctr" fontAlgn="t"/>
                      <a:r>
                        <a:rPr lang="en-IN"/>
                        <a:t>&lt;=</a:t>
                      </a:r>
                    </a:p>
                  </a:txBody>
                  <a:tcPr marL="76200" marR="76200" marT="76200" marB="76200"/>
                </a:tc>
                <a:tc>
                  <a:txBody>
                    <a:bodyPr/>
                    <a:lstStyle/>
                    <a:p>
                      <a:pPr fontAlgn="t"/>
                      <a:r>
                        <a:rPr lang="en-IN" dirty="0"/>
                        <a:t>If the value of left operand is less than or equal to the value of right operand, then condition becomes true.</a:t>
                      </a:r>
                    </a:p>
                  </a:txBody>
                  <a:tcPr marL="76200" marR="76200" marT="76200" marB="76200"/>
                </a:tc>
                <a:tc>
                  <a:txBody>
                    <a:bodyPr/>
                    <a:lstStyle/>
                    <a:p>
                      <a:pPr algn="ctr" fontAlgn="t"/>
                      <a:r>
                        <a:rPr lang="en-IN" dirty="0"/>
                        <a:t>(a &lt;= b) is true.</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Assignment Operators</a:t>
            </a:r>
            <a:br>
              <a:rPr lang="en-IN" dirty="0"/>
            </a:br>
            <a:r>
              <a:rPr lang="en-IN" sz="2200" dirty="0"/>
              <a:t>Assume variable a holds 10 and variable b holds 20, then</a:t>
            </a:r>
          </a:p>
        </p:txBody>
      </p:sp>
      <p:graphicFrame>
        <p:nvGraphicFramePr>
          <p:cNvPr id="4" name="Content Placeholder 3"/>
          <p:cNvGraphicFramePr>
            <a:graphicFrameLocks noGrp="1"/>
          </p:cNvGraphicFramePr>
          <p:nvPr>
            <p:ph idx="1"/>
          </p:nvPr>
        </p:nvGraphicFramePr>
        <p:xfrm>
          <a:off x="0" y="1071563"/>
          <a:ext cx="9144000" cy="5547360"/>
        </p:xfrm>
        <a:graphic>
          <a:graphicData uri="http://schemas.openxmlformats.org/drawingml/2006/table">
            <a:tbl>
              <a:tblPr firstRow="1" bandRow="1">
                <a:tableStyleId>{5C22544A-7EE6-4342-B048-85BDC9FD1C3A}</a:tableStyleId>
              </a:tblPr>
              <a:tblGrid>
                <a:gridCol w="1928794"/>
                <a:gridCol w="4167206"/>
                <a:gridCol w="3048000"/>
              </a:tblGrid>
              <a:tr h="370840">
                <a:tc>
                  <a:txBody>
                    <a:bodyPr/>
                    <a:lstStyle/>
                    <a:p>
                      <a:pPr algn="ctr" fontAlgn="t"/>
                      <a:r>
                        <a:rPr lang="en-IN" dirty="0"/>
                        <a:t>Operator</a:t>
                      </a:r>
                    </a:p>
                  </a:txBody>
                  <a:tcPr marL="76200" marR="76200" marT="76200" marB="76200"/>
                </a:tc>
                <a:tc>
                  <a:txBody>
                    <a:bodyPr/>
                    <a:lstStyle/>
                    <a:p>
                      <a:pPr algn="ctr" fontAlgn="t"/>
                      <a:r>
                        <a:rPr lang="en-IN"/>
                        <a:t>Description</a:t>
                      </a:r>
                    </a:p>
                  </a:txBody>
                  <a:tcPr marL="76200" marR="76200" marT="76200" marB="76200"/>
                </a:tc>
                <a:tc>
                  <a:txBody>
                    <a:bodyPr/>
                    <a:lstStyle/>
                    <a:p>
                      <a:pPr algn="ctr" fontAlgn="t"/>
                      <a:r>
                        <a:rPr lang="en-IN"/>
                        <a:t>Example</a:t>
                      </a:r>
                    </a:p>
                  </a:txBody>
                  <a:tcPr marL="76200" marR="76200" marT="76200" marB="76200"/>
                </a:tc>
              </a:tr>
              <a:tr h="370840">
                <a:tc>
                  <a:txBody>
                    <a:bodyPr/>
                    <a:lstStyle/>
                    <a:p>
                      <a:pPr algn="ctr" fontAlgn="t"/>
                      <a:r>
                        <a:rPr lang="en-IN" sz="1600"/>
                        <a:t>=</a:t>
                      </a:r>
                    </a:p>
                  </a:txBody>
                  <a:tcPr marL="76200" marR="76200" marT="76200" marB="76200"/>
                </a:tc>
                <a:tc>
                  <a:txBody>
                    <a:bodyPr/>
                    <a:lstStyle/>
                    <a:p>
                      <a:pPr fontAlgn="t"/>
                      <a:r>
                        <a:rPr lang="en-IN" sz="1600"/>
                        <a:t>Assigns values from right side operands to left side operand</a:t>
                      </a:r>
                    </a:p>
                  </a:txBody>
                  <a:tcPr marL="76200" marR="76200" marT="76200" marB="76200"/>
                </a:tc>
                <a:tc>
                  <a:txBody>
                    <a:bodyPr/>
                    <a:lstStyle/>
                    <a:p>
                      <a:pPr fontAlgn="ctr"/>
                      <a:r>
                        <a:rPr lang="en-IN" sz="1600"/>
                        <a:t>c = a + b assigns value of a + b into c</a:t>
                      </a:r>
                    </a:p>
                  </a:txBody>
                  <a:tcPr marL="76200" marR="76200" marT="76200" marB="76200" anchor="ctr"/>
                </a:tc>
              </a:tr>
              <a:tr h="370840">
                <a:tc>
                  <a:txBody>
                    <a:bodyPr/>
                    <a:lstStyle/>
                    <a:p>
                      <a:pPr algn="ctr" fontAlgn="t"/>
                      <a:r>
                        <a:rPr lang="en-IN" sz="1600"/>
                        <a:t>+= Add AND</a:t>
                      </a:r>
                    </a:p>
                  </a:txBody>
                  <a:tcPr marL="76200" marR="76200" marT="76200" marB="76200"/>
                </a:tc>
                <a:tc>
                  <a:txBody>
                    <a:bodyPr/>
                    <a:lstStyle/>
                    <a:p>
                      <a:pPr fontAlgn="t"/>
                      <a:r>
                        <a:rPr lang="en-IN" sz="1600"/>
                        <a:t>It adds right operand to the left operand and assign the result to left operand</a:t>
                      </a:r>
                    </a:p>
                  </a:txBody>
                  <a:tcPr marL="76200" marR="76200" marT="76200" marB="76200"/>
                </a:tc>
                <a:tc>
                  <a:txBody>
                    <a:bodyPr/>
                    <a:lstStyle/>
                    <a:p>
                      <a:pPr fontAlgn="ctr"/>
                      <a:r>
                        <a:rPr lang="en-IN" sz="1600"/>
                        <a:t>c += a is equivalent to c = c + a</a:t>
                      </a:r>
                    </a:p>
                  </a:txBody>
                  <a:tcPr marL="76200" marR="76200" marT="76200" marB="76200" anchor="ctr"/>
                </a:tc>
              </a:tr>
              <a:tr h="370840">
                <a:tc>
                  <a:txBody>
                    <a:bodyPr/>
                    <a:lstStyle/>
                    <a:p>
                      <a:pPr algn="ctr" fontAlgn="t"/>
                      <a:r>
                        <a:rPr lang="en-IN" sz="1600"/>
                        <a:t>-= Subtract AND</a:t>
                      </a:r>
                    </a:p>
                  </a:txBody>
                  <a:tcPr marL="76200" marR="76200" marT="76200" marB="76200"/>
                </a:tc>
                <a:tc>
                  <a:txBody>
                    <a:bodyPr/>
                    <a:lstStyle/>
                    <a:p>
                      <a:pPr fontAlgn="t"/>
                      <a:r>
                        <a:rPr lang="en-IN" sz="1600"/>
                        <a:t>It subtracts right operand from the left operand and assign the result to left operand</a:t>
                      </a:r>
                    </a:p>
                  </a:txBody>
                  <a:tcPr marL="76200" marR="76200" marT="76200" marB="76200"/>
                </a:tc>
                <a:tc>
                  <a:txBody>
                    <a:bodyPr/>
                    <a:lstStyle/>
                    <a:p>
                      <a:pPr fontAlgn="ctr"/>
                      <a:r>
                        <a:rPr lang="en-IN" sz="1600"/>
                        <a:t>c -= a is equivalent to c = c - a</a:t>
                      </a:r>
                    </a:p>
                  </a:txBody>
                  <a:tcPr marL="76200" marR="76200" marT="76200" marB="76200" anchor="ctr"/>
                </a:tc>
              </a:tr>
              <a:tr h="370840">
                <a:tc>
                  <a:txBody>
                    <a:bodyPr/>
                    <a:lstStyle/>
                    <a:p>
                      <a:pPr algn="ctr" fontAlgn="t"/>
                      <a:r>
                        <a:rPr lang="en-IN" sz="1600"/>
                        <a:t>*= Multiply AND</a:t>
                      </a:r>
                    </a:p>
                  </a:txBody>
                  <a:tcPr marL="76200" marR="76200" marT="76200" marB="76200"/>
                </a:tc>
                <a:tc>
                  <a:txBody>
                    <a:bodyPr/>
                    <a:lstStyle/>
                    <a:p>
                      <a:pPr fontAlgn="t"/>
                      <a:r>
                        <a:rPr lang="en-IN" sz="1600"/>
                        <a:t>It multiplies right operand with the left operand and assign the result to left operand</a:t>
                      </a:r>
                    </a:p>
                  </a:txBody>
                  <a:tcPr marL="76200" marR="76200" marT="76200" marB="76200"/>
                </a:tc>
                <a:tc>
                  <a:txBody>
                    <a:bodyPr/>
                    <a:lstStyle/>
                    <a:p>
                      <a:pPr fontAlgn="ctr"/>
                      <a:r>
                        <a:rPr lang="en-IN" sz="1600"/>
                        <a:t>c *= a is equivalent to c = c * a</a:t>
                      </a:r>
                    </a:p>
                  </a:txBody>
                  <a:tcPr marL="76200" marR="76200" marT="76200" marB="76200" anchor="ctr"/>
                </a:tc>
              </a:tr>
              <a:tr h="370840">
                <a:tc>
                  <a:txBody>
                    <a:bodyPr/>
                    <a:lstStyle/>
                    <a:p>
                      <a:pPr algn="ctr" fontAlgn="t"/>
                      <a:r>
                        <a:rPr lang="en-IN" sz="1600"/>
                        <a:t>/= Divide AND</a:t>
                      </a:r>
                    </a:p>
                  </a:txBody>
                  <a:tcPr marL="76200" marR="76200" marT="76200" marB="76200"/>
                </a:tc>
                <a:tc>
                  <a:txBody>
                    <a:bodyPr/>
                    <a:lstStyle/>
                    <a:p>
                      <a:pPr fontAlgn="t"/>
                      <a:r>
                        <a:rPr lang="en-IN" sz="1600"/>
                        <a:t>It divides left operand with the right operand and assign the result to left operand</a:t>
                      </a:r>
                    </a:p>
                  </a:txBody>
                  <a:tcPr marL="76200" marR="76200" marT="76200" marB="76200"/>
                </a:tc>
                <a:tc>
                  <a:txBody>
                    <a:bodyPr/>
                    <a:lstStyle/>
                    <a:p>
                      <a:pPr fontAlgn="ctr"/>
                      <a:r>
                        <a:rPr lang="en-IN" sz="1600"/>
                        <a:t>c /= a is equivalent to c = c / ac /= a is equivalent to c = c / a</a:t>
                      </a:r>
                    </a:p>
                  </a:txBody>
                  <a:tcPr marL="76200" marR="76200" marT="76200" marB="76200" anchor="ctr"/>
                </a:tc>
              </a:tr>
              <a:tr h="370840">
                <a:tc>
                  <a:txBody>
                    <a:bodyPr/>
                    <a:lstStyle/>
                    <a:p>
                      <a:pPr algn="ctr" fontAlgn="t"/>
                      <a:r>
                        <a:rPr lang="en-IN" sz="1600"/>
                        <a:t>%= Modulus AND</a:t>
                      </a:r>
                    </a:p>
                  </a:txBody>
                  <a:tcPr marL="76200" marR="76200" marT="76200" marB="76200"/>
                </a:tc>
                <a:tc>
                  <a:txBody>
                    <a:bodyPr/>
                    <a:lstStyle/>
                    <a:p>
                      <a:pPr fontAlgn="t"/>
                      <a:r>
                        <a:rPr lang="en-IN" sz="1600"/>
                        <a:t>It takes modulus using two operands and assign the result to left operand</a:t>
                      </a:r>
                    </a:p>
                  </a:txBody>
                  <a:tcPr marL="76200" marR="76200" marT="76200" marB="76200"/>
                </a:tc>
                <a:tc>
                  <a:txBody>
                    <a:bodyPr/>
                    <a:lstStyle/>
                    <a:p>
                      <a:pPr fontAlgn="ctr"/>
                      <a:r>
                        <a:rPr lang="en-IN" sz="1600"/>
                        <a:t>c %= a is equivalent to c = c % a</a:t>
                      </a:r>
                    </a:p>
                  </a:txBody>
                  <a:tcPr marL="76200" marR="76200" marT="76200" marB="76200" anchor="ctr"/>
                </a:tc>
              </a:tr>
              <a:tr h="370840">
                <a:tc>
                  <a:txBody>
                    <a:bodyPr/>
                    <a:lstStyle/>
                    <a:p>
                      <a:pPr algn="ctr" fontAlgn="t"/>
                      <a:r>
                        <a:rPr lang="en-IN" sz="1600"/>
                        <a:t>**= Exponent AND</a:t>
                      </a:r>
                    </a:p>
                  </a:txBody>
                  <a:tcPr marL="76200" marR="76200" marT="76200" marB="76200"/>
                </a:tc>
                <a:tc>
                  <a:txBody>
                    <a:bodyPr/>
                    <a:lstStyle/>
                    <a:p>
                      <a:pPr fontAlgn="t"/>
                      <a:r>
                        <a:rPr lang="en-IN" sz="1600"/>
                        <a:t>Performs exponential (power) calculation on operators and assign value to the left operand</a:t>
                      </a:r>
                    </a:p>
                  </a:txBody>
                  <a:tcPr marL="76200" marR="76200" marT="76200" marB="76200"/>
                </a:tc>
                <a:tc>
                  <a:txBody>
                    <a:bodyPr/>
                    <a:lstStyle/>
                    <a:p>
                      <a:pPr fontAlgn="ctr"/>
                      <a:r>
                        <a:rPr lang="en-IN" sz="1600"/>
                        <a:t>c **= a is equivalent to c = c ** a</a:t>
                      </a:r>
                    </a:p>
                  </a:txBody>
                  <a:tcPr marL="76200" marR="76200" marT="76200" marB="76200" anchor="ctr"/>
                </a:tc>
              </a:tr>
              <a:tr h="370840">
                <a:tc>
                  <a:txBody>
                    <a:bodyPr/>
                    <a:lstStyle/>
                    <a:p>
                      <a:pPr algn="ctr" fontAlgn="t"/>
                      <a:r>
                        <a:rPr lang="en-IN" sz="1600"/>
                        <a:t>//= Floor Division</a:t>
                      </a:r>
                    </a:p>
                  </a:txBody>
                  <a:tcPr marL="76200" marR="76200" marT="76200" marB="76200"/>
                </a:tc>
                <a:tc>
                  <a:txBody>
                    <a:bodyPr/>
                    <a:lstStyle/>
                    <a:p>
                      <a:pPr fontAlgn="t"/>
                      <a:r>
                        <a:rPr lang="en-IN" sz="1600"/>
                        <a:t>It performs floor division on operators and assign value to the left operand</a:t>
                      </a:r>
                    </a:p>
                  </a:txBody>
                  <a:tcPr marL="76200" marR="76200" marT="76200" marB="76200"/>
                </a:tc>
                <a:tc>
                  <a:txBody>
                    <a:bodyPr/>
                    <a:lstStyle/>
                    <a:p>
                      <a:pPr fontAlgn="ctr"/>
                      <a:r>
                        <a:rPr lang="en-IN" sz="1600" dirty="0"/>
                        <a:t>c //= a is equivalent to c = c // a</a:t>
                      </a:r>
                    </a:p>
                  </a:txBody>
                  <a:tcPr marL="76200" marR="76200" marT="76200" marB="76200" anchor="ct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Bitwise </a:t>
            </a:r>
            <a:r>
              <a:rPr lang="en-IN" dirty="0" smtClean="0"/>
              <a:t>Operators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a:t>Bitwise operator works on bits and performs bit by bit operation. Assume if a = 60; and b = 13; Now in binary format they will be as </a:t>
            </a:r>
            <a:r>
              <a:rPr lang="en-IN" dirty="0" smtClean="0"/>
              <a:t>follows</a:t>
            </a:r>
          </a:p>
          <a:p>
            <a:r>
              <a:rPr lang="pt-BR" dirty="0"/>
              <a:t>a = 0011 1100</a:t>
            </a:r>
          </a:p>
          <a:p>
            <a:r>
              <a:rPr lang="pt-BR" dirty="0"/>
              <a:t>b = 0000 1101</a:t>
            </a:r>
          </a:p>
          <a:p>
            <a:endParaRPr lang="en-I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28596" y="0"/>
          <a:ext cx="8229600" cy="655320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pPr algn="ctr" fontAlgn="t"/>
                      <a:r>
                        <a:rPr lang="en-IN" dirty="0"/>
                        <a:t>Operator</a:t>
                      </a:r>
                    </a:p>
                  </a:txBody>
                  <a:tcPr marL="76200" marR="76200" marT="76200" marB="76200"/>
                </a:tc>
                <a:tc>
                  <a:txBody>
                    <a:bodyPr/>
                    <a:lstStyle/>
                    <a:p>
                      <a:pPr algn="ctr" fontAlgn="t"/>
                      <a:r>
                        <a:rPr lang="en-IN"/>
                        <a:t>Description</a:t>
                      </a:r>
                    </a:p>
                  </a:txBody>
                  <a:tcPr marL="76200" marR="76200" marT="76200" marB="76200"/>
                </a:tc>
                <a:tc>
                  <a:txBody>
                    <a:bodyPr/>
                    <a:lstStyle/>
                    <a:p>
                      <a:pPr algn="ctr" fontAlgn="t"/>
                      <a:r>
                        <a:rPr lang="en-IN"/>
                        <a:t>Example</a:t>
                      </a:r>
                    </a:p>
                  </a:txBody>
                  <a:tcPr marL="76200" marR="76200" marT="76200" marB="76200"/>
                </a:tc>
              </a:tr>
              <a:tr h="370840">
                <a:tc>
                  <a:txBody>
                    <a:bodyPr/>
                    <a:lstStyle/>
                    <a:p>
                      <a:pPr algn="ctr" fontAlgn="t"/>
                      <a:r>
                        <a:rPr lang="en-IN"/>
                        <a:t>&amp; Binary AND</a:t>
                      </a:r>
                    </a:p>
                  </a:txBody>
                  <a:tcPr marL="76200" marR="76200" marT="76200" marB="76200"/>
                </a:tc>
                <a:tc>
                  <a:txBody>
                    <a:bodyPr/>
                    <a:lstStyle/>
                    <a:p>
                      <a:pPr fontAlgn="t"/>
                      <a:r>
                        <a:rPr lang="en-IN"/>
                        <a:t>Operator copies a bit to the result if it exists in both operands</a:t>
                      </a:r>
                    </a:p>
                  </a:txBody>
                  <a:tcPr marL="76200" marR="76200" marT="76200" marB="76200"/>
                </a:tc>
                <a:tc>
                  <a:txBody>
                    <a:bodyPr/>
                    <a:lstStyle/>
                    <a:p>
                      <a:pPr fontAlgn="ctr"/>
                      <a:r>
                        <a:rPr lang="en-IN"/>
                        <a:t>(a &amp; b) (means 0000 1100)</a:t>
                      </a:r>
                    </a:p>
                  </a:txBody>
                  <a:tcPr marL="76200" marR="76200" marT="76200" marB="76200" anchor="ctr"/>
                </a:tc>
              </a:tr>
              <a:tr h="370840">
                <a:tc>
                  <a:txBody>
                    <a:bodyPr/>
                    <a:lstStyle/>
                    <a:p>
                      <a:pPr algn="ctr" fontAlgn="t"/>
                      <a:r>
                        <a:rPr lang="en-IN"/>
                        <a:t>| Binary OR</a:t>
                      </a:r>
                    </a:p>
                  </a:txBody>
                  <a:tcPr marL="76200" marR="76200" marT="76200" marB="76200"/>
                </a:tc>
                <a:tc>
                  <a:txBody>
                    <a:bodyPr/>
                    <a:lstStyle/>
                    <a:p>
                      <a:pPr fontAlgn="t"/>
                      <a:r>
                        <a:rPr lang="en-IN"/>
                        <a:t>It copies a bit if it exists in either operand.</a:t>
                      </a:r>
                    </a:p>
                  </a:txBody>
                  <a:tcPr marL="76200" marR="76200" marT="76200" marB="76200"/>
                </a:tc>
                <a:tc>
                  <a:txBody>
                    <a:bodyPr/>
                    <a:lstStyle/>
                    <a:p>
                      <a:pPr fontAlgn="ctr"/>
                      <a:r>
                        <a:rPr lang="en-IN"/>
                        <a:t>(a | b) = 61 (means 0011 1101)</a:t>
                      </a:r>
                    </a:p>
                  </a:txBody>
                  <a:tcPr marL="76200" marR="76200" marT="76200" marB="76200" anchor="ctr"/>
                </a:tc>
              </a:tr>
              <a:tr h="370840">
                <a:tc>
                  <a:txBody>
                    <a:bodyPr/>
                    <a:lstStyle/>
                    <a:p>
                      <a:pPr algn="ctr" fontAlgn="t"/>
                      <a:r>
                        <a:rPr lang="en-IN"/>
                        <a:t>^ Binary XOR</a:t>
                      </a:r>
                    </a:p>
                  </a:txBody>
                  <a:tcPr marL="76200" marR="76200" marT="76200" marB="76200"/>
                </a:tc>
                <a:tc>
                  <a:txBody>
                    <a:bodyPr/>
                    <a:lstStyle/>
                    <a:p>
                      <a:pPr fontAlgn="t"/>
                      <a:r>
                        <a:rPr lang="en-IN"/>
                        <a:t>It copies the bit if it is set in one operand but not both.</a:t>
                      </a:r>
                    </a:p>
                  </a:txBody>
                  <a:tcPr marL="76200" marR="76200" marT="76200" marB="76200"/>
                </a:tc>
                <a:tc>
                  <a:txBody>
                    <a:bodyPr/>
                    <a:lstStyle/>
                    <a:p>
                      <a:pPr fontAlgn="ctr"/>
                      <a:r>
                        <a:rPr lang="en-IN"/>
                        <a:t>(a ^ b) = 49 (means 0011 0001)</a:t>
                      </a:r>
                    </a:p>
                  </a:txBody>
                  <a:tcPr marL="76200" marR="76200" marT="76200" marB="76200" anchor="ctr"/>
                </a:tc>
              </a:tr>
              <a:tr h="370840">
                <a:tc>
                  <a:txBody>
                    <a:bodyPr/>
                    <a:lstStyle/>
                    <a:p>
                      <a:pPr algn="ctr" fontAlgn="t"/>
                      <a:r>
                        <a:rPr lang="en-IN"/>
                        <a:t>~ Binary Ones Complement</a:t>
                      </a:r>
                    </a:p>
                  </a:txBody>
                  <a:tcPr marL="76200" marR="76200" marT="76200" marB="76200"/>
                </a:tc>
                <a:tc>
                  <a:txBody>
                    <a:bodyPr/>
                    <a:lstStyle/>
                    <a:p>
                      <a:pPr fontAlgn="ctr"/>
                      <a:r>
                        <a:rPr lang="en-IN"/>
                        <a:t>It is unary and has the effect of 'flipping' bits.</a:t>
                      </a:r>
                    </a:p>
                  </a:txBody>
                  <a:tcPr marL="76200" marR="76200" marT="76200" marB="76200" anchor="ctr"/>
                </a:tc>
                <a:tc>
                  <a:txBody>
                    <a:bodyPr/>
                    <a:lstStyle/>
                    <a:p>
                      <a:pPr fontAlgn="ctr"/>
                      <a:r>
                        <a:rPr lang="en-IN"/>
                        <a:t>(~a ) = -61 (means 1100 0011 in 2's complement form due to a signed binary number.</a:t>
                      </a:r>
                    </a:p>
                  </a:txBody>
                  <a:tcPr marL="76200" marR="76200" marT="76200" marB="76200" anchor="ctr"/>
                </a:tc>
              </a:tr>
              <a:tr h="370840">
                <a:tc>
                  <a:txBody>
                    <a:bodyPr/>
                    <a:lstStyle/>
                    <a:p>
                      <a:pPr algn="ctr" fontAlgn="t"/>
                      <a:r>
                        <a:rPr lang="en-IN"/>
                        <a:t>&lt;&lt; Binary Left Shift</a:t>
                      </a:r>
                    </a:p>
                  </a:txBody>
                  <a:tcPr marL="76200" marR="76200" marT="76200" marB="76200"/>
                </a:tc>
                <a:tc>
                  <a:txBody>
                    <a:bodyPr/>
                    <a:lstStyle/>
                    <a:p>
                      <a:pPr fontAlgn="t"/>
                      <a:r>
                        <a:rPr lang="en-IN"/>
                        <a:t>The left operands value is moved left by the number of bits specified by the right operand.</a:t>
                      </a:r>
                    </a:p>
                  </a:txBody>
                  <a:tcPr marL="76200" marR="76200" marT="76200" marB="76200"/>
                </a:tc>
                <a:tc>
                  <a:txBody>
                    <a:bodyPr/>
                    <a:lstStyle/>
                    <a:p>
                      <a:pPr fontAlgn="ctr"/>
                      <a:r>
                        <a:rPr lang="en-IN"/>
                        <a:t>a &lt;&lt; 2 = 240 (means 1111 0000)</a:t>
                      </a:r>
                    </a:p>
                  </a:txBody>
                  <a:tcPr marL="76200" marR="76200" marT="76200" marB="76200" anchor="ctr"/>
                </a:tc>
              </a:tr>
              <a:tr h="370840">
                <a:tc>
                  <a:txBody>
                    <a:bodyPr/>
                    <a:lstStyle/>
                    <a:p>
                      <a:pPr algn="ctr" fontAlgn="t"/>
                      <a:r>
                        <a:rPr lang="en-IN"/>
                        <a:t>&gt;&gt; Binary Right Shift</a:t>
                      </a:r>
                    </a:p>
                  </a:txBody>
                  <a:tcPr marL="76200" marR="76200" marT="76200" marB="76200"/>
                </a:tc>
                <a:tc>
                  <a:txBody>
                    <a:bodyPr/>
                    <a:lstStyle/>
                    <a:p>
                      <a:pPr fontAlgn="t"/>
                      <a:r>
                        <a:rPr lang="en-IN"/>
                        <a:t>The left operands value is moved right by the number of bits specified by the right operand.</a:t>
                      </a:r>
                    </a:p>
                  </a:txBody>
                  <a:tcPr marL="76200" marR="76200" marT="76200" marB="76200"/>
                </a:tc>
                <a:tc>
                  <a:txBody>
                    <a:bodyPr/>
                    <a:lstStyle/>
                    <a:p>
                      <a:pPr fontAlgn="ctr"/>
                      <a:r>
                        <a:rPr lang="en-IN" dirty="0"/>
                        <a:t>a &gt;&gt; 2 = 15 (means 0000 1111)</a:t>
                      </a:r>
                    </a:p>
                  </a:txBody>
                  <a:tcPr marL="76200" marR="76200" marT="76200" marB="76200" anchor="ct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Logical </a:t>
            </a:r>
            <a:r>
              <a:rPr lang="en-IN" dirty="0" smtClean="0"/>
              <a:t>Operators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a:t>Assume variable a holds 10 and variable b holds 20 </a:t>
            </a:r>
            <a:r>
              <a:rPr lang="en-IN" dirty="0" smtClean="0"/>
              <a:t>then</a:t>
            </a:r>
          </a:p>
          <a:p>
            <a:endParaRPr lang="en-IN" dirty="0"/>
          </a:p>
        </p:txBody>
      </p:sp>
      <p:graphicFrame>
        <p:nvGraphicFramePr>
          <p:cNvPr id="4" name="Table 3"/>
          <p:cNvGraphicFramePr>
            <a:graphicFrameLocks noGrp="1"/>
          </p:cNvGraphicFramePr>
          <p:nvPr/>
        </p:nvGraphicFramePr>
        <p:xfrm>
          <a:off x="357159" y="2285992"/>
          <a:ext cx="8358246" cy="3821933"/>
        </p:xfrm>
        <a:graphic>
          <a:graphicData uri="http://schemas.openxmlformats.org/drawingml/2006/table">
            <a:tbl>
              <a:tblPr firstRow="1" bandRow="1">
                <a:tableStyleId>{5C22544A-7EE6-4342-B048-85BDC9FD1C3A}</a:tableStyleId>
              </a:tblPr>
              <a:tblGrid>
                <a:gridCol w="2214577"/>
                <a:gridCol w="3786214"/>
                <a:gridCol w="2357455"/>
              </a:tblGrid>
              <a:tr h="630518">
                <a:tc>
                  <a:txBody>
                    <a:bodyPr/>
                    <a:lstStyle/>
                    <a:p>
                      <a:pPr algn="ctr" fontAlgn="t"/>
                      <a:r>
                        <a:rPr lang="en-IN" dirty="0"/>
                        <a:t>Operator</a:t>
                      </a:r>
                    </a:p>
                  </a:txBody>
                  <a:tcPr marL="76200" marR="76200" marT="76200" marB="76200"/>
                </a:tc>
                <a:tc>
                  <a:txBody>
                    <a:bodyPr/>
                    <a:lstStyle/>
                    <a:p>
                      <a:pPr algn="ctr" fontAlgn="t"/>
                      <a:r>
                        <a:rPr lang="en-IN"/>
                        <a:t>Description</a:t>
                      </a:r>
                    </a:p>
                  </a:txBody>
                  <a:tcPr marL="76200" marR="76200" marT="76200" marB="76200"/>
                </a:tc>
                <a:tc>
                  <a:txBody>
                    <a:bodyPr/>
                    <a:lstStyle/>
                    <a:p>
                      <a:pPr algn="ctr" fontAlgn="t"/>
                      <a:r>
                        <a:rPr lang="en-IN"/>
                        <a:t>Example</a:t>
                      </a:r>
                    </a:p>
                  </a:txBody>
                  <a:tcPr marL="76200" marR="76200" marT="76200" marB="76200"/>
                </a:tc>
              </a:tr>
              <a:tr h="1035851">
                <a:tc>
                  <a:txBody>
                    <a:bodyPr/>
                    <a:lstStyle/>
                    <a:p>
                      <a:pPr fontAlgn="t"/>
                      <a:r>
                        <a:rPr lang="en-IN" dirty="0" smtClean="0"/>
                        <a:t>and</a:t>
                      </a:r>
                      <a:endParaRPr lang="en-IN" dirty="0"/>
                    </a:p>
                  </a:txBody>
                  <a:tcPr marL="76200" marR="76200" marT="76200" marB="76200"/>
                </a:tc>
                <a:tc>
                  <a:txBody>
                    <a:bodyPr/>
                    <a:lstStyle/>
                    <a:p>
                      <a:pPr algn="ctr" fontAlgn="t"/>
                      <a:r>
                        <a:rPr lang="en-IN"/>
                        <a:t>If both the operands are true then condition becomes true.</a:t>
                      </a:r>
                    </a:p>
                  </a:txBody>
                  <a:tcPr marL="76200" marR="76200" marT="76200" marB="76200"/>
                </a:tc>
                <a:tc>
                  <a:txBody>
                    <a:bodyPr/>
                    <a:lstStyle/>
                    <a:p>
                      <a:pPr algn="ctr" fontAlgn="t"/>
                      <a:r>
                        <a:rPr lang="en-IN"/>
                        <a:t>(a and b) is true.</a:t>
                      </a:r>
                    </a:p>
                  </a:txBody>
                  <a:tcPr marL="76200" marR="76200" marT="76200" marB="76200"/>
                </a:tc>
              </a:tr>
              <a:tr h="1119713">
                <a:tc>
                  <a:txBody>
                    <a:bodyPr/>
                    <a:lstStyle/>
                    <a:p>
                      <a:pPr fontAlgn="t"/>
                      <a:r>
                        <a:rPr lang="en-IN" dirty="0" smtClean="0"/>
                        <a:t>or</a:t>
                      </a:r>
                      <a:endParaRPr lang="en-IN" dirty="0"/>
                    </a:p>
                  </a:txBody>
                  <a:tcPr marL="76200" marR="76200" marT="76200" marB="76200"/>
                </a:tc>
                <a:tc>
                  <a:txBody>
                    <a:bodyPr/>
                    <a:lstStyle/>
                    <a:p>
                      <a:pPr algn="ctr" fontAlgn="t"/>
                      <a:r>
                        <a:rPr lang="en-IN"/>
                        <a:t>If any of the two operands are non-zero then condition becomes true.</a:t>
                      </a:r>
                    </a:p>
                  </a:txBody>
                  <a:tcPr marL="76200" marR="76200" marT="76200" marB="76200"/>
                </a:tc>
                <a:tc>
                  <a:txBody>
                    <a:bodyPr/>
                    <a:lstStyle/>
                    <a:p>
                      <a:pPr algn="ctr" fontAlgn="t"/>
                      <a:r>
                        <a:rPr lang="en-IN"/>
                        <a:t>(a or b) is true.</a:t>
                      </a:r>
                    </a:p>
                  </a:txBody>
                  <a:tcPr marL="76200" marR="76200" marT="76200" marB="76200"/>
                </a:tc>
              </a:tr>
              <a:tr h="1035851">
                <a:tc>
                  <a:txBody>
                    <a:bodyPr/>
                    <a:lstStyle/>
                    <a:p>
                      <a:pPr fontAlgn="t"/>
                      <a:r>
                        <a:rPr lang="en-IN" dirty="0" smtClean="0"/>
                        <a:t>not</a:t>
                      </a:r>
                      <a:endParaRPr lang="en-IN" dirty="0"/>
                    </a:p>
                  </a:txBody>
                  <a:tcPr marL="76200" marR="76200" marT="76200" marB="76200"/>
                </a:tc>
                <a:tc>
                  <a:txBody>
                    <a:bodyPr/>
                    <a:lstStyle/>
                    <a:p>
                      <a:pPr algn="ctr" fontAlgn="t"/>
                      <a:r>
                        <a:rPr lang="en-IN"/>
                        <a:t>Used to reverse the logical state of its operand.</a:t>
                      </a:r>
                    </a:p>
                  </a:txBody>
                  <a:tcPr marL="76200" marR="76200" marT="76200" marB="76200"/>
                </a:tc>
                <a:tc>
                  <a:txBody>
                    <a:bodyPr/>
                    <a:lstStyle/>
                    <a:p>
                      <a:pPr algn="ctr" fontAlgn="t"/>
                      <a:r>
                        <a:rPr lang="en-IN" dirty="0"/>
                        <a:t>Not(a and b) is false.</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Membership </a:t>
            </a:r>
            <a:r>
              <a:rPr lang="en-IN" dirty="0" smtClean="0"/>
              <a:t>Operators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a:t>Python’s membership operators test for membership in a sequence, such as strings, lists, or </a:t>
            </a:r>
            <a:r>
              <a:rPr lang="en-IN" dirty="0" err="1"/>
              <a:t>tuples</a:t>
            </a:r>
            <a:r>
              <a:rPr lang="en-IN" dirty="0" smtClean="0"/>
              <a:t>.</a:t>
            </a:r>
          </a:p>
          <a:p>
            <a:pPr>
              <a:buNone/>
            </a:pPr>
            <a:endParaRPr lang="en-IN" dirty="0"/>
          </a:p>
        </p:txBody>
      </p:sp>
      <p:graphicFrame>
        <p:nvGraphicFramePr>
          <p:cNvPr id="4" name="Table 3"/>
          <p:cNvGraphicFramePr>
            <a:graphicFrameLocks noGrp="1"/>
          </p:cNvGraphicFramePr>
          <p:nvPr/>
        </p:nvGraphicFramePr>
        <p:xfrm>
          <a:off x="0" y="3286124"/>
          <a:ext cx="9144000" cy="3214710"/>
        </p:xfrm>
        <a:graphic>
          <a:graphicData uri="http://schemas.openxmlformats.org/drawingml/2006/table">
            <a:tbl>
              <a:tblPr firstRow="1" bandRow="1">
                <a:tableStyleId>{5C22544A-7EE6-4342-B048-85BDC9FD1C3A}</a:tableStyleId>
              </a:tblPr>
              <a:tblGrid>
                <a:gridCol w="1714480"/>
                <a:gridCol w="4357718"/>
                <a:gridCol w="3071802"/>
              </a:tblGrid>
              <a:tr h="739945">
                <a:tc>
                  <a:txBody>
                    <a:bodyPr/>
                    <a:lstStyle/>
                    <a:p>
                      <a:pPr algn="ctr" fontAlgn="t"/>
                      <a:r>
                        <a:rPr lang="en-IN" dirty="0"/>
                        <a:t>Operator</a:t>
                      </a:r>
                    </a:p>
                  </a:txBody>
                  <a:tcPr marL="76200" marR="76200" marT="76200" marB="76200"/>
                </a:tc>
                <a:tc>
                  <a:txBody>
                    <a:bodyPr/>
                    <a:lstStyle/>
                    <a:p>
                      <a:pPr algn="ctr" fontAlgn="t"/>
                      <a:r>
                        <a:rPr lang="en-IN"/>
                        <a:t>Description</a:t>
                      </a:r>
                    </a:p>
                  </a:txBody>
                  <a:tcPr marL="76200" marR="76200" marT="76200" marB="76200"/>
                </a:tc>
                <a:tc>
                  <a:txBody>
                    <a:bodyPr/>
                    <a:lstStyle/>
                    <a:p>
                      <a:pPr algn="ctr" fontAlgn="t"/>
                      <a:r>
                        <a:rPr lang="en-IN"/>
                        <a:t>Example</a:t>
                      </a:r>
                    </a:p>
                  </a:txBody>
                  <a:tcPr marL="76200" marR="76200" marT="76200" marB="76200"/>
                </a:tc>
              </a:tr>
              <a:tr h="1036540">
                <a:tc>
                  <a:txBody>
                    <a:bodyPr/>
                    <a:lstStyle/>
                    <a:p>
                      <a:pPr algn="ctr" fontAlgn="t"/>
                      <a:r>
                        <a:rPr lang="en-IN"/>
                        <a:t>in</a:t>
                      </a:r>
                    </a:p>
                  </a:txBody>
                  <a:tcPr marL="76200" marR="76200" marT="76200" marB="76200"/>
                </a:tc>
                <a:tc>
                  <a:txBody>
                    <a:bodyPr/>
                    <a:lstStyle/>
                    <a:p>
                      <a:pPr fontAlgn="t"/>
                      <a:r>
                        <a:rPr lang="en-IN"/>
                        <a:t>Evaluates to true if it finds a variable in the specified sequence and false otherwise.</a:t>
                      </a:r>
                    </a:p>
                  </a:txBody>
                  <a:tcPr marL="76200" marR="76200" marT="76200" marB="76200"/>
                </a:tc>
                <a:tc>
                  <a:txBody>
                    <a:bodyPr/>
                    <a:lstStyle/>
                    <a:p>
                      <a:pPr fontAlgn="ctr"/>
                      <a:r>
                        <a:rPr lang="en-IN"/>
                        <a:t>x in y, here in results in a 1 if x is a member of sequence y.</a:t>
                      </a:r>
                    </a:p>
                  </a:txBody>
                  <a:tcPr marL="76200" marR="76200" marT="76200" marB="76200" anchor="ctr"/>
                </a:tc>
              </a:tr>
              <a:tr h="1438225">
                <a:tc>
                  <a:txBody>
                    <a:bodyPr/>
                    <a:lstStyle/>
                    <a:p>
                      <a:pPr algn="ctr" fontAlgn="t"/>
                      <a:r>
                        <a:rPr lang="en-IN"/>
                        <a:t>not in</a:t>
                      </a:r>
                    </a:p>
                  </a:txBody>
                  <a:tcPr marL="76200" marR="76200" marT="76200" marB="76200"/>
                </a:tc>
                <a:tc>
                  <a:txBody>
                    <a:bodyPr/>
                    <a:lstStyle/>
                    <a:p>
                      <a:pPr fontAlgn="t"/>
                      <a:r>
                        <a:rPr lang="en-IN"/>
                        <a:t>Evaluates to true if it does not finds a variable in the specified sequence and false otherwise.</a:t>
                      </a:r>
                    </a:p>
                  </a:txBody>
                  <a:tcPr marL="76200" marR="76200" marT="76200" marB="76200"/>
                </a:tc>
                <a:tc>
                  <a:txBody>
                    <a:bodyPr/>
                    <a:lstStyle/>
                    <a:p>
                      <a:pPr fontAlgn="t"/>
                      <a:r>
                        <a:rPr lang="en-IN" dirty="0"/>
                        <a:t>x not in y, here not in results in a 1 if x is not a member of sequence y.</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Identity </a:t>
            </a:r>
            <a:r>
              <a:rPr lang="en-IN" dirty="0" smtClean="0"/>
              <a:t>Operators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a:t>Identity operators compare the memory locations of two objects. There are two Identity operators explained </a:t>
            </a:r>
            <a:r>
              <a:rPr lang="en-IN" dirty="0" smtClean="0"/>
              <a:t>below</a:t>
            </a:r>
          </a:p>
          <a:p>
            <a:pPr>
              <a:buNone/>
            </a:pPr>
            <a:endParaRPr lang="en-IN" dirty="0"/>
          </a:p>
        </p:txBody>
      </p:sp>
      <p:graphicFrame>
        <p:nvGraphicFramePr>
          <p:cNvPr id="4" name="Table 3"/>
          <p:cNvGraphicFramePr>
            <a:graphicFrameLocks noGrp="1"/>
          </p:cNvGraphicFramePr>
          <p:nvPr/>
        </p:nvGraphicFramePr>
        <p:xfrm>
          <a:off x="-1" y="2714621"/>
          <a:ext cx="9001158" cy="2749429"/>
        </p:xfrm>
        <a:graphic>
          <a:graphicData uri="http://schemas.openxmlformats.org/drawingml/2006/table">
            <a:tbl>
              <a:tblPr firstRow="1" bandRow="1">
                <a:tableStyleId>{5C22544A-7EE6-4342-B048-85BDC9FD1C3A}</a:tableStyleId>
              </a:tblPr>
              <a:tblGrid>
                <a:gridCol w="2000233"/>
                <a:gridCol w="4000539"/>
                <a:gridCol w="3000386"/>
              </a:tblGrid>
              <a:tr h="451581">
                <a:tc>
                  <a:txBody>
                    <a:bodyPr/>
                    <a:lstStyle/>
                    <a:p>
                      <a:pPr algn="ctr" fontAlgn="t"/>
                      <a:r>
                        <a:rPr lang="en-IN" dirty="0"/>
                        <a:t>Operator</a:t>
                      </a:r>
                    </a:p>
                  </a:txBody>
                  <a:tcPr marL="76200" marR="76200" marT="76200" marB="76200"/>
                </a:tc>
                <a:tc>
                  <a:txBody>
                    <a:bodyPr/>
                    <a:lstStyle/>
                    <a:p>
                      <a:pPr algn="ctr" fontAlgn="t"/>
                      <a:r>
                        <a:rPr lang="en-IN"/>
                        <a:t>Description</a:t>
                      </a:r>
                    </a:p>
                  </a:txBody>
                  <a:tcPr marL="76200" marR="76200" marT="76200" marB="76200"/>
                </a:tc>
                <a:tc>
                  <a:txBody>
                    <a:bodyPr/>
                    <a:lstStyle/>
                    <a:p>
                      <a:pPr algn="ctr" fontAlgn="t"/>
                      <a:r>
                        <a:rPr lang="en-IN"/>
                        <a:t>Example</a:t>
                      </a:r>
                    </a:p>
                  </a:txBody>
                  <a:tcPr marL="76200" marR="76200" marT="76200" marB="76200"/>
                </a:tc>
              </a:tr>
              <a:tr h="797699">
                <a:tc>
                  <a:txBody>
                    <a:bodyPr/>
                    <a:lstStyle/>
                    <a:p>
                      <a:pPr algn="ctr" fontAlgn="t"/>
                      <a:r>
                        <a:rPr lang="en-IN"/>
                        <a:t>is</a:t>
                      </a:r>
                    </a:p>
                  </a:txBody>
                  <a:tcPr marL="76200" marR="76200" marT="76200" marB="76200"/>
                </a:tc>
                <a:tc>
                  <a:txBody>
                    <a:bodyPr/>
                    <a:lstStyle/>
                    <a:p>
                      <a:pPr fontAlgn="t"/>
                      <a:r>
                        <a:rPr lang="en-IN" dirty="0"/>
                        <a:t>Evaluates to true if the variables on either side of the operator point to the same object and false otherwise.</a:t>
                      </a:r>
                    </a:p>
                  </a:txBody>
                  <a:tcPr marL="76200" marR="76200" marT="76200" marB="76200"/>
                </a:tc>
                <a:tc>
                  <a:txBody>
                    <a:bodyPr/>
                    <a:lstStyle/>
                    <a:p>
                      <a:pPr fontAlgn="ctr"/>
                      <a:r>
                        <a:rPr lang="en-IN"/>
                        <a:t>x is y, here </a:t>
                      </a:r>
                      <a:r>
                        <a:rPr lang="en-IN" b="1"/>
                        <a:t>is</a:t>
                      </a:r>
                      <a:r>
                        <a:rPr lang="en-IN"/>
                        <a:t> results in 1 if id(x) equals id(y).</a:t>
                      </a:r>
                    </a:p>
                  </a:txBody>
                  <a:tcPr marL="76200" marR="76200" marT="76200" marB="76200" anchor="ctr"/>
                </a:tc>
              </a:tr>
              <a:tr h="1322488">
                <a:tc>
                  <a:txBody>
                    <a:bodyPr/>
                    <a:lstStyle/>
                    <a:p>
                      <a:pPr algn="ctr" fontAlgn="t"/>
                      <a:r>
                        <a:rPr lang="en-IN"/>
                        <a:t>is not</a:t>
                      </a:r>
                    </a:p>
                  </a:txBody>
                  <a:tcPr marL="76200" marR="76200" marT="76200" marB="76200"/>
                </a:tc>
                <a:tc>
                  <a:txBody>
                    <a:bodyPr/>
                    <a:lstStyle/>
                    <a:p>
                      <a:pPr fontAlgn="t"/>
                      <a:r>
                        <a:rPr lang="en-IN" dirty="0"/>
                        <a:t>Evaluates to false if the variables on either side of the operator point to the same object and true otherwise.</a:t>
                      </a:r>
                    </a:p>
                  </a:txBody>
                  <a:tcPr marL="76200" marR="76200" marT="76200" marB="76200"/>
                </a:tc>
                <a:tc>
                  <a:txBody>
                    <a:bodyPr/>
                    <a:lstStyle/>
                    <a:p>
                      <a:pPr fontAlgn="ctr"/>
                      <a:r>
                        <a:rPr lang="en-IN" dirty="0"/>
                        <a:t>x is not y, here </a:t>
                      </a:r>
                      <a:r>
                        <a:rPr lang="en-IN" b="1" dirty="0"/>
                        <a:t>is not</a:t>
                      </a:r>
                      <a:r>
                        <a:rPr lang="en-IN" dirty="0"/>
                        <a:t> results in 1 if id(x) is not equal to id(y).</a:t>
                      </a:r>
                    </a:p>
                  </a:txBody>
                  <a:tcPr marL="76200" marR="76200" marT="76200" marB="76200" anchor="ctr"/>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0"/>
            <a:ext cx="8572560" cy="582594"/>
          </a:xfrm>
        </p:spPr>
        <p:txBody>
          <a:bodyPr>
            <a:normAutofit fontScale="90000"/>
          </a:bodyPr>
          <a:lstStyle/>
          <a:p>
            <a:r>
              <a:rPr lang="en-IN" dirty="0"/>
              <a:t>Operators </a:t>
            </a:r>
            <a:r>
              <a:rPr lang="en-IN" dirty="0" smtClean="0"/>
              <a:t>Precedence</a:t>
            </a:r>
            <a:endParaRPr lang="en-IN" dirty="0"/>
          </a:p>
        </p:txBody>
      </p:sp>
      <p:graphicFrame>
        <p:nvGraphicFramePr>
          <p:cNvPr id="5" name="Content Placeholder 4"/>
          <p:cNvGraphicFramePr>
            <a:graphicFrameLocks noGrp="1"/>
          </p:cNvGraphicFramePr>
          <p:nvPr>
            <p:ph idx="1"/>
          </p:nvPr>
        </p:nvGraphicFramePr>
        <p:xfrm>
          <a:off x="0" y="670560"/>
          <a:ext cx="9144000" cy="6187440"/>
        </p:xfrm>
        <a:graphic>
          <a:graphicData uri="http://schemas.openxmlformats.org/drawingml/2006/table">
            <a:tbl>
              <a:tblPr firstRow="1" bandRow="1">
                <a:tableStyleId>{5C22544A-7EE6-4342-B048-85BDC9FD1C3A}</a:tableStyleId>
              </a:tblPr>
              <a:tblGrid>
                <a:gridCol w="920724"/>
                <a:gridCol w="2778145"/>
                <a:gridCol w="5445131"/>
              </a:tblGrid>
              <a:tr h="402088">
                <a:tc>
                  <a:txBody>
                    <a:bodyPr/>
                    <a:lstStyle/>
                    <a:p>
                      <a:pPr algn="ctr" fontAlgn="t"/>
                      <a:r>
                        <a:rPr lang="en-IN" dirty="0" err="1" smtClean="0"/>
                        <a:t>Sr.No</a:t>
                      </a:r>
                      <a:r>
                        <a:rPr lang="en-IN" dirty="0" smtClean="0"/>
                        <a:t>.</a:t>
                      </a:r>
                      <a:endParaRPr lang="en-IN" dirty="0"/>
                    </a:p>
                  </a:txBody>
                  <a:tcPr marL="76200" marR="76200" marT="76200" marB="76200"/>
                </a:tc>
                <a:tc>
                  <a:txBody>
                    <a:bodyPr/>
                    <a:lstStyle/>
                    <a:p>
                      <a:pPr algn="ctr" fontAlgn="t"/>
                      <a:r>
                        <a:rPr lang="en-IN" dirty="0" smtClean="0"/>
                        <a:t>Operator</a:t>
                      </a:r>
                      <a:endParaRPr lang="en-IN" dirty="0"/>
                    </a:p>
                  </a:txBody>
                  <a:tcPr marL="76200" marR="76200" marT="76200" marB="76200"/>
                </a:tc>
                <a:tc>
                  <a:txBody>
                    <a:bodyPr/>
                    <a:lstStyle/>
                    <a:p>
                      <a:pPr algn="ctr"/>
                      <a:r>
                        <a:rPr lang="en-IN" dirty="0" smtClean="0"/>
                        <a:t>Description</a:t>
                      </a:r>
                      <a:endParaRPr lang="en-IN" dirty="0"/>
                    </a:p>
                  </a:txBody>
                  <a:tcPr/>
                </a:tc>
              </a:tr>
              <a:tr h="402088">
                <a:tc>
                  <a:txBody>
                    <a:bodyPr/>
                    <a:lstStyle/>
                    <a:p>
                      <a:pPr algn="l" fontAlgn="t"/>
                      <a:r>
                        <a:rPr lang="en-IN" dirty="0" smtClean="0"/>
                        <a:t>1</a:t>
                      </a:r>
                      <a:endParaRPr lang="en-IN" dirty="0"/>
                    </a:p>
                  </a:txBody>
                  <a:tcPr marL="76200" marR="76200" marT="76200" marB="76200"/>
                </a:tc>
                <a:tc>
                  <a:txBody>
                    <a:bodyPr/>
                    <a:lstStyle/>
                    <a:p>
                      <a:r>
                        <a:rPr lang="en-IN" sz="1800" b="1" i="0" kern="1200" dirty="0" smtClean="0">
                          <a:solidFill>
                            <a:schemeClr val="dk1"/>
                          </a:solidFill>
                          <a:latin typeface="+mn-lt"/>
                          <a:ea typeface="+mn-ea"/>
                          <a:cs typeface="+mn-cs"/>
                        </a:rPr>
                        <a:t>**</a:t>
                      </a: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Exponentiation (raise to the power)</a:t>
                      </a:r>
                    </a:p>
                  </a:txBody>
                  <a:tcPr/>
                </a:tc>
              </a:tr>
              <a:tr h="603132">
                <a:tc>
                  <a:txBody>
                    <a:bodyPr/>
                    <a:lstStyle/>
                    <a:p>
                      <a:pPr algn="l" fontAlgn="t"/>
                      <a:r>
                        <a:rPr lang="en-IN" dirty="0" smtClean="0"/>
                        <a:t>2</a:t>
                      </a:r>
                      <a:endParaRPr lang="en-IN" dirty="0"/>
                    </a:p>
                  </a:txBody>
                  <a:tcPr marL="76200" marR="76200" marT="76200" marB="76200"/>
                </a:tc>
                <a:tc>
                  <a:txBody>
                    <a:bodyPr/>
                    <a:lstStyle/>
                    <a:p>
                      <a:r>
                        <a:rPr lang="en-IN" sz="1800" b="1" i="0" kern="1200" dirty="0" smtClean="0">
                          <a:solidFill>
                            <a:schemeClr val="dk1"/>
                          </a:solidFill>
                          <a:latin typeface="+mn-lt"/>
                          <a:ea typeface="+mn-ea"/>
                          <a:cs typeface="+mn-cs"/>
                        </a:rPr>
                        <a:t>~ + -</a:t>
                      </a: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Complement, unary plus and minus (method names for the last two are +@ and -@)</a:t>
                      </a:r>
                    </a:p>
                  </a:txBody>
                  <a:tcPr/>
                </a:tc>
              </a:tr>
              <a:tr h="402088">
                <a:tc>
                  <a:txBody>
                    <a:bodyPr/>
                    <a:lstStyle/>
                    <a:p>
                      <a:pPr algn="l" fontAlgn="t"/>
                      <a:r>
                        <a:rPr lang="en-IN" dirty="0" smtClean="0"/>
                        <a:t>3</a:t>
                      </a:r>
                      <a:endParaRPr lang="en-IN" dirty="0"/>
                    </a:p>
                  </a:txBody>
                  <a:tcPr marL="76200" marR="76200" marT="76200" marB="76200"/>
                </a:tc>
                <a:tc>
                  <a:txBody>
                    <a:bodyPr/>
                    <a:lstStyle/>
                    <a:p>
                      <a:r>
                        <a:rPr lang="en-IN" sz="1800" b="1" i="0" kern="1200" dirty="0" smtClean="0">
                          <a:solidFill>
                            <a:schemeClr val="dk1"/>
                          </a:solidFill>
                          <a:latin typeface="+mn-lt"/>
                          <a:ea typeface="+mn-ea"/>
                          <a:cs typeface="+mn-cs"/>
                        </a:rPr>
                        <a:t>* / % //</a:t>
                      </a: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Multiply, divide, modulo and floor division</a:t>
                      </a:r>
                    </a:p>
                  </a:txBody>
                  <a:tcPr/>
                </a:tc>
              </a:tr>
              <a:tr h="402088">
                <a:tc>
                  <a:txBody>
                    <a:bodyPr/>
                    <a:lstStyle/>
                    <a:p>
                      <a:pPr algn="l" fontAlgn="t"/>
                      <a:r>
                        <a:rPr lang="en-IN" dirty="0" smtClean="0"/>
                        <a:t>4</a:t>
                      </a:r>
                      <a:endParaRPr lang="en-IN" dirty="0"/>
                    </a:p>
                  </a:txBody>
                  <a:tcPr marL="76200" marR="76200" marT="76200" marB="76200"/>
                </a:tc>
                <a:tc>
                  <a:txBody>
                    <a:bodyPr/>
                    <a:lstStyle/>
                    <a:p>
                      <a:r>
                        <a:rPr lang="en-IN" sz="1800" b="1" i="0" kern="1200" dirty="0" smtClean="0">
                          <a:solidFill>
                            <a:schemeClr val="dk1"/>
                          </a:solidFill>
                          <a:latin typeface="+mn-lt"/>
                          <a:ea typeface="+mn-ea"/>
                          <a:cs typeface="+mn-cs"/>
                        </a:rPr>
                        <a:t>+ -</a:t>
                      </a: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Addition and subtraction</a:t>
                      </a:r>
                    </a:p>
                  </a:txBody>
                  <a:tcPr/>
                </a:tc>
              </a:tr>
              <a:tr h="402088">
                <a:tc>
                  <a:txBody>
                    <a:bodyPr/>
                    <a:lstStyle/>
                    <a:p>
                      <a:pPr algn="l" fontAlgn="t"/>
                      <a:r>
                        <a:rPr lang="en-IN" dirty="0" smtClean="0"/>
                        <a:t>5</a:t>
                      </a:r>
                      <a:endParaRPr lang="en-IN" dirty="0"/>
                    </a:p>
                  </a:txBody>
                  <a:tcPr marL="76200" marR="76200" marT="76200" marB="76200"/>
                </a:tc>
                <a:tc>
                  <a:txBody>
                    <a:bodyPr/>
                    <a:lstStyle/>
                    <a:p>
                      <a:r>
                        <a:rPr lang="en-IN" sz="1800" b="1" i="0" kern="1200" dirty="0" smtClean="0">
                          <a:solidFill>
                            <a:schemeClr val="dk1"/>
                          </a:solidFill>
                          <a:latin typeface="+mn-lt"/>
                          <a:ea typeface="+mn-ea"/>
                          <a:cs typeface="+mn-cs"/>
                        </a:rPr>
                        <a:t>&gt;&gt; </a:t>
                      </a:r>
                      <a:r>
                        <a:rPr lang="en-IN" sz="1800" b="1" i="0" kern="1200" baseline="0" dirty="0" smtClean="0">
                          <a:solidFill>
                            <a:schemeClr val="dk1"/>
                          </a:solidFill>
                          <a:latin typeface="+mn-lt"/>
                          <a:ea typeface="+mn-ea"/>
                          <a:cs typeface="+mn-cs"/>
                        </a:rPr>
                        <a:t>  &lt;&lt;</a:t>
                      </a:r>
                      <a:endParaRPr lang="en-IN" sz="1800" b="1" i="0" kern="1200" dirty="0" smtClean="0">
                        <a:solidFill>
                          <a:schemeClr val="dk1"/>
                        </a:solidFill>
                        <a:latin typeface="+mn-lt"/>
                        <a:ea typeface="+mn-ea"/>
                        <a:cs typeface="+mn-cs"/>
                      </a:endParaRP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Right and left bitwise shift</a:t>
                      </a:r>
                    </a:p>
                  </a:txBody>
                  <a:tcPr/>
                </a:tc>
              </a:tr>
              <a:tr h="402088">
                <a:tc>
                  <a:txBody>
                    <a:bodyPr/>
                    <a:lstStyle/>
                    <a:p>
                      <a:pPr algn="l" fontAlgn="t"/>
                      <a:r>
                        <a:rPr lang="en-IN" dirty="0" smtClean="0"/>
                        <a:t>6</a:t>
                      </a:r>
                      <a:endParaRPr lang="en-IN" dirty="0"/>
                    </a:p>
                  </a:txBody>
                  <a:tcPr marL="76200" marR="76200" marT="76200" marB="76200"/>
                </a:tc>
                <a:tc>
                  <a:txBody>
                    <a:bodyPr/>
                    <a:lstStyle/>
                    <a:p>
                      <a:r>
                        <a:rPr lang="en-IN" sz="1800" b="1" i="0" kern="1200" dirty="0" smtClean="0">
                          <a:solidFill>
                            <a:schemeClr val="dk1"/>
                          </a:solidFill>
                          <a:latin typeface="+mn-lt"/>
                          <a:ea typeface="+mn-ea"/>
                          <a:cs typeface="+mn-cs"/>
                        </a:rPr>
                        <a:t>&amp;</a:t>
                      </a: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Bitwise 'AND‘</a:t>
                      </a:r>
                    </a:p>
                  </a:txBody>
                  <a:tcPr/>
                </a:tc>
              </a:tr>
              <a:tr h="402088">
                <a:tc>
                  <a:txBody>
                    <a:bodyPr/>
                    <a:lstStyle/>
                    <a:p>
                      <a:pPr algn="l" fontAlgn="t"/>
                      <a:r>
                        <a:rPr lang="en-IN" dirty="0" smtClean="0"/>
                        <a:t>7</a:t>
                      </a:r>
                      <a:endParaRPr lang="en-IN" dirty="0"/>
                    </a:p>
                  </a:txBody>
                  <a:tcPr marL="76200" marR="76200" marT="76200" marB="76200"/>
                </a:tc>
                <a:tc>
                  <a:txBody>
                    <a:bodyPr/>
                    <a:lstStyle/>
                    <a:p>
                      <a:r>
                        <a:rPr lang="en-IN" sz="1800" b="1" i="0" kern="1200" dirty="0" smtClean="0">
                          <a:solidFill>
                            <a:schemeClr val="dk1"/>
                          </a:solidFill>
                          <a:latin typeface="+mn-lt"/>
                          <a:ea typeface="+mn-ea"/>
                          <a:cs typeface="+mn-cs"/>
                        </a:rPr>
                        <a:t>^ |</a:t>
                      </a: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Bitwise exclusive `OR' and regular `OR'</a:t>
                      </a:r>
                    </a:p>
                  </a:txBody>
                  <a:tcPr/>
                </a:tc>
              </a:tr>
              <a:tr h="402088">
                <a:tc>
                  <a:txBody>
                    <a:bodyPr/>
                    <a:lstStyle/>
                    <a:p>
                      <a:pPr algn="l" fontAlgn="t"/>
                      <a:r>
                        <a:rPr lang="en-IN" dirty="0" smtClean="0"/>
                        <a:t>8</a:t>
                      </a:r>
                      <a:endParaRPr lang="en-IN" dirty="0"/>
                    </a:p>
                  </a:txBody>
                  <a:tcPr marL="76200" marR="76200" marT="76200" marB="76200"/>
                </a:tc>
                <a:tc>
                  <a:txBody>
                    <a:bodyPr/>
                    <a:lstStyle/>
                    <a:p>
                      <a:r>
                        <a:rPr lang="en-IN" sz="1800" b="1" i="0" kern="1200" dirty="0" smtClean="0">
                          <a:solidFill>
                            <a:schemeClr val="dk1"/>
                          </a:solidFill>
                          <a:latin typeface="+mn-lt"/>
                          <a:ea typeface="+mn-ea"/>
                          <a:cs typeface="+mn-cs"/>
                        </a:rPr>
                        <a:t>&lt;= &lt; &gt; &gt;=</a:t>
                      </a: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Comparison operators</a:t>
                      </a:r>
                    </a:p>
                  </a:txBody>
                  <a:tcPr/>
                </a:tc>
              </a:tr>
              <a:tr h="402088">
                <a:tc>
                  <a:txBody>
                    <a:bodyPr/>
                    <a:lstStyle/>
                    <a:p>
                      <a:pPr algn="l" fontAlgn="t"/>
                      <a:r>
                        <a:rPr lang="en-IN" dirty="0" smtClean="0"/>
                        <a:t>9</a:t>
                      </a:r>
                      <a:endParaRPr lang="en-IN" dirty="0"/>
                    </a:p>
                  </a:txBody>
                  <a:tcPr marL="76200" marR="76200" marT="76200" marB="76200"/>
                </a:tc>
                <a:tc>
                  <a:txBody>
                    <a:bodyPr/>
                    <a:lstStyle/>
                    <a:p>
                      <a:r>
                        <a:rPr lang="en-IN" sz="1800" b="1" i="0" kern="1200" dirty="0" smtClean="0">
                          <a:solidFill>
                            <a:schemeClr val="dk1"/>
                          </a:solidFill>
                          <a:latin typeface="+mn-lt"/>
                          <a:ea typeface="+mn-ea"/>
                          <a:cs typeface="+mn-cs"/>
                        </a:rPr>
                        <a:t>&lt;&gt; == !=</a:t>
                      </a: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Equality operators</a:t>
                      </a:r>
                    </a:p>
                  </a:txBody>
                  <a:tcPr/>
                </a:tc>
              </a:tr>
              <a:tr h="402088">
                <a:tc>
                  <a:txBody>
                    <a:bodyPr/>
                    <a:lstStyle/>
                    <a:p>
                      <a:pPr algn="l" fontAlgn="t"/>
                      <a:r>
                        <a:rPr lang="en-IN" dirty="0" smtClean="0"/>
                        <a:t>10</a:t>
                      </a:r>
                      <a:endParaRPr lang="en-IN" dirty="0"/>
                    </a:p>
                  </a:txBody>
                  <a:tcPr marL="76200" marR="76200" marT="76200" marB="76200"/>
                </a:tc>
                <a:tc>
                  <a:txBody>
                    <a:bodyPr/>
                    <a:lstStyle/>
                    <a:p>
                      <a:r>
                        <a:rPr lang="en-IN" sz="1800" b="1" i="0" kern="1200" dirty="0" smtClean="0">
                          <a:solidFill>
                            <a:schemeClr val="dk1"/>
                          </a:solidFill>
                          <a:latin typeface="+mn-lt"/>
                          <a:ea typeface="+mn-ea"/>
                          <a:cs typeface="+mn-cs"/>
                        </a:rPr>
                        <a:t>= %= /= //= -= += *= **=</a:t>
                      </a: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Assignment operators</a:t>
                      </a:r>
                    </a:p>
                  </a:txBody>
                  <a:tcPr/>
                </a:tc>
              </a:tr>
              <a:tr h="402088">
                <a:tc>
                  <a:txBody>
                    <a:bodyPr/>
                    <a:lstStyle/>
                    <a:p>
                      <a:pPr algn="l" fontAlgn="t"/>
                      <a:r>
                        <a:rPr lang="en-IN" dirty="0" smtClean="0"/>
                        <a:t>11</a:t>
                      </a:r>
                      <a:endParaRPr lang="en-IN" dirty="0"/>
                    </a:p>
                  </a:txBody>
                  <a:tcPr marL="76200" marR="76200" marT="76200" marB="76200"/>
                </a:tc>
                <a:tc>
                  <a:txBody>
                    <a:bodyPr/>
                    <a:lstStyle/>
                    <a:p>
                      <a:r>
                        <a:rPr lang="en-IN" sz="1800" b="1" i="0" kern="1200" dirty="0" smtClean="0">
                          <a:solidFill>
                            <a:schemeClr val="dk1"/>
                          </a:solidFill>
                          <a:latin typeface="+mn-lt"/>
                          <a:ea typeface="+mn-ea"/>
                          <a:cs typeface="+mn-cs"/>
                        </a:rPr>
                        <a:t>is </a:t>
                      </a:r>
                      <a:r>
                        <a:rPr lang="en-IN" sz="1800" b="1" i="0" kern="1200" dirty="0" err="1" smtClean="0">
                          <a:solidFill>
                            <a:schemeClr val="dk1"/>
                          </a:solidFill>
                          <a:latin typeface="+mn-lt"/>
                          <a:ea typeface="+mn-ea"/>
                          <a:cs typeface="+mn-cs"/>
                        </a:rPr>
                        <a:t>is</a:t>
                      </a:r>
                      <a:r>
                        <a:rPr lang="en-IN" sz="1800" b="1" i="0" kern="1200" dirty="0" smtClean="0">
                          <a:solidFill>
                            <a:schemeClr val="dk1"/>
                          </a:solidFill>
                          <a:latin typeface="+mn-lt"/>
                          <a:ea typeface="+mn-ea"/>
                          <a:cs typeface="+mn-cs"/>
                        </a:rPr>
                        <a:t> not</a:t>
                      </a: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Identity operators</a:t>
                      </a:r>
                    </a:p>
                  </a:txBody>
                  <a:tcPr/>
                </a:tc>
              </a:tr>
              <a:tr h="402088">
                <a:tc>
                  <a:txBody>
                    <a:bodyPr/>
                    <a:lstStyle/>
                    <a:p>
                      <a:pPr algn="l" fontAlgn="t"/>
                      <a:r>
                        <a:rPr lang="en-IN" dirty="0" smtClean="0"/>
                        <a:t>12</a:t>
                      </a:r>
                      <a:endParaRPr lang="en-IN" dirty="0"/>
                    </a:p>
                  </a:txBody>
                  <a:tcPr marL="76200" marR="76200" marT="76200" marB="76200"/>
                </a:tc>
                <a:tc>
                  <a:txBody>
                    <a:bodyPr/>
                    <a:lstStyle/>
                    <a:p>
                      <a:pPr algn="just" fontAlgn="t"/>
                      <a:r>
                        <a:rPr lang="en-IN" b="1" dirty="0">
                          <a:solidFill>
                            <a:srgbClr val="000000"/>
                          </a:solidFill>
                        </a:rPr>
                        <a:t>in not </a:t>
                      </a:r>
                      <a:r>
                        <a:rPr lang="en-IN" b="1" dirty="0" smtClean="0">
                          <a:solidFill>
                            <a:srgbClr val="000000"/>
                          </a:solidFill>
                        </a:rPr>
                        <a:t>in</a:t>
                      </a:r>
                      <a:endParaRPr lang="en-IN" b="1" dirty="0">
                        <a:solidFill>
                          <a:srgbClr val="000000"/>
                        </a:solidFill>
                      </a:endParaRP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0000"/>
                          </a:solidFill>
                        </a:rPr>
                        <a:t>Membership operators</a:t>
                      </a:r>
                    </a:p>
                  </a:txBody>
                  <a:tcPr/>
                </a:tc>
              </a:tr>
              <a:tr h="402088">
                <a:tc>
                  <a:txBody>
                    <a:bodyPr/>
                    <a:lstStyle/>
                    <a:p>
                      <a:pPr algn="l" fontAlgn="t"/>
                      <a:r>
                        <a:rPr lang="en-IN" dirty="0" smtClean="0"/>
                        <a:t>13</a:t>
                      </a:r>
                      <a:endParaRPr lang="en-IN" dirty="0"/>
                    </a:p>
                  </a:txBody>
                  <a:tcPr marL="76200" marR="76200" marT="76200" marB="7620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IN" b="1" dirty="0" smtClean="0">
                          <a:solidFill>
                            <a:srgbClr val="000000"/>
                          </a:solidFill>
                        </a:rPr>
                        <a:t>not or and</a:t>
                      </a:r>
                    </a:p>
                  </a:txBody>
                  <a:tcPr marL="76200" marR="76200" marT="76200" marB="76200"/>
                </a:tc>
                <a:tc>
                  <a:txBody>
                    <a:bodyPr/>
                    <a:lstStyle/>
                    <a:p>
                      <a:pPr algn="just" fontAlgn="t"/>
                      <a:r>
                        <a:rPr lang="en-IN" dirty="0" smtClean="0">
                          <a:solidFill>
                            <a:srgbClr val="000000"/>
                          </a:solidFill>
                        </a:rPr>
                        <a:t>Logical </a:t>
                      </a:r>
                      <a:r>
                        <a:rPr lang="en-IN" dirty="0">
                          <a:solidFill>
                            <a:srgbClr val="000000"/>
                          </a:solidFill>
                        </a:rPr>
                        <a:t>operators</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Decision </a:t>
            </a:r>
            <a:r>
              <a:rPr lang="en-IN" dirty="0" smtClean="0"/>
              <a:t>Making</a:t>
            </a:r>
            <a:endParaRPr lang="en-IN" dirty="0"/>
          </a:p>
        </p:txBody>
      </p:sp>
      <p:pic>
        <p:nvPicPr>
          <p:cNvPr id="74753" name="Picture 1"/>
          <p:cNvPicPr>
            <a:picLocks noGrp="1" noChangeAspect="1" noChangeArrowheads="1"/>
          </p:cNvPicPr>
          <p:nvPr>
            <p:ph idx="1"/>
          </p:nvPr>
        </p:nvPicPr>
        <p:blipFill>
          <a:blip r:embed="rId2"/>
          <a:srcRect/>
          <a:stretch>
            <a:fillRect/>
          </a:stretch>
        </p:blipFill>
        <p:spPr bwMode="auto">
          <a:xfrm>
            <a:off x="2714612" y="2357430"/>
            <a:ext cx="3048000" cy="3271837"/>
          </a:xfrm>
          <a:prstGeom prst="rect">
            <a:avLst/>
          </a:prstGeom>
          <a:noFill/>
          <a:ln w="9525">
            <a:noFill/>
            <a:miter lim="800000"/>
            <a:headEnd/>
            <a:tailEnd/>
          </a:ln>
          <a:effectLst/>
        </p:spPr>
      </p:pic>
      <p:sp>
        <p:nvSpPr>
          <p:cNvPr id="5" name="Content Placeholder 2"/>
          <p:cNvSpPr txBox="1">
            <a:spLocks/>
          </p:cNvSpPr>
          <p:nvPr/>
        </p:nvSpPr>
        <p:spPr>
          <a:xfrm>
            <a:off x="0" y="5572140"/>
            <a:ext cx="9144000" cy="12858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2600" b="0" i="0" u="none" strike="noStrike" kern="1200" cap="none" spc="0" normalizeH="0" baseline="0" noProof="0" dirty="0" smtClean="0">
                <a:ln>
                  <a:noFill/>
                </a:ln>
                <a:solidFill>
                  <a:schemeClr val="tx1"/>
                </a:solidFill>
                <a:effectLst/>
                <a:uLnTx/>
                <a:uFillTx/>
                <a:latin typeface="+mn-lt"/>
                <a:ea typeface="+mn-ea"/>
                <a:cs typeface="+mn-cs"/>
              </a:rPr>
              <a:t>Python programming language assumes any </a:t>
            </a:r>
            <a:r>
              <a:rPr kumimoji="0" lang="en-IN" sz="2600" b="1" i="0" u="none" strike="noStrike" kern="1200" cap="none" spc="0" normalizeH="0" baseline="0" noProof="0" dirty="0" smtClean="0">
                <a:ln>
                  <a:noFill/>
                </a:ln>
                <a:solidFill>
                  <a:schemeClr val="tx1"/>
                </a:solidFill>
                <a:effectLst/>
                <a:uLnTx/>
                <a:uFillTx/>
                <a:latin typeface="+mn-lt"/>
                <a:ea typeface="+mn-ea"/>
                <a:cs typeface="+mn-cs"/>
              </a:rPr>
              <a:t>non-zero</a:t>
            </a:r>
            <a:r>
              <a:rPr kumimoji="0" lang="en-IN" sz="2600" b="0" i="0" u="none" strike="noStrike" kern="1200" cap="none" spc="0" normalizeH="0" baseline="0" noProof="0" dirty="0" smtClean="0">
                <a:ln>
                  <a:noFill/>
                </a:ln>
                <a:solidFill>
                  <a:schemeClr val="tx1"/>
                </a:solidFill>
                <a:effectLst/>
                <a:uLnTx/>
                <a:uFillTx/>
                <a:latin typeface="+mn-lt"/>
                <a:ea typeface="+mn-ea"/>
                <a:cs typeface="+mn-cs"/>
              </a:rPr>
              <a:t> and </a:t>
            </a:r>
            <a:r>
              <a:rPr kumimoji="0" lang="en-IN" sz="2600" b="1" i="0" u="none" strike="noStrike" kern="1200" cap="none" spc="0" normalizeH="0" baseline="0" noProof="0" dirty="0" smtClean="0">
                <a:ln>
                  <a:noFill/>
                </a:ln>
                <a:solidFill>
                  <a:schemeClr val="tx1"/>
                </a:solidFill>
                <a:effectLst/>
                <a:uLnTx/>
                <a:uFillTx/>
                <a:latin typeface="+mn-lt"/>
                <a:ea typeface="+mn-ea"/>
                <a:cs typeface="+mn-cs"/>
              </a:rPr>
              <a:t>non-null</a:t>
            </a:r>
            <a:r>
              <a:rPr kumimoji="0" lang="en-IN" sz="2600" b="0" i="0" u="none" strike="noStrike" kern="1200" cap="none" spc="0" normalizeH="0" baseline="0" noProof="0" dirty="0" smtClean="0">
                <a:ln>
                  <a:noFill/>
                </a:ln>
                <a:solidFill>
                  <a:schemeClr val="tx1"/>
                </a:solidFill>
                <a:effectLst/>
                <a:uLnTx/>
                <a:uFillTx/>
                <a:latin typeface="+mn-lt"/>
                <a:ea typeface="+mn-ea"/>
                <a:cs typeface="+mn-cs"/>
              </a:rPr>
              <a:t> values as TRUE, and if it is either </a:t>
            </a:r>
            <a:r>
              <a:rPr kumimoji="0" lang="en-IN" sz="2600" b="1" i="0" u="none" strike="noStrike" kern="1200" cap="none" spc="0" normalizeH="0" baseline="0" noProof="0" dirty="0" smtClean="0">
                <a:ln>
                  <a:noFill/>
                </a:ln>
                <a:solidFill>
                  <a:schemeClr val="tx1"/>
                </a:solidFill>
                <a:effectLst/>
                <a:uLnTx/>
                <a:uFillTx/>
                <a:latin typeface="+mn-lt"/>
                <a:ea typeface="+mn-ea"/>
                <a:cs typeface="+mn-cs"/>
              </a:rPr>
              <a:t>zero</a:t>
            </a:r>
            <a:r>
              <a:rPr kumimoji="0" lang="en-IN" sz="2600" b="0" i="0" u="none" strike="noStrike" kern="1200" cap="none" spc="0" normalizeH="0" baseline="0" noProof="0" dirty="0" smtClean="0">
                <a:ln>
                  <a:noFill/>
                </a:ln>
                <a:solidFill>
                  <a:schemeClr val="tx1"/>
                </a:solidFill>
                <a:effectLst/>
                <a:uLnTx/>
                <a:uFillTx/>
                <a:latin typeface="+mn-lt"/>
                <a:ea typeface="+mn-ea"/>
                <a:cs typeface="+mn-cs"/>
              </a:rPr>
              <a:t> or </a:t>
            </a:r>
            <a:r>
              <a:rPr kumimoji="0" lang="en-IN" sz="2600" b="1" i="0" u="none" strike="noStrike" kern="1200" cap="none" spc="0" normalizeH="0" baseline="0" noProof="0" dirty="0" smtClean="0">
                <a:ln>
                  <a:noFill/>
                </a:ln>
                <a:solidFill>
                  <a:schemeClr val="tx1"/>
                </a:solidFill>
                <a:effectLst/>
                <a:uLnTx/>
                <a:uFillTx/>
                <a:latin typeface="+mn-lt"/>
                <a:ea typeface="+mn-ea"/>
                <a:cs typeface="+mn-cs"/>
              </a:rPr>
              <a:t>null</a:t>
            </a:r>
            <a:r>
              <a:rPr kumimoji="0" lang="en-IN" sz="2600" b="0" i="0" u="none" strike="noStrike" kern="1200" cap="none" spc="0" normalizeH="0" baseline="0" noProof="0" dirty="0" smtClean="0">
                <a:ln>
                  <a:noFill/>
                </a:ln>
                <a:solidFill>
                  <a:schemeClr val="tx1"/>
                </a:solidFill>
                <a:effectLst/>
                <a:uLnTx/>
                <a:uFillTx/>
                <a:latin typeface="+mn-lt"/>
                <a:ea typeface="+mn-ea"/>
                <a:cs typeface="+mn-cs"/>
              </a:rPr>
              <a:t>, then it is assumed as FALSE value.</a:t>
            </a:r>
          </a:p>
        </p:txBody>
      </p:sp>
      <p:sp>
        <p:nvSpPr>
          <p:cNvPr id="6" name="Rectangle 5"/>
          <p:cNvSpPr/>
          <p:nvPr/>
        </p:nvSpPr>
        <p:spPr>
          <a:xfrm>
            <a:off x="0" y="785794"/>
            <a:ext cx="9144000" cy="1692771"/>
          </a:xfrm>
          <a:prstGeom prst="rect">
            <a:avLst/>
          </a:prstGeom>
        </p:spPr>
        <p:txBody>
          <a:bodyPr wrap="square">
            <a:spAutoFit/>
          </a:bodyPr>
          <a:lstStyle/>
          <a:p>
            <a:pPr marL="342900" lvl="0" indent="-342900">
              <a:spcBef>
                <a:spcPct val="20000"/>
              </a:spcBef>
              <a:buFont typeface="Arial" pitchFamily="34" charset="0"/>
              <a:buChar char="•"/>
            </a:pPr>
            <a:r>
              <a:rPr lang="en-IN" sz="2600" dirty="0" smtClean="0"/>
              <a:t>Decision structures evaluate multiple expressions which produce TRUE or FALSE as outcome. You need to determine which action to take and which statements to execute if outcome is TRUE or FALSE otherwise.</a:t>
            </a:r>
            <a:endParaRPr lang="en-IN" sz="26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graphicFrame>
        <p:nvGraphicFramePr>
          <p:cNvPr id="4" name="Content Placeholder 3"/>
          <p:cNvGraphicFramePr>
            <a:graphicFrameLocks noGrp="1"/>
          </p:cNvGraphicFramePr>
          <p:nvPr>
            <p:ph idx="1"/>
          </p:nvPr>
        </p:nvGraphicFramePr>
        <p:xfrm>
          <a:off x="457200" y="1071563"/>
          <a:ext cx="8229600" cy="3540760"/>
        </p:xfrm>
        <a:graphic>
          <a:graphicData uri="http://schemas.openxmlformats.org/drawingml/2006/table">
            <a:tbl>
              <a:tblPr firstRow="1" bandRow="1">
                <a:tableStyleId>{5C22544A-7EE6-4342-B048-85BDC9FD1C3A}</a:tableStyleId>
              </a:tblPr>
              <a:tblGrid>
                <a:gridCol w="828652"/>
                <a:gridCol w="2143140"/>
                <a:gridCol w="5257808"/>
              </a:tblGrid>
              <a:tr h="370840">
                <a:tc>
                  <a:txBody>
                    <a:bodyPr/>
                    <a:lstStyle/>
                    <a:p>
                      <a:r>
                        <a:rPr lang="en-IN" dirty="0" smtClean="0"/>
                        <a:t>Sl. No.</a:t>
                      </a:r>
                      <a:endParaRPr lang="en-IN" dirty="0"/>
                    </a:p>
                  </a:txBody>
                  <a:tcPr/>
                </a:tc>
                <a:tc>
                  <a:txBody>
                    <a:bodyPr/>
                    <a:lstStyle/>
                    <a:p>
                      <a:r>
                        <a:rPr lang="en-IN" sz="1800" b="1" i="0" kern="1200" dirty="0" smtClean="0">
                          <a:solidFill>
                            <a:schemeClr val="lt1"/>
                          </a:solidFill>
                          <a:latin typeface="+mn-lt"/>
                          <a:ea typeface="+mn-ea"/>
                          <a:cs typeface="+mn-cs"/>
                        </a:rPr>
                        <a:t>Statement </a:t>
                      </a:r>
                      <a:endParaRPr lang="en-IN" dirty="0"/>
                    </a:p>
                  </a:txBody>
                  <a:tcPr/>
                </a:tc>
                <a:tc>
                  <a:txBody>
                    <a:bodyPr/>
                    <a:lstStyle/>
                    <a:p>
                      <a:r>
                        <a:rPr lang="en-IN" sz="1800" b="1" i="0" kern="1200" dirty="0" smtClean="0">
                          <a:solidFill>
                            <a:schemeClr val="lt1"/>
                          </a:solidFill>
                          <a:latin typeface="+mn-lt"/>
                          <a:ea typeface="+mn-ea"/>
                          <a:cs typeface="+mn-cs"/>
                        </a:rPr>
                        <a:t>Description</a:t>
                      </a:r>
                      <a:endParaRPr lang="en-IN" dirty="0"/>
                    </a:p>
                  </a:txBody>
                  <a:tcPr/>
                </a:tc>
              </a:tr>
              <a:tr h="370840">
                <a:tc>
                  <a:txBody>
                    <a:bodyPr/>
                    <a:lstStyle/>
                    <a:p>
                      <a:pPr algn="ctr" fontAlgn="t"/>
                      <a:r>
                        <a:rPr lang="en-IN" dirty="0"/>
                        <a:t>1</a:t>
                      </a:r>
                    </a:p>
                  </a:txBody>
                  <a:tcPr marL="76200" marR="76200" marT="76200" marB="76200"/>
                </a:tc>
                <a:tc>
                  <a:txBody>
                    <a:bodyPr/>
                    <a:lstStyle/>
                    <a:p>
                      <a:pPr algn="just" fontAlgn="t"/>
                      <a:r>
                        <a:rPr lang="en-IN" b="1" u="none" strike="noStrike" dirty="0">
                          <a:solidFill>
                            <a:srgbClr val="313131"/>
                          </a:solidFill>
                          <a:hlinkClick r:id="rId2" tooltip="Python IF Statements"/>
                        </a:rPr>
                        <a:t>if </a:t>
                      </a:r>
                      <a:r>
                        <a:rPr lang="en-IN" b="1" u="none" strike="noStrike" dirty="0" smtClean="0">
                          <a:solidFill>
                            <a:srgbClr val="313131"/>
                          </a:solidFill>
                          <a:hlinkClick r:id="rId2" tooltip="Python IF Statements"/>
                        </a:rPr>
                        <a:t>statements</a:t>
                      </a:r>
                      <a:endParaRPr lang="en-IN" b="1" u="none" strike="noStrike" dirty="0" smtClean="0">
                        <a:solidFill>
                          <a:srgbClr val="313131"/>
                        </a:solidFill>
                      </a:endParaRPr>
                    </a:p>
                    <a:p>
                      <a:pPr algn="just" fontAlgn="t"/>
                      <a:endParaRPr lang="en-IN" dirty="0">
                        <a:solidFill>
                          <a:srgbClr val="000000"/>
                        </a:solidFill>
                      </a:endParaRPr>
                    </a:p>
                  </a:txBody>
                  <a:tcPr marL="76200" marR="76200" marT="76200" marB="76200"/>
                </a:tc>
                <a:tc>
                  <a:txBody>
                    <a:bodyPr/>
                    <a:lstStyle/>
                    <a:p>
                      <a:r>
                        <a:rPr lang="en-IN" dirty="0" smtClean="0">
                          <a:solidFill>
                            <a:srgbClr val="000000"/>
                          </a:solidFill>
                        </a:rPr>
                        <a:t>An </a:t>
                      </a:r>
                      <a:r>
                        <a:rPr lang="en-IN" b="1" dirty="0" smtClean="0">
                          <a:solidFill>
                            <a:srgbClr val="000000"/>
                          </a:solidFill>
                        </a:rPr>
                        <a:t>if statement</a:t>
                      </a:r>
                      <a:r>
                        <a:rPr lang="en-IN" dirty="0" smtClean="0">
                          <a:solidFill>
                            <a:srgbClr val="000000"/>
                          </a:solidFill>
                        </a:rPr>
                        <a:t> consists of a </a:t>
                      </a:r>
                      <a:r>
                        <a:rPr lang="en-IN" dirty="0" err="1" smtClean="0">
                          <a:solidFill>
                            <a:srgbClr val="000000"/>
                          </a:solidFill>
                        </a:rPr>
                        <a:t>boolean</a:t>
                      </a:r>
                      <a:r>
                        <a:rPr lang="en-IN" dirty="0" smtClean="0">
                          <a:solidFill>
                            <a:srgbClr val="000000"/>
                          </a:solidFill>
                        </a:rPr>
                        <a:t> expression followed by one or more statements.</a:t>
                      </a:r>
                      <a:endParaRPr lang="en-IN" dirty="0"/>
                    </a:p>
                  </a:txBody>
                  <a:tcPr/>
                </a:tc>
              </a:tr>
              <a:tr h="370840">
                <a:tc>
                  <a:txBody>
                    <a:bodyPr/>
                    <a:lstStyle/>
                    <a:p>
                      <a:pPr algn="ctr" fontAlgn="t"/>
                      <a:r>
                        <a:rPr lang="en-IN"/>
                        <a:t>2</a:t>
                      </a:r>
                    </a:p>
                  </a:txBody>
                  <a:tcPr marL="76200" marR="76200" marT="76200" marB="76200"/>
                </a:tc>
                <a:tc>
                  <a:txBody>
                    <a:bodyPr/>
                    <a:lstStyle/>
                    <a:p>
                      <a:pPr algn="just" fontAlgn="t"/>
                      <a:r>
                        <a:rPr lang="en-IN" b="1" u="none" strike="noStrike" dirty="0">
                          <a:solidFill>
                            <a:srgbClr val="313131"/>
                          </a:solidFill>
                          <a:hlinkClick r:id="rId3" tooltip="Python IF...ELIF...ELSE Statements"/>
                        </a:rPr>
                        <a:t>if...else </a:t>
                      </a:r>
                      <a:r>
                        <a:rPr lang="en-IN" b="1" u="none" strike="noStrike" dirty="0" smtClean="0">
                          <a:solidFill>
                            <a:srgbClr val="313131"/>
                          </a:solidFill>
                          <a:hlinkClick r:id="rId3" tooltip="Python IF...ELIF...ELSE Statements"/>
                        </a:rPr>
                        <a:t>statements</a:t>
                      </a:r>
                      <a:endParaRPr lang="en-IN" dirty="0">
                        <a:solidFill>
                          <a:srgbClr val="000000"/>
                        </a:solidFill>
                      </a:endParaRPr>
                    </a:p>
                  </a:txBody>
                  <a:tcPr marL="76200" marR="76200" marT="76200" marB="76200"/>
                </a:tc>
                <a:tc>
                  <a:txBody>
                    <a:bodyPr/>
                    <a:lstStyle/>
                    <a:p>
                      <a:r>
                        <a:rPr lang="en-IN" dirty="0" smtClean="0">
                          <a:solidFill>
                            <a:srgbClr val="000000"/>
                          </a:solidFill>
                        </a:rPr>
                        <a:t>An </a:t>
                      </a:r>
                      <a:r>
                        <a:rPr lang="en-IN" b="1" dirty="0" smtClean="0">
                          <a:solidFill>
                            <a:srgbClr val="000000"/>
                          </a:solidFill>
                        </a:rPr>
                        <a:t>if statement</a:t>
                      </a:r>
                      <a:r>
                        <a:rPr lang="en-IN" dirty="0" smtClean="0">
                          <a:solidFill>
                            <a:srgbClr val="000000"/>
                          </a:solidFill>
                        </a:rPr>
                        <a:t> can be followed by an optional </a:t>
                      </a:r>
                      <a:r>
                        <a:rPr lang="en-IN" b="1" dirty="0" smtClean="0">
                          <a:solidFill>
                            <a:srgbClr val="000000"/>
                          </a:solidFill>
                        </a:rPr>
                        <a:t>else statement</a:t>
                      </a:r>
                      <a:r>
                        <a:rPr lang="en-IN" dirty="0" smtClean="0">
                          <a:solidFill>
                            <a:srgbClr val="000000"/>
                          </a:solidFill>
                        </a:rPr>
                        <a:t>, which executes when the </a:t>
                      </a:r>
                      <a:r>
                        <a:rPr lang="en-IN" dirty="0" err="1" smtClean="0">
                          <a:solidFill>
                            <a:srgbClr val="000000"/>
                          </a:solidFill>
                        </a:rPr>
                        <a:t>boolean</a:t>
                      </a:r>
                      <a:r>
                        <a:rPr lang="en-IN" dirty="0" smtClean="0">
                          <a:solidFill>
                            <a:srgbClr val="000000"/>
                          </a:solidFill>
                        </a:rPr>
                        <a:t> expression is FALSE.</a:t>
                      </a:r>
                      <a:endParaRPr lang="en-IN" dirty="0"/>
                    </a:p>
                  </a:txBody>
                  <a:tcPr/>
                </a:tc>
              </a:tr>
              <a:tr h="370840">
                <a:tc>
                  <a:txBody>
                    <a:bodyPr/>
                    <a:lstStyle/>
                    <a:p>
                      <a:pPr algn="ctr" fontAlgn="t"/>
                      <a:r>
                        <a:rPr lang="en-IN"/>
                        <a:t>3</a:t>
                      </a:r>
                    </a:p>
                  </a:txBody>
                  <a:tcPr marL="76200" marR="76200" marT="76200" marB="76200"/>
                </a:tc>
                <a:tc>
                  <a:txBody>
                    <a:bodyPr/>
                    <a:lstStyle/>
                    <a:p>
                      <a:pPr algn="just" fontAlgn="t"/>
                      <a:r>
                        <a:rPr lang="en-IN" b="1" u="none" strike="noStrike" dirty="0">
                          <a:solidFill>
                            <a:srgbClr val="313131"/>
                          </a:solidFill>
                          <a:hlinkClick r:id="rId4" tooltip="nested if statements in Python"/>
                        </a:rPr>
                        <a:t>nested if </a:t>
                      </a:r>
                      <a:r>
                        <a:rPr lang="en-IN" b="1" u="none" strike="noStrike" dirty="0" smtClean="0">
                          <a:solidFill>
                            <a:srgbClr val="313131"/>
                          </a:solidFill>
                          <a:hlinkClick r:id="rId4" tooltip="nested if statements in Python"/>
                        </a:rPr>
                        <a:t>statements</a:t>
                      </a:r>
                      <a:endParaRPr lang="en-IN" dirty="0">
                        <a:solidFill>
                          <a:srgbClr val="000000"/>
                        </a:solidFill>
                      </a:endParaRPr>
                    </a:p>
                  </a:txBody>
                  <a:tcPr marL="76200" marR="76200" marT="76200" marB="76200"/>
                </a:tc>
                <a:tc>
                  <a:txBody>
                    <a:bodyPr/>
                    <a:lstStyle/>
                    <a:p>
                      <a:r>
                        <a:rPr lang="en-IN" dirty="0" smtClean="0">
                          <a:solidFill>
                            <a:srgbClr val="000000"/>
                          </a:solidFill>
                        </a:rPr>
                        <a:t>You can use one </a:t>
                      </a:r>
                      <a:r>
                        <a:rPr lang="en-IN" b="1" dirty="0" smtClean="0">
                          <a:solidFill>
                            <a:srgbClr val="000000"/>
                          </a:solidFill>
                        </a:rPr>
                        <a:t>if</a:t>
                      </a:r>
                      <a:r>
                        <a:rPr lang="en-IN" dirty="0" smtClean="0">
                          <a:solidFill>
                            <a:srgbClr val="000000"/>
                          </a:solidFill>
                        </a:rPr>
                        <a:t> or </a:t>
                      </a:r>
                      <a:r>
                        <a:rPr lang="en-IN" b="1" dirty="0" smtClean="0">
                          <a:solidFill>
                            <a:srgbClr val="000000"/>
                          </a:solidFill>
                        </a:rPr>
                        <a:t>else if</a:t>
                      </a:r>
                      <a:r>
                        <a:rPr lang="en-IN" dirty="0" smtClean="0">
                          <a:solidFill>
                            <a:srgbClr val="000000"/>
                          </a:solidFill>
                        </a:rPr>
                        <a:t> statement inside another </a:t>
                      </a:r>
                      <a:r>
                        <a:rPr lang="en-IN" b="1" dirty="0" smtClean="0">
                          <a:solidFill>
                            <a:srgbClr val="000000"/>
                          </a:solidFill>
                        </a:rPr>
                        <a:t>if</a:t>
                      </a:r>
                      <a:r>
                        <a:rPr lang="en-IN" dirty="0" smtClean="0">
                          <a:solidFill>
                            <a:srgbClr val="000000"/>
                          </a:solidFill>
                        </a:rPr>
                        <a:t> or </a:t>
                      </a:r>
                      <a:r>
                        <a:rPr lang="en-IN" b="1" dirty="0" smtClean="0">
                          <a:solidFill>
                            <a:srgbClr val="000000"/>
                          </a:solidFill>
                        </a:rPr>
                        <a:t>else if </a:t>
                      </a:r>
                      <a:r>
                        <a:rPr lang="en-IN" dirty="0" smtClean="0">
                          <a:solidFill>
                            <a:srgbClr val="000000"/>
                          </a:solidFill>
                        </a:rPr>
                        <a:t>statement(s).</a:t>
                      </a:r>
                      <a:endParaRPr lang="en-IN" dirty="0"/>
                    </a:p>
                  </a:txBody>
                  <a:tcPr/>
                </a:tc>
              </a:tr>
              <a:tr h="370840">
                <a:tc>
                  <a:txBody>
                    <a:bodyPr/>
                    <a:lstStyle/>
                    <a:p>
                      <a:pPr algn="ctr" fontAlgn="t"/>
                      <a:r>
                        <a:rPr lang="en-IN" dirty="0" smtClean="0"/>
                        <a:t>4</a:t>
                      </a:r>
                      <a:endParaRPr lang="en-IN" dirty="0"/>
                    </a:p>
                  </a:txBody>
                  <a:tcPr marL="76200" marR="76200" marT="76200" marB="76200"/>
                </a:tc>
                <a:tc>
                  <a:txBody>
                    <a:bodyPr/>
                    <a:lstStyle/>
                    <a:p>
                      <a:pPr algn="just" fontAlgn="t"/>
                      <a:r>
                        <a:rPr lang="en-IN" dirty="0" err="1" smtClean="0">
                          <a:solidFill>
                            <a:srgbClr val="000000"/>
                          </a:solidFill>
                        </a:rPr>
                        <a:t>elif</a:t>
                      </a:r>
                      <a:endParaRPr lang="en-IN" dirty="0">
                        <a:solidFill>
                          <a:srgbClr val="000000"/>
                        </a:solidFill>
                      </a:endParaRP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0000"/>
                          </a:solidFill>
                        </a:rPr>
                        <a:t>An </a:t>
                      </a:r>
                      <a:r>
                        <a:rPr lang="en-IN" b="1" dirty="0" smtClean="0">
                          <a:solidFill>
                            <a:srgbClr val="000000"/>
                          </a:solidFill>
                        </a:rPr>
                        <a:t>if statement</a:t>
                      </a:r>
                      <a:r>
                        <a:rPr lang="en-IN" dirty="0" smtClean="0">
                          <a:solidFill>
                            <a:srgbClr val="000000"/>
                          </a:solidFill>
                        </a:rPr>
                        <a:t> can be followed by an optional </a:t>
                      </a:r>
                      <a:r>
                        <a:rPr lang="en-IN" dirty="0" err="1" smtClean="0">
                          <a:solidFill>
                            <a:srgbClr val="000000"/>
                          </a:solidFill>
                        </a:rPr>
                        <a:t>elif</a:t>
                      </a:r>
                      <a:r>
                        <a:rPr lang="en-IN" b="1" dirty="0" smtClean="0">
                          <a:solidFill>
                            <a:srgbClr val="000000"/>
                          </a:solidFill>
                        </a:rPr>
                        <a:t> statement to check multiple conditions</a:t>
                      </a:r>
                      <a:r>
                        <a:rPr lang="en-IN" dirty="0" smtClean="0">
                          <a:solidFill>
                            <a:srgbClr val="000000"/>
                          </a:solidFill>
                        </a:rPr>
                        <a:t>, which executes when the </a:t>
                      </a:r>
                      <a:r>
                        <a:rPr lang="en-IN" dirty="0" err="1" smtClean="0">
                          <a:solidFill>
                            <a:srgbClr val="000000"/>
                          </a:solidFill>
                        </a:rPr>
                        <a:t>boolean</a:t>
                      </a:r>
                      <a:r>
                        <a:rPr lang="en-IN" dirty="0" smtClean="0">
                          <a:solidFill>
                            <a:srgbClr val="000000"/>
                          </a:solidFill>
                        </a:rPr>
                        <a:t> expression is FALSE.</a:t>
                      </a:r>
                      <a:endParaRPr lang="en-IN" dirty="0" smtClean="0"/>
                    </a:p>
                  </a:txBody>
                  <a:tcPr/>
                </a:tc>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Loops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a:t>A loop statement allows us to execute a statement or group of statements multiple times.</a:t>
            </a:r>
          </a:p>
        </p:txBody>
      </p:sp>
      <p:pic>
        <p:nvPicPr>
          <p:cNvPr id="72705" name="Picture 1"/>
          <p:cNvPicPr>
            <a:picLocks noChangeAspect="1" noChangeArrowheads="1"/>
          </p:cNvPicPr>
          <p:nvPr/>
        </p:nvPicPr>
        <p:blipFill>
          <a:blip r:embed="rId2"/>
          <a:srcRect/>
          <a:stretch>
            <a:fillRect/>
          </a:stretch>
        </p:blipFill>
        <p:spPr bwMode="auto">
          <a:xfrm>
            <a:off x="2071670" y="2143116"/>
            <a:ext cx="3086100" cy="34194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a:t>Python programming language provides following types of loops to handle looping requirements</a:t>
            </a:r>
            <a:r>
              <a:rPr lang="en-IN" dirty="0" smtClean="0"/>
              <a:t>.</a:t>
            </a:r>
          </a:p>
          <a:p>
            <a:pPr>
              <a:buNone/>
            </a:pPr>
            <a:endParaRPr lang="en-IN" dirty="0"/>
          </a:p>
        </p:txBody>
      </p:sp>
      <p:graphicFrame>
        <p:nvGraphicFramePr>
          <p:cNvPr id="4" name="Table 3"/>
          <p:cNvGraphicFramePr>
            <a:graphicFrameLocks noGrp="1"/>
          </p:cNvGraphicFramePr>
          <p:nvPr/>
        </p:nvGraphicFramePr>
        <p:xfrm>
          <a:off x="214282" y="2714620"/>
          <a:ext cx="8643999" cy="3429025"/>
        </p:xfrm>
        <a:graphic>
          <a:graphicData uri="http://schemas.openxmlformats.org/drawingml/2006/table">
            <a:tbl>
              <a:tblPr firstRow="1" bandRow="1">
                <a:tableStyleId>{5C22544A-7EE6-4342-B048-85BDC9FD1C3A}</a:tableStyleId>
              </a:tblPr>
              <a:tblGrid>
                <a:gridCol w="742819"/>
                <a:gridCol w="1485698"/>
                <a:gridCol w="6415482"/>
              </a:tblGrid>
              <a:tr h="774296">
                <a:tc>
                  <a:txBody>
                    <a:bodyPr/>
                    <a:lstStyle/>
                    <a:p>
                      <a:r>
                        <a:rPr lang="en-IN" dirty="0" smtClean="0"/>
                        <a:t>Sl. No.</a:t>
                      </a:r>
                      <a:endParaRPr lang="en-IN" dirty="0"/>
                    </a:p>
                  </a:txBody>
                  <a:tcPr/>
                </a:tc>
                <a:tc>
                  <a:txBody>
                    <a:bodyPr/>
                    <a:lstStyle/>
                    <a:p>
                      <a:r>
                        <a:rPr lang="en-IN" sz="1800" b="1" i="0" kern="1200" dirty="0" smtClean="0">
                          <a:solidFill>
                            <a:schemeClr val="lt1"/>
                          </a:solidFill>
                          <a:latin typeface="+mn-lt"/>
                          <a:ea typeface="+mn-ea"/>
                          <a:cs typeface="+mn-cs"/>
                        </a:rPr>
                        <a:t>Loop Type </a:t>
                      </a:r>
                      <a:endParaRPr lang="en-IN" dirty="0"/>
                    </a:p>
                  </a:txBody>
                  <a:tcPr/>
                </a:tc>
                <a:tc>
                  <a:txBody>
                    <a:bodyPr/>
                    <a:lstStyle/>
                    <a:p>
                      <a:r>
                        <a:rPr lang="en-IN" sz="1800" b="1" i="0" kern="1200" dirty="0" smtClean="0">
                          <a:solidFill>
                            <a:schemeClr val="lt1"/>
                          </a:solidFill>
                          <a:latin typeface="+mn-lt"/>
                          <a:ea typeface="+mn-ea"/>
                          <a:cs typeface="+mn-cs"/>
                        </a:rPr>
                        <a:t>Description</a:t>
                      </a:r>
                      <a:endParaRPr lang="en-IN" dirty="0"/>
                    </a:p>
                  </a:txBody>
                  <a:tcPr/>
                </a:tc>
              </a:tr>
              <a:tr h="1106137">
                <a:tc>
                  <a:txBody>
                    <a:bodyPr/>
                    <a:lstStyle/>
                    <a:p>
                      <a:pPr algn="ctr" fontAlgn="t"/>
                      <a:r>
                        <a:rPr lang="en-IN" dirty="0"/>
                        <a:t>1</a:t>
                      </a:r>
                    </a:p>
                  </a:txBody>
                  <a:tcPr marL="76200" marR="76200" marT="76200" marB="76200"/>
                </a:tc>
                <a:tc>
                  <a:txBody>
                    <a:bodyPr/>
                    <a:lstStyle/>
                    <a:p>
                      <a:pPr algn="just" fontAlgn="t"/>
                      <a:r>
                        <a:rPr lang="en-IN" b="1" u="none" strike="noStrike" dirty="0">
                          <a:solidFill>
                            <a:srgbClr val="313131"/>
                          </a:solidFill>
                          <a:hlinkClick r:id="rId2" tooltip="WHILE loop in Python"/>
                        </a:rPr>
                        <a:t>while </a:t>
                      </a:r>
                      <a:r>
                        <a:rPr lang="en-IN" b="1" u="none" strike="noStrike" dirty="0" smtClean="0">
                          <a:solidFill>
                            <a:srgbClr val="313131"/>
                          </a:solidFill>
                          <a:hlinkClick r:id="rId2" tooltip="WHILE loop in Python"/>
                        </a:rPr>
                        <a:t>loop</a:t>
                      </a:r>
                      <a:endParaRPr lang="en-IN" dirty="0">
                        <a:solidFill>
                          <a:srgbClr val="000000"/>
                        </a:solidFill>
                      </a:endParaRPr>
                    </a:p>
                  </a:txBody>
                  <a:tcPr marL="76200" marR="76200" marT="76200" marB="76200"/>
                </a:tc>
                <a:tc>
                  <a:txBody>
                    <a:bodyPr/>
                    <a:lstStyle/>
                    <a:p>
                      <a:r>
                        <a:rPr lang="en-IN" dirty="0" smtClean="0">
                          <a:solidFill>
                            <a:srgbClr val="000000"/>
                          </a:solidFill>
                        </a:rPr>
                        <a:t>Repeats a statement or group of statements while a given condition is TRUE. It tests the condition before executing the loop body. </a:t>
                      </a:r>
                      <a:r>
                        <a:rPr lang="en-IN" b="1" dirty="0" smtClean="0">
                          <a:solidFill>
                            <a:srgbClr val="000000"/>
                          </a:solidFill>
                        </a:rPr>
                        <a:t>else can be done for while loop.</a:t>
                      </a:r>
                      <a:endParaRPr lang="en-IN" b="1" dirty="0"/>
                    </a:p>
                  </a:txBody>
                  <a:tcPr/>
                </a:tc>
              </a:tr>
              <a:tr h="774296">
                <a:tc>
                  <a:txBody>
                    <a:bodyPr/>
                    <a:lstStyle/>
                    <a:p>
                      <a:pPr algn="ctr" fontAlgn="t"/>
                      <a:r>
                        <a:rPr lang="en-IN"/>
                        <a:t>2</a:t>
                      </a:r>
                    </a:p>
                  </a:txBody>
                  <a:tcPr marL="76200" marR="76200" marT="76200" marB="76200"/>
                </a:tc>
                <a:tc>
                  <a:txBody>
                    <a:bodyPr/>
                    <a:lstStyle/>
                    <a:p>
                      <a:pPr algn="just" fontAlgn="t"/>
                      <a:r>
                        <a:rPr lang="en-IN" b="1" u="none" strike="noStrike" dirty="0">
                          <a:solidFill>
                            <a:srgbClr val="313131"/>
                          </a:solidFill>
                          <a:hlinkClick r:id="rId3" tooltip="FOR loop in Python"/>
                        </a:rPr>
                        <a:t>for </a:t>
                      </a:r>
                      <a:r>
                        <a:rPr lang="en-IN" b="1" u="none" strike="noStrike" dirty="0" smtClean="0">
                          <a:solidFill>
                            <a:srgbClr val="313131"/>
                          </a:solidFill>
                          <a:hlinkClick r:id="rId3" tooltip="FOR loop in Python"/>
                        </a:rPr>
                        <a:t>loop</a:t>
                      </a:r>
                      <a:endParaRPr lang="en-IN" dirty="0">
                        <a:solidFill>
                          <a:srgbClr val="000000"/>
                        </a:solidFill>
                      </a:endParaRPr>
                    </a:p>
                  </a:txBody>
                  <a:tcPr marL="76200" marR="76200" marT="76200" marB="76200"/>
                </a:tc>
                <a:tc>
                  <a:txBody>
                    <a:bodyPr/>
                    <a:lstStyle/>
                    <a:p>
                      <a:r>
                        <a:rPr lang="en-IN" dirty="0" smtClean="0">
                          <a:solidFill>
                            <a:srgbClr val="000000"/>
                          </a:solidFill>
                        </a:rPr>
                        <a:t>Executes a sequence of statements multiple times and abbreviates the code that manages the loop variable.</a:t>
                      </a:r>
                      <a:endParaRPr lang="en-IN" dirty="0"/>
                    </a:p>
                  </a:txBody>
                  <a:tcPr/>
                </a:tc>
              </a:tr>
              <a:tr h="774296">
                <a:tc>
                  <a:txBody>
                    <a:bodyPr/>
                    <a:lstStyle/>
                    <a:p>
                      <a:pPr algn="ctr" fontAlgn="t"/>
                      <a:r>
                        <a:rPr lang="en-IN"/>
                        <a:t>3</a:t>
                      </a:r>
                    </a:p>
                  </a:txBody>
                  <a:tcPr marL="76200" marR="76200" marT="76200" marB="76200"/>
                </a:tc>
                <a:tc>
                  <a:txBody>
                    <a:bodyPr/>
                    <a:lstStyle/>
                    <a:p>
                      <a:pPr algn="just" fontAlgn="t"/>
                      <a:r>
                        <a:rPr lang="en-IN" b="1" u="none" strike="noStrike" dirty="0">
                          <a:solidFill>
                            <a:srgbClr val="313131"/>
                          </a:solidFill>
                          <a:hlinkClick r:id="rId4" tooltip="nested loops in Python"/>
                        </a:rPr>
                        <a:t>nested </a:t>
                      </a:r>
                      <a:r>
                        <a:rPr lang="en-IN" b="1" u="none" strike="noStrike" dirty="0" smtClean="0">
                          <a:solidFill>
                            <a:srgbClr val="313131"/>
                          </a:solidFill>
                          <a:hlinkClick r:id="rId4" tooltip="nested loops in Python"/>
                        </a:rPr>
                        <a:t>loops</a:t>
                      </a:r>
                      <a:endParaRPr lang="en-IN" dirty="0">
                        <a:solidFill>
                          <a:srgbClr val="000000"/>
                        </a:solidFill>
                      </a:endParaRPr>
                    </a:p>
                  </a:txBody>
                  <a:tcPr marL="76200" marR="76200" marT="76200" marB="76200"/>
                </a:tc>
                <a:tc>
                  <a:txBody>
                    <a:bodyPr/>
                    <a:lstStyle/>
                    <a:p>
                      <a:r>
                        <a:rPr lang="en-IN" dirty="0" smtClean="0">
                          <a:solidFill>
                            <a:srgbClr val="000000"/>
                          </a:solidFill>
                        </a:rPr>
                        <a:t>You can use one or more loop inside any another while, for or do..while loop.</a:t>
                      </a:r>
                      <a:endParaRPr lang="en-IN" dirty="0"/>
                    </a:p>
                  </a:txBody>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Loop Control </a:t>
            </a:r>
            <a:r>
              <a:rPr lang="en-IN" dirty="0" smtClean="0"/>
              <a:t>Statements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a:t>Loop control statements change execution from its normal sequence. When execution leaves a scope, all automatic objects that were created in that scope are destroyed</a:t>
            </a:r>
            <a:r>
              <a:rPr lang="en-IN" dirty="0" smtClean="0"/>
              <a:t>.</a:t>
            </a:r>
          </a:p>
          <a:p>
            <a:endParaRPr lang="en-IN" dirty="0"/>
          </a:p>
        </p:txBody>
      </p:sp>
      <p:graphicFrame>
        <p:nvGraphicFramePr>
          <p:cNvPr id="4" name="Table 3"/>
          <p:cNvGraphicFramePr>
            <a:graphicFrameLocks noGrp="1"/>
          </p:cNvGraphicFramePr>
          <p:nvPr/>
        </p:nvGraphicFramePr>
        <p:xfrm>
          <a:off x="214283" y="3214686"/>
          <a:ext cx="8643998" cy="3286147"/>
        </p:xfrm>
        <a:graphic>
          <a:graphicData uri="http://schemas.openxmlformats.org/drawingml/2006/table">
            <a:tbl>
              <a:tblPr firstRow="1" bandRow="1">
                <a:tableStyleId>{5C22544A-7EE6-4342-B048-85BDC9FD1C3A}</a:tableStyleId>
              </a:tblPr>
              <a:tblGrid>
                <a:gridCol w="760674"/>
                <a:gridCol w="2074567"/>
                <a:gridCol w="5808757"/>
              </a:tblGrid>
              <a:tr h="742033">
                <a:tc>
                  <a:txBody>
                    <a:bodyPr/>
                    <a:lstStyle/>
                    <a:p>
                      <a:r>
                        <a:rPr lang="en-IN" dirty="0" smtClean="0"/>
                        <a:t>Sl. No.</a:t>
                      </a:r>
                      <a:endParaRPr lang="en-IN" dirty="0"/>
                    </a:p>
                  </a:txBody>
                  <a:tcPr/>
                </a:tc>
                <a:tc>
                  <a:txBody>
                    <a:bodyPr/>
                    <a:lstStyle/>
                    <a:p>
                      <a:r>
                        <a:rPr lang="en-IN" sz="1800" b="1" i="0" kern="1200" dirty="0" smtClean="0">
                          <a:solidFill>
                            <a:schemeClr val="lt1"/>
                          </a:solidFill>
                          <a:latin typeface="+mn-lt"/>
                          <a:ea typeface="+mn-ea"/>
                          <a:cs typeface="+mn-cs"/>
                        </a:rPr>
                        <a:t>Control Statement</a:t>
                      </a:r>
                      <a:endParaRPr lang="en-IN" dirty="0"/>
                    </a:p>
                  </a:txBody>
                  <a:tcPr/>
                </a:tc>
                <a:tc>
                  <a:txBody>
                    <a:bodyPr/>
                    <a:lstStyle/>
                    <a:p>
                      <a:r>
                        <a:rPr lang="en-IN" sz="1800" b="1" i="0" kern="1200" dirty="0" smtClean="0">
                          <a:solidFill>
                            <a:schemeClr val="lt1"/>
                          </a:solidFill>
                          <a:latin typeface="+mn-lt"/>
                          <a:ea typeface="+mn-ea"/>
                          <a:cs typeface="+mn-cs"/>
                        </a:rPr>
                        <a:t>Description</a:t>
                      </a:r>
                      <a:endParaRPr lang="en-IN" dirty="0"/>
                    </a:p>
                  </a:txBody>
                  <a:tcPr/>
                </a:tc>
              </a:tr>
              <a:tr h="742033">
                <a:tc>
                  <a:txBody>
                    <a:bodyPr/>
                    <a:lstStyle/>
                    <a:p>
                      <a:pPr algn="ctr" fontAlgn="t"/>
                      <a:r>
                        <a:rPr lang="en-IN" dirty="0"/>
                        <a:t>1</a:t>
                      </a:r>
                    </a:p>
                  </a:txBody>
                  <a:tcPr marL="76200" marR="76200" marT="76200" marB="76200"/>
                </a:tc>
                <a:tc>
                  <a:txBody>
                    <a:bodyPr/>
                    <a:lstStyle/>
                    <a:p>
                      <a:pPr algn="just" fontAlgn="t"/>
                      <a:r>
                        <a:rPr lang="en-IN" b="1" u="none" strike="noStrike" dirty="0">
                          <a:solidFill>
                            <a:srgbClr val="313131"/>
                          </a:solidFill>
                          <a:hlinkClick r:id="rId2" tooltip="break statement in Python"/>
                        </a:rPr>
                        <a:t>break </a:t>
                      </a:r>
                      <a:r>
                        <a:rPr lang="en-IN" b="1" u="none" strike="noStrike" dirty="0" smtClean="0">
                          <a:solidFill>
                            <a:srgbClr val="313131"/>
                          </a:solidFill>
                          <a:hlinkClick r:id="rId2" tooltip="break statement in Python"/>
                        </a:rPr>
                        <a:t>statement</a:t>
                      </a:r>
                      <a:endParaRPr lang="en-IN" dirty="0">
                        <a:solidFill>
                          <a:srgbClr val="000000"/>
                        </a:solidFill>
                      </a:endParaRPr>
                    </a:p>
                  </a:txBody>
                  <a:tcPr marL="76200" marR="76200" marT="76200" marB="76200"/>
                </a:tc>
                <a:tc>
                  <a:txBody>
                    <a:bodyPr/>
                    <a:lstStyle/>
                    <a:p>
                      <a:r>
                        <a:rPr lang="en-IN" dirty="0" smtClean="0">
                          <a:solidFill>
                            <a:srgbClr val="000000"/>
                          </a:solidFill>
                        </a:rPr>
                        <a:t>Terminates the loop statement and transfers execution to the statement immediately following the loop.</a:t>
                      </a:r>
                      <a:endParaRPr lang="en-IN" dirty="0"/>
                    </a:p>
                  </a:txBody>
                  <a:tcPr/>
                </a:tc>
              </a:tr>
              <a:tr h="742033">
                <a:tc>
                  <a:txBody>
                    <a:bodyPr/>
                    <a:lstStyle/>
                    <a:p>
                      <a:pPr algn="ctr" fontAlgn="t"/>
                      <a:r>
                        <a:rPr lang="en-IN"/>
                        <a:t>2</a:t>
                      </a:r>
                    </a:p>
                  </a:txBody>
                  <a:tcPr marL="76200" marR="76200" marT="76200" marB="76200"/>
                </a:tc>
                <a:tc>
                  <a:txBody>
                    <a:bodyPr/>
                    <a:lstStyle/>
                    <a:p>
                      <a:pPr algn="just" fontAlgn="t"/>
                      <a:r>
                        <a:rPr lang="en-IN" b="1" u="none" strike="noStrike" dirty="0">
                          <a:solidFill>
                            <a:srgbClr val="313131"/>
                          </a:solidFill>
                          <a:hlinkClick r:id="rId3" tooltip="continue statement in Python"/>
                        </a:rPr>
                        <a:t>continue </a:t>
                      </a:r>
                      <a:r>
                        <a:rPr lang="en-IN" b="1" u="none" strike="noStrike" dirty="0" smtClean="0">
                          <a:solidFill>
                            <a:srgbClr val="313131"/>
                          </a:solidFill>
                          <a:hlinkClick r:id="rId3" tooltip="continue statement in Python"/>
                        </a:rPr>
                        <a:t>statement</a:t>
                      </a:r>
                      <a:endParaRPr lang="en-IN" dirty="0">
                        <a:solidFill>
                          <a:srgbClr val="000000"/>
                        </a:solidFill>
                      </a:endParaRPr>
                    </a:p>
                  </a:txBody>
                  <a:tcPr marL="76200" marR="76200" marT="76200" marB="76200"/>
                </a:tc>
                <a:tc>
                  <a:txBody>
                    <a:bodyPr/>
                    <a:lstStyle/>
                    <a:p>
                      <a:r>
                        <a:rPr lang="en-IN" dirty="0" smtClean="0">
                          <a:solidFill>
                            <a:srgbClr val="000000"/>
                          </a:solidFill>
                        </a:rPr>
                        <a:t>Causes the loop to skip the remainder of its body and immediately retest its condition prior to reiterating.</a:t>
                      </a:r>
                      <a:endParaRPr lang="en-IN" dirty="0"/>
                    </a:p>
                  </a:txBody>
                  <a:tcPr/>
                </a:tc>
              </a:tr>
              <a:tr h="1060048">
                <a:tc>
                  <a:txBody>
                    <a:bodyPr/>
                    <a:lstStyle/>
                    <a:p>
                      <a:pPr algn="ctr" fontAlgn="t"/>
                      <a:r>
                        <a:rPr lang="en-IN"/>
                        <a:t>3</a:t>
                      </a:r>
                    </a:p>
                  </a:txBody>
                  <a:tcPr marL="76200" marR="76200" marT="76200" marB="76200"/>
                </a:tc>
                <a:tc>
                  <a:txBody>
                    <a:bodyPr/>
                    <a:lstStyle/>
                    <a:p>
                      <a:pPr algn="just" fontAlgn="t"/>
                      <a:r>
                        <a:rPr lang="en-IN" b="1" u="none" strike="noStrike" dirty="0">
                          <a:solidFill>
                            <a:srgbClr val="313131"/>
                          </a:solidFill>
                          <a:hlinkClick r:id="rId4" tooltip="pass statement in Python"/>
                        </a:rPr>
                        <a:t>pass </a:t>
                      </a:r>
                      <a:r>
                        <a:rPr lang="en-IN" b="1" u="none" strike="noStrike" dirty="0" smtClean="0">
                          <a:solidFill>
                            <a:srgbClr val="313131"/>
                          </a:solidFill>
                          <a:hlinkClick r:id="rId4" tooltip="pass statement in Python"/>
                        </a:rPr>
                        <a:t>statement</a:t>
                      </a:r>
                      <a:endParaRPr lang="en-IN" dirty="0">
                        <a:solidFill>
                          <a:srgbClr val="000000"/>
                        </a:solidFill>
                      </a:endParaRPr>
                    </a:p>
                  </a:txBody>
                  <a:tcPr marL="76200" marR="76200" marT="76200" marB="76200"/>
                </a:tc>
                <a:tc>
                  <a:txBody>
                    <a:bodyPr/>
                    <a:lstStyle/>
                    <a:p>
                      <a:r>
                        <a:rPr lang="en-IN" dirty="0" smtClean="0">
                          <a:solidFill>
                            <a:srgbClr val="000000"/>
                          </a:solidFill>
                        </a:rPr>
                        <a:t>The pass statement in Python is used when a statement is required syntactically but you do not want any command or code to execute.</a:t>
                      </a:r>
                      <a:endParaRPr lang="en-IN" dirty="0"/>
                    </a:p>
                  </a:txBody>
                  <a:tcPr/>
                </a:tc>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Number Type Conversion</a:t>
            </a:r>
            <a:endParaRPr lang="en-IN" dirty="0"/>
          </a:p>
        </p:txBody>
      </p:sp>
      <p:sp>
        <p:nvSpPr>
          <p:cNvPr id="3" name="Content Placeholder 2"/>
          <p:cNvSpPr>
            <a:spLocks noGrp="1"/>
          </p:cNvSpPr>
          <p:nvPr>
            <p:ph idx="1"/>
          </p:nvPr>
        </p:nvSpPr>
        <p:spPr>
          <a:xfrm>
            <a:off x="457200" y="1071546"/>
            <a:ext cx="8229600" cy="5643602"/>
          </a:xfrm>
        </p:spPr>
        <p:txBody>
          <a:bodyPr>
            <a:normAutofit fontScale="92500" lnSpcReduction="20000"/>
          </a:bodyPr>
          <a:lstStyle/>
          <a:p>
            <a:r>
              <a:rPr lang="en-IN" dirty="0" smtClean="0"/>
              <a:t>Python converts numbers internally in an expression containing mixed types to a common type for evaluation. But sometimes, you need to coerce a number explicitly from one type to another to satisfy the requirements of an operator or function parameter.</a:t>
            </a:r>
          </a:p>
          <a:p>
            <a:pPr lvl="1"/>
            <a:r>
              <a:rPr lang="en-IN" dirty="0" smtClean="0"/>
              <a:t>Type </a:t>
            </a:r>
            <a:r>
              <a:rPr lang="en-IN" b="1" dirty="0" err="1" smtClean="0"/>
              <a:t>int</a:t>
            </a:r>
            <a:r>
              <a:rPr lang="en-IN" b="1" dirty="0" smtClean="0"/>
              <a:t>(x)</a:t>
            </a:r>
            <a:r>
              <a:rPr lang="en-IN" dirty="0" smtClean="0"/>
              <a:t> to convert x to a plain integer.</a:t>
            </a:r>
          </a:p>
          <a:p>
            <a:pPr lvl="1"/>
            <a:r>
              <a:rPr lang="en-IN" dirty="0" smtClean="0"/>
              <a:t>Type </a:t>
            </a:r>
            <a:r>
              <a:rPr lang="en-IN" b="1" dirty="0" smtClean="0"/>
              <a:t>long(x)</a:t>
            </a:r>
            <a:r>
              <a:rPr lang="en-IN" dirty="0" smtClean="0"/>
              <a:t> to convert x to a long integer.</a:t>
            </a:r>
          </a:p>
          <a:p>
            <a:pPr lvl="1"/>
            <a:r>
              <a:rPr lang="en-IN" dirty="0" smtClean="0"/>
              <a:t>Type </a:t>
            </a:r>
            <a:r>
              <a:rPr lang="en-IN" b="1" dirty="0" smtClean="0"/>
              <a:t>float(x)</a:t>
            </a:r>
            <a:r>
              <a:rPr lang="en-IN" dirty="0" smtClean="0"/>
              <a:t> to convert x to a floating-point number.</a:t>
            </a:r>
          </a:p>
          <a:p>
            <a:pPr lvl="1"/>
            <a:r>
              <a:rPr lang="en-IN" dirty="0" smtClean="0"/>
              <a:t>Type </a:t>
            </a:r>
            <a:r>
              <a:rPr lang="en-IN" b="1" dirty="0" smtClean="0"/>
              <a:t>complex(x)</a:t>
            </a:r>
            <a:r>
              <a:rPr lang="en-IN" dirty="0" smtClean="0"/>
              <a:t> to convert x to a complex number with real part x and imaginary part zero.</a:t>
            </a:r>
          </a:p>
          <a:p>
            <a:pPr lvl="1"/>
            <a:r>
              <a:rPr lang="en-IN" dirty="0" smtClean="0"/>
              <a:t>Type </a:t>
            </a:r>
            <a:r>
              <a:rPr lang="en-IN" b="1" dirty="0" smtClean="0"/>
              <a:t>complex(x, y)</a:t>
            </a:r>
            <a:r>
              <a:rPr lang="en-IN" dirty="0" smtClean="0"/>
              <a:t> to convert x and y to a complex number with real part x and imaginary part y. x and y are numeric expressions</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Mathematical Functions</a:t>
            </a:r>
            <a:endParaRPr lang="en-IN" dirty="0"/>
          </a:p>
        </p:txBody>
      </p:sp>
      <p:graphicFrame>
        <p:nvGraphicFramePr>
          <p:cNvPr id="4" name="Content Placeholder 3"/>
          <p:cNvGraphicFramePr>
            <a:graphicFrameLocks noGrp="1"/>
          </p:cNvGraphicFramePr>
          <p:nvPr>
            <p:ph idx="1"/>
          </p:nvPr>
        </p:nvGraphicFramePr>
        <p:xfrm>
          <a:off x="457200" y="1071563"/>
          <a:ext cx="8229600" cy="5156200"/>
        </p:xfrm>
        <a:graphic>
          <a:graphicData uri="http://schemas.openxmlformats.org/drawingml/2006/table">
            <a:tbl>
              <a:tblPr firstRow="1" bandRow="1">
                <a:tableStyleId>{5C22544A-7EE6-4342-B048-85BDC9FD1C3A}</a:tableStyleId>
              </a:tblPr>
              <a:tblGrid>
                <a:gridCol w="828652"/>
                <a:gridCol w="2000264"/>
                <a:gridCol w="5400684"/>
              </a:tblGrid>
              <a:tr h="370840">
                <a:tc>
                  <a:txBody>
                    <a:bodyPr/>
                    <a:lstStyle/>
                    <a:p>
                      <a:r>
                        <a:rPr lang="en-IN" dirty="0" smtClean="0"/>
                        <a:t>Sl. No.</a:t>
                      </a:r>
                      <a:endParaRPr lang="en-IN" dirty="0"/>
                    </a:p>
                  </a:txBody>
                  <a:tcPr/>
                </a:tc>
                <a:tc>
                  <a:txBody>
                    <a:bodyPr/>
                    <a:lstStyle/>
                    <a:p>
                      <a:r>
                        <a:rPr lang="en-IN" dirty="0" smtClean="0"/>
                        <a:t>Functions</a:t>
                      </a:r>
                      <a:endParaRPr lang="en-IN" dirty="0"/>
                    </a:p>
                  </a:txBody>
                  <a:tcPr/>
                </a:tc>
                <a:tc>
                  <a:txBody>
                    <a:bodyPr/>
                    <a:lstStyle/>
                    <a:p>
                      <a:r>
                        <a:rPr lang="en-IN" dirty="0" smtClean="0"/>
                        <a:t>Descriptions</a:t>
                      </a:r>
                      <a:endParaRPr lang="en-IN" dirty="0"/>
                    </a:p>
                  </a:txBody>
                  <a:tcPr/>
                </a:tc>
              </a:tr>
              <a:tr h="370840">
                <a:tc>
                  <a:txBody>
                    <a:bodyPr/>
                    <a:lstStyle/>
                    <a:p>
                      <a:r>
                        <a:rPr lang="en-IN" dirty="0" smtClean="0"/>
                        <a:t>1</a:t>
                      </a:r>
                      <a:endParaRPr lang="en-IN" dirty="0"/>
                    </a:p>
                  </a:txBody>
                  <a:tcPr/>
                </a:tc>
                <a:tc>
                  <a:txBody>
                    <a:bodyPr/>
                    <a:lstStyle/>
                    <a:p>
                      <a:r>
                        <a:rPr lang="en-IN" smtClean="0"/>
                        <a:t>abs(x)</a:t>
                      </a:r>
                    </a:p>
                  </a:txBody>
                  <a:tcPr/>
                </a:tc>
                <a:tc>
                  <a:txBody>
                    <a:bodyPr/>
                    <a:lstStyle/>
                    <a:p>
                      <a:r>
                        <a:rPr lang="en-IN" sz="1800" b="0" i="0" kern="1200" dirty="0" smtClean="0">
                          <a:solidFill>
                            <a:schemeClr val="dk1"/>
                          </a:solidFill>
                          <a:latin typeface="+mn-lt"/>
                          <a:ea typeface="+mn-ea"/>
                          <a:cs typeface="+mn-cs"/>
                        </a:rPr>
                        <a:t>The absolute value of x: the (positive) distance between x and zero.</a:t>
                      </a:r>
                      <a:endParaRPr lang="en-IN" dirty="0"/>
                    </a:p>
                  </a:txBody>
                  <a:tcPr/>
                </a:tc>
              </a:tr>
              <a:tr h="370840">
                <a:tc>
                  <a:txBody>
                    <a:bodyPr/>
                    <a:lstStyle/>
                    <a:p>
                      <a:r>
                        <a:rPr lang="en-IN" dirty="0" smtClean="0"/>
                        <a:t>2</a:t>
                      </a:r>
                      <a:endParaRPr lang="en-IN" dirty="0"/>
                    </a:p>
                  </a:txBody>
                  <a:tcPr/>
                </a:tc>
                <a:tc>
                  <a:txBody>
                    <a:bodyPr/>
                    <a:lstStyle/>
                    <a:p>
                      <a:r>
                        <a:rPr lang="en-IN" dirty="0" smtClean="0"/>
                        <a:t>ceil(x)</a:t>
                      </a:r>
                    </a:p>
                  </a:txBody>
                  <a:tcPr/>
                </a:tc>
                <a:tc>
                  <a:txBody>
                    <a:bodyPr/>
                    <a:lstStyle/>
                    <a:p>
                      <a:r>
                        <a:rPr lang="en-IN" dirty="0" smtClean="0"/>
                        <a:t>The ceiling of x: the smallest integer not less than x</a:t>
                      </a:r>
                    </a:p>
                    <a:p>
                      <a:endParaRPr lang="en-IN" dirty="0"/>
                    </a:p>
                  </a:txBody>
                  <a:tcPr/>
                </a:tc>
              </a:tr>
              <a:tr h="370840">
                <a:tc>
                  <a:txBody>
                    <a:bodyPr/>
                    <a:lstStyle/>
                    <a:p>
                      <a:r>
                        <a:rPr lang="en-IN" dirty="0" smtClean="0"/>
                        <a:t>3</a:t>
                      </a:r>
                      <a:endParaRPr lang="en-IN" dirty="0"/>
                    </a:p>
                  </a:txBody>
                  <a:tcPr/>
                </a:tc>
                <a:tc>
                  <a:txBody>
                    <a:bodyPr/>
                    <a:lstStyle/>
                    <a:p>
                      <a:r>
                        <a:rPr lang="en-IN" dirty="0" err="1" smtClean="0"/>
                        <a:t>cmp</a:t>
                      </a:r>
                      <a:r>
                        <a:rPr lang="en-IN" dirty="0" smtClean="0"/>
                        <a:t>(x, y)</a:t>
                      </a:r>
                    </a:p>
                  </a:txBody>
                  <a:tcPr/>
                </a:tc>
                <a:tc>
                  <a:txBody>
                    <a:bodyPr/>
                    <a:lstStyle/>
                    <a:p>
                      <a:r>
                        <a:rPr lang="en-IN" dirty="0" smtClean="0"/>
                        <a:t>-1 if x &lt; y, 0 if x == y, or 1 if x &gt; y</a:t>
                      </a:r>
                      <a:endParaRPr lang="en-IN" dirty="0"/>
                    </a:p>
                  </a:txBody>
                  <a:tcPr/>
                </a:tc>
              </a:tr>
              <a:tr h="370840">
                <a:tc>
                  <a:txBody>
                    <a:bodyPr/>
                    <a:lstStyle/>
                    <a:p>
                      <a:r>
                        <a:rPr lang="en-IN" dirty="0" smtClean="0"/>
                        <a:t>4</a:t>
                      </a:r>
                      <a:endParaRPr lang="en-IN" dirty="0"/>
                    </a:p>
                  </a:txBody>
                  <a:tcPr/>
                </a:tc>
                <a:tc>
                  <a:txBody>
                    <a:bodyPr/>
                    <a:lstStyle/>
                    <a:p>
                      <a:r>
                        <a:rPr lang="en-IN" dirty="0" smtClean="0"/>
                        <a:t>exp(x)</a:t>
                      </a:r>
                    </a:p>
                  </a:txBody>
                  <a:tcPr/>
                </a:tc>
                <a:tc>
                  <a:txBody>
                    <a:bodyPr/>
                    <a:lstStyle/>
                    <a:p>
                      <a:r>
                        <a:rPr lang="en-IN" dirty="0" smtClean="0"/>
                        <a:t>The exponential of x: ex</a:t>
                      </a:r>
                      <a:endParaRPr lang="en-IN" dirty="0"/>
                    </a:p>
                  </a:txBody>
                  <a:tcPr/>
                </a:tc>
              </a:tr>
              <a:tr h="370840">
                <a:tc>
                  <a:txBody>
                    <a:bodyPr/>
                    <a:lstStyle/>
                    <a:p>
                      <a:r>
                        <a:rPr lang="en-IN" dirty="0" smtClean="0"/>
                        <a:t>5</a:t>
                      </a:r>
                      <a:endParaRPr lang="en-IN" dirty="0"/>
                    </a:p>
                  </a:txBody>
                  <a:tcPr/>
                </a:tc>
                <a:tc>
                  <a:txBody>
                    <a:bodyPr/>
                    <a:lstStyle/>
                    <a:p>
                      <a:r>
                        <a:rPr lang="en-IN" dirty="0" err="1" smtClean="0"/>
                        <a:t>fabs</a:t>
                      </a:r>
                      <a:r>
                        <a:rPr lang="en-IN" dirty="0" smtClean="0"/>
                        <a:t>(x)</a:t>
                      </a:r>
                    </a:p>
                  </a:txBody>
                  <a:tcPr/>
                </a:tc>
                <a:tc>
                  <a:txBody>
                    <a:bodyPr/>
                    <a:lstStyle/>
                    <a:p>
                      <a:r>
                        <a:rPr lang="en-IN" dirty="0" smtClean="0"/>
                        <a:t>The absolute value of x.</a:t>
                      </a:r>
                    </a:p>
                  </a:txBody>
                  <a:tcPr/>
                </a:tc>
              </a:tr>
              <a:tr h="370840">
                <a:tc>
                  <a:txBody>
                    <a:bodyPr/>
                    <a:lstStyle/>
                    <a:p>
                      <a:r>
                        <a:rPr lang="en-IN" dirty="0" smtClean="0"/>
                        <a:t>6</a:t>
                      </a:r>
                      <a:endParaRPr lang="en-IN" dirty="0"/>
                    </a:p>
                  </a:txBody>
                  <a:tcPr/>
                </a:tc>
                <a:tc>
                  <a:txBody>
                    <a:bodyPr/>
                    <a:lstStyle/>
                    <a:p>
                      <a:r>
                        <a:rPr lang="en-IN" dirty="0" smtClean="0"/>
                        <a:t>floor(x)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The floor of x: the largest integer not greater than x</a:t>
                      </a:r>
                    </a:p>
                  </a:txBody>
                  <a:tcPr/>
                </a:tc>
              </a:tr>
              <a:tr h="370840">
                <a:tc>
                  <a:txBody>
                    <a:bodyPr/>
                    <a:lstStyle/>
                    <a:p>
                      <a:r>
                        <a:rPr lang="en-IN" dirty="0" smtClean="0"/>
                        <a:t>7</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log(x)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The natural logarithm of x, for x&gt; 0</a:t>
                      </a:r>
                    </a:p>
                  </a:txBody>
                  <a:tcPr/>
                </a:tc>
              </a:tr>
              <a:tr h="370840">
                <a:tc>
                  <a:txBody>
                    <a:bodyPr/>
                    <a:lstStyle/>
                    <a:p>
                      <a:r>
                        <a:rPr lang="en-IN" dirty="0" smtClean="0"/>
                        <a:t>8</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log10(x)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The base-10 logarithm of x for x&gt; 0.</a:t>
                      </a:r>
                    </a:p>
                  </a:txBody>
                  <a:tcPr/>
                </a:tc>
              </a:tr>
              <a:tr h="370840">
                <a:tc>
                  <a:txBody>
                    <a:bodyPr/>
                    <a:lstStyle/>
                    <a:p>
                      <a:r>
                        <a:rPr lang="en-IN" dirty="0" smtClean="0"/>
                        <a:t>9</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max(x1, x2,...)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The largest of its arguments: the value closest to positive infinity</a:t>
                      </a:r>
                    </a:p>
                  </a:txBody>
                  <a:tcPr/>
                </a:tc>
              </a:tr>
              <a:tr h="370840">
                <a:tc>
                  <a:txBody>
                    <a:bodyPr/>
                    <a:lstStyle/>
                    <a:p>
                      <a:r>
                        <a:rPr lang="en-IN" dirty="0" smtClean="0"/>
                        <a:t>10</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min(x1, x2,...)</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The smallest of its arguments: the value closest to negative infinity</a:t>
                      </a:r>
                    </a:p>
                  </a:txBody>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Mathematical Functions</a:t>
            </a:r>
            <a:endParaRPr lang="en-IN" dirty="0"/>
          </a:p>
        </p:txBody>
      </p:sp>
      <p:graphicFrame>
        <p:nvGraphicFramePr>
          <p:cNvPr id="4" name="Content Placeholder 3"/>
          <p:cNvGraphicFramePr>
            <a:graphicFrameLocks noGrp="1"/>
          </p:cNvGraphicFramePr>
          <p:nvPr>
            <p:ph idx="1"/>
          </p:nvPr>
        </p:nvGraphicFramePr>
        <p:xfrm>
          <a:off x="457200" y="1071563"/>
          <a:ext cx="8229600" cy="2941320"/>
        </p:xfrm>
        <a:graphic>
          <a:graphicData uri="http://schemas.openxmlformats.org/drawingml/2006/table">
            <a:tbl>
              <a:tblPr firstRow="1" bandRow="1">
                <a:tableStyleId>{5C22544A-7EE6-4342-B048-85BDC9FD1C3A}</a:tableStyleId>
              </a:tblPr>
              <a:tblGrid>
                <a:gridCol w="828652"/>
                <a:gridCol w="2000264"/>
                <a:gridCol w="5400684"/>
              </a:tblGrid>
              <a:tr h="370840">
                <a:tc>
                  <a:txBody>
                    <a:bodyPr/>
                    <a:lstStyle/>
                    <a:p>
                      <a:r>
                        <a:rPr lang="en-IN" dirty="0" smtClean="0"/>
                        <a:t>Sl. No.</a:t>
                      </a:r>
                      <a:endParaRPr lang="en-IN" dirty="0"/>
                    </a:p>
                  </a:txBody>
                  <a:tcPr/>
                </a:tc>
                <a:tc>
                  <a:txBody>
                    <a:bodyPr/>
                    <a:lstStyle/>
                    <a:p>
                      <a:r>
                        <a:rPr lang="en-IN" dirty="0" smtClean="0"/>
                        <a:t>Functions</a:t>
                      </a:r>
                      <a:endParaRPr lang="en-IN" dirty="0"/>
                    </a:p>
                  </a:txBody>
                  <a:tcPr/>
                </a:tc>
                <a:tc>
                  <a:txBody>
                    <a:bodyPr/>
                    <a:lstStyle/>
                    <a:p>
                      <a:r>
                        <a:rPr lang="en-IN" dirty="0" smtClean="0"/>
                        <a:t>Descriptions</a:t>
                      </a:r>
                      <a:endParaRPr lang="en-IN" dirty="0"/>
                    </a:p>
                  </a:txBody>
                  <a:tcPr/>
                </a:tc>
              </a:tr>
              <a:tr h="370840">
                <a:tc>
                  <a:txBody>
                    <a:bodyPr/>
                    <a:lstStyle/>
                    <a:p>
                      <a:r>
                        <a:rPr lang="en-IN" dirty="0" smtClean="0"/>
                        <a:t>11</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err="1" smtClean="0"/>
                        <a:t>modf</a:t>
                      </a:r>
                      <a:r>
                        <a:rPr lang="en-IN" dirty="0" smtClean="0"/>
                        <a:t>(x)</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The fractional and integer parts of x in a two-item </a:t>
                      </a:r>
                      <a:r>
                        <a:rPr lang="en-IN" dirty="0" err="1" smtClean="0"/>
                        <a:t>tuple</a:t>
                      </a:r>
                      <a:r>
                        <a:rPr lang="en-IN" dirty="0" smtClean="0"/>
                        <a:t>. Both parts have the same sign as x. The integer part is returned as a float.</a:t>
                      </a:r>
                    </a:p>
                  </a:txBody>
                  <a:tcPr/>
                </a:tc>
              </a:tr>
              <a:tr h="370840">
                <a:tc>
                  <a:txBody>
                    <a:bodyPr/>
                    <a:lstStyle/>
                    <a:p>
                      <a:r>
                        <a:rPr lang="en-IN" dirty="0" smtClean="0"/>
                        <a:t>12</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err="1" smtClean="0"/>
                        <a:t>pow</a:t>
                      </a:r>
                      <a:r>
                        <a:rPr lang="en-IN" dirty="0" smtClean="0"/>
                        <a:t>(x, 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The value of x**y.</a:t>
                      </a:r>
                    </a:p>
                  </a:txBody>
                  <a:tcPr/>
                </a:tc>
              </a:tr>
              <a:tr h="370840">
                <a:tc>
                  <a:txBody>
                    <a:bodyPr/>
                    <a:lstStyle/>
                    <a:p>
                      <a:r>
                        <a:rPr lang="en-IN" dirty="0" smtClean="0"/>
                        <a:t>13</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round(x [,n])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x rounded to n digits from the decimal point. Python rounds away from zero as a tie-breaker: round(0.5) is 1.0 and round(-0.5) is -1.0.</a:t>
                      </a:r>
                    </a:p>
                  </a:txBody>
                  <a:tcPr/>
                </a:tc>
              </a:tr>
              <a:tr h="370840">
                <a:tc>
                  <a:txBody>
                    <a:bodyPr/>
                    <a:lstStyle/>
                    <a:p>
                      <a:r>
                        <a:rPr lang="en-IN" dirty="0" smtClean="0"/>
                        <a:t>14</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err="1" smtClean="0"/>
                        <a:t>sqrt</a:t>
                      </a:r>
                      <a:r>
                        <a:rPr lang="en-IN" dirty="0" smtClean="0"/>
                        <a:t>(x)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The square root of x for x &gt; 0</a:t>
                      </a:r>
                    </a:p>
                  </a:txBody>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Random Number Functions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sz="2000" dirty="0" smtClean="0"/>
              <a:t>Random numbers are used for games, simulations, testing, security, and privacy applications. Python includes following functions that are commonly used.</a:t>
            </a:r>
            <a:r>
              <a:rPr lang="en-IN" dirty="0" smtClean="0"/>
              <a:t>	</a:t>
            </a:r>
          </a:p>
          <a:p>
            <a:endParaRPr lang="en-IN" dirty="0"/>
          </a:p>
        </p:txBody>
      </p:sp>
      <p:graphicFrame>
        <p:nvGraphicFramePr>
          <p:cNvPr id="4" name="Table 3"/>
          <p:cNvGraphicFramePr>
            <a:graphicFrameLocks noGrp="1"/>
          </p:cNvGraphicFramePr>
          <p:nvPr/>
        </p:nvGraphicFramePr>
        <p:xfrm>
          <a:off x="214282" y="2143116"/>
          <a:ext cx="8715435" cy="4485640"/>
        </p:xfrm>
        <a:graphic>
          <a:graphicData uri="http://schemas.openxmlformats.org/drawingml/2006/table">
            <a:tbl>
              <a:tblPr firstRow="1" bandRow="1">
                <a:tableStyleId>{5C22544A-7EE6-4342-B048-85BDC9FD1C3A}</a:tableStyleId>
              </a:tblPr>
              <a:tblGrid>
                <a:gridCol w="785818"/>
                <a:gridCol w="2357454"/>
                <a:gridCol w="5572163"/>
              </a:tblGrid>
              <a:tr h="370840">
                <a:tc>
                  <a:txBody>
                    <a:bodyPr/>
                    <a:lstStyle/>
                    <a:p>
                      <a:r>
                        <a:rPr lang="en-IN" dirty="0" smtClean="0"/>
                        <a:t>Sl. No.</a:t>
                      </a:r>
                      <a:endParaRPr lang="en-IN" dirty="0"/>
                    </a:p>
                  </a:txBody>
                  <a:tcPr/>
                </a:tc>
                <a:tc>
                  <a:txBody>
                    <a:bodyPr/>
                    <a:lstStyle/>
                    <a:p>
                      <a:r>
                        <a:rPr lang="en-IN" dirty="0" smtClean="0"/>
                        <a:t>Functions</a:t>
                      </a:r>
                      <a:endParaRPr lang="en-IN" dirty="0"/>
                    </a:p>
                  </a:txBody>
                  <a:tcPr/>
                </a:tc>
                <a:tc>
                  <a:txBody>
                    <a:bodyPr/>
                    <a:lstStyle/>
                    <a:p>
                      <a:r>
                        <a:rPr lang="en-IN" dirty="0" smtClean="0"/>
                        <a:t>Descriptions</a:t>
                      </a:r>
                      <a:endParaRPr lang="en-IN" dirty="0"/>
                    </a:p>
                  </a:txBody>
                  <a:tcPr/>
                </a:tc>
              </a:tr>
              <a:tr h="370840">
                <a:tc>
                  <a:txBody>
                    <a:bodyPr/>
                    <a:lstStyle/>
                    <a:p>
                      <a:r>
                        <a:rPr lang="en-IN" dirty="0" smtClean="0"/>
                        <a:t>1</a:t>
                      </a:r>
                      <a:endParaRPr lang="en-IN" dirty="0"/>
                    </a:p>
                  </a:txBody>
                  <a:tcPr/>
                </a:tc>
                <a:tc>
                  <a:txBody>
                    <a:bodyPr/>
                    <a:lstStyle/>
                    <a:p>
                      <a:r>
                        <a:rPr lang="en-IN" dirty="0" smtClean="0"/>
                        <a:t>choice(</a:t>
                      </a:r>
                      <a:r>
                        <a:rPr lang="en-IN" dirty="0" err="1" smtClean="0"/>
                        <a:t>seq</a:t>
                      </a:r>
                      <a:r>
                        <a:rPr lang="en-IN" dirty="0" smtClean="0"/>
                        <a:t>)</a:t>
                      </a:r>
                    </a:p>
                    <a:p>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A random item from a list, </a:t>
                      </a:r>
                      <a:r>
                        <a:rPr lang="en-IN" dirty="0" err="1" smtClean="0"/>
                        <a:t>tuple</a:t>
                      </a:r>
                      <a:r>
                        <a:rPr lang="en-IN" dirty="0" smtClean="0"/>
                        <a:t>, or string.</a:t>
                      </a:r>
                    </a:p>
                  </a:txBody>
                  <a:tcPr/>
                </a:tc>
              </a:tr>
              <a:tr h="370840">
                <a:tc>
                  <a:txBody>
                    <a:bodyPr/>
                    <a:lstStyle/>
                    <a:p>
                      <a:r>
                        <a:rPr lang="en-IN" dirty="0" smtClean="0"/>
                        <a:t>2</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err="1" smtClean="0"/>
                        <a:t>randrange</a:t>
                      </a:r>
                      <a:r>
                        <a:rPr lang="en-IN" dirty="0" smtClean="0"/>
                        <a:t> ([start,] stop [,step])</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A randomly selected element from range(start, stop, step)</a:t>
                      </a:r>
                    </a:p>
                  </a:txBody>
                  <a:tcPr/>
                </a:tc>
              </a:tr>
              <a:tr h="370840">
                <a:tc>
                  <a:txBody>
                    <a:bodyPr/>
                    <a:lstStyle/>
                    <a:p>
                      <a:r>
                        <a:rPr lang="en-IN" dirty="0" smtClean="0"/>
                        <a:t>3</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random()</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A random float r, such that 0 is less than or equal to r and r is less than 1</a:t>
                      </a:r>
                    </a:p>
                  </a:txBody>
                  <a:tcPr/>
                </a:tc>
              </a:tr>
              <a:tr h="370840">
                <a:tc>
                  <a:txBody>
                    <a:bodyPr/>
                    <a:lstStyle/>
                    <a:p>
                      <a:r>
                        <a:rPr lang="en-IN" dirty="0" smtClean="0"/>
                        <a:t>4</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seed([x])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Sets the integer starting value used in generating random numbers. Call this function before calling any other random module function. Returns None.</a:t>
                      </a:r>
                    </a:p>
                  </a:txBody>
                  <a:tcPr/>
                </a:tc>
              </a:tr>
              <a:tr h="370840">
                <a:tc>
                  <a:txBody>
                    <a:bodyPr/>
                    <a:lstStyle/>
                    <a:p>
                      <a:r>
                        <a:rPr lang="en-IN" dirty="0" smtClean="0"/>
                        <a:t>5</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shuffle(</a:t>
                      </a:r>
                      <a:r>
                        <a:rPr lang="en-IN" dirty="0" err="1" smtClean="0"/>
                        <a:t>lst</a:t>
                      </a:r>
                      <a:r>
                        <a:rPr lang="en-IN" dirty="0" smtClean="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Randomizes the items of a list in place. Returns None.</a:t>
                      </a:r>
                    </a:p>
                  </a:txBody>
                  <a:tcPr/>
                </a:tc>
              </a:tr>
              <a:tr h="370840">
                <a:tc>
                  <a:txBody>
                    <a:bodyPr/>
                    <a:lstStyle/>
                    <a:p>
                      <a:r>
                        <a:rPr lang="en-IN" dirty="0" smtClean="0"/>
                        <a:t>6</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uniform(x, 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A random float r, such that x is less than or equal to r and r is less than y</a:t>
                      </a:r>
                    </a:p>
                  </a:txBody>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Trigonometric Functions</a:t>
            </a:r>
            <a:endParaRPr lang="en-IN" dirty="0"/>
          </a:p>
        </p:txBody>
      </p:sp>
      <p:graphicFrame>
        <p:nvGraphicFramePr>
          <p:cNvPr id="4" name="Content Placeholder 3"/>
          <p:cNvGraphicFramePr>
            <a:graphicFrameLocks noGrp="1"/>
          </p:cNvGraphicFramePr>
          <p:nvPr>
            <p:ph idx="1"/>
          </p:nvPr>
        </p:nvGraphicFramePr>
        <p:xfrm>
          <a:off x="457200" y="1071560"/>
          <a:ext cx="8229600" cy="4786331"/>
        </p:xfrm>
        <a:graphic>
          <a:graphicData uri="http://schemas.openxmlformats.org/drawingml/2006/table">
            <a:tbl>
              <a:tblPr firstRow="1" bandRow="1">
                <a:tableStyleId>{5C22544A-7EE6-4342-B048-85BDC9FD1C3A}</a:tableStyleId>
              </a:tblPr>
              <a:tblGrid>
                <a:gridCol w="900090"/>
                <a:gridCol w="1500198"/>
                <a:gridCol w="5829312"/>
              </a:tblGrid>
              <a:tr h="435121">
                <a:tc>
                  <a:txBody>
                    <a:bodyPr/>
                    <a:lstStyle/>
                    <a:p>
                      <a:r>
                        <a:rPr lang="en-IN" dirty="0" smtClean="0"/>
                        <a:t>Sl. No.</a:t>
                      </a:r>
                      <a:endParaRPr lang="en-IN" dirty="0"/>
                    </a:p>
                  </a:txBody>
                  <a:tcPr/>
                </a:tc>
                <a:tc>
                  <a:txBody>
                    <a:bodyPr/>
                    <a:lstStyle/>
                    <a:p>
                      <a:r>
                        <a:rPr lang="en-IN" dirty="0" smtClean="0"/>
                        <a:t>Functions</a:t>
                      </a:r>
                      <a:endParaRPr lang="en-IN" dirty="0"/>
                    </a:p>
                  </a:txBody>
                  <a:tcPr/>
                </a:tc>
                <a:tc>
                  <a:txBody>
                    <a:bodyPr/>
                    <a:lstStyle/>
                    <a:p>
                      <a:r>
                        <a:rPr lang="en-IN" dirty="0" smtClean="0"/>
                        <a:t>Descriptions</a:t>
                      </a:r>
                      <a:endParaRPr lang="en-IN" dirty="0"/>
                    </a:p>
                  </a:txBody>
                  <a:tcPr/>
                </a:tc>
              </a:tr>
              <a:tr h="435121">
                <a:tc>
                  <a:txBody>
                    <a:bodyPr/>
                    <a:lstStyle/>
                    <a:p>
                      <a:r>
                        <a:rPr lang="en-IN" dirty="0" smtClean="0"/>
                        <a:t>1</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sin(x)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Return the sine of x radians.</a:t>
                      </a:r>
                    </a:p>
                  </a:txBody>
                  <a:tcPr/>
                </a:tc>
              </a:tr>
              <a:tr h="435121">
                <a:tc>
                  <a:txBody>
                    <a:bodyPr/>
                    <a:lstStyle/>
                    <a:p>
                      <a:r>
                        <a:rPr lang="en-IN" dirty="0" smtClean="0"/>
                        <a:t>2</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err="1" smtClean="0"/>
                        <a:t>cos</a:t>
                      </a:r>
                      <a:r>
                        <a:rPr lang="en-IN" dirty="0" smtClean="0"/>
                        <a:t>(x)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Return the cosine of x radians.</a:t>
                      </a:r>
                      <a:endParaRPr lang="es-ES" dirty="0" smtClean="0"/>
                    </a:p>
                  </a:txBody>
                  <a:tcPr/>
                </a:tc>
              </a:tr>
              <a:tr h="435121">
                <a:tc>
                  <a:txBody>
                    <a:bodyPr/>
                    <a:lstStyle/>
                    <a:p>
                      <a:r>
                        <a:rPr lang="en-IN" dirty="0" smtClean="0"/>
                        <a:t>3</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tan(x)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Return the tangent of x radians.</a:t>
                      </a:r>
                    </a:p>
                  </a:txBody>
                  <a:tcPr/>
                </a:tc>
              </a:tr>
              <a:tr h="435121">
                <a:tc>
                  <a:txBody>
                    <a:bodyPr/>
                    <a:lstStyle/>
                    <a:p>
                      <a:r>
                        <a:rPr lang="en-IN" dirty="0" smtClean="0"/>
                        <a:t>4</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err="1" smtClean="0"/>
                        <a:t>asin</a:t>
                      </a:r>
                      <a:r>
                        <a:rPr lang="en-IN" dirty="0" smtClean="0"/>
                        <a:t>(x)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Return the arc sine of x, in radians.</a:t>
                      </a:r>
                    </a:p>
                  </a:txBody>
                  <a:tcPr/>
                </a:tc>
              </a:tr>
              <a:tr h="435121">
                <a:tc>
                  <a:txBody>
                    <a:bodyPr/>
                    <a:lstStyle/>
                    <a:p>
                      <a:r>
                        <a:rPr lang="en-IN" dirty="0" smtClean="0"/>
                        <a:t>5</a:t>
                      </a:r>
                      <a:endParaRPr lang="en-IN" dirty="0"/>
                    </a:p>
                  </a:txBody>
                  <a:tcPr/>
                </a:tc>
                <a:tc>
                  <a:txBody>
                    <a:bodyPr/>
                    <a:lstStyle/>
                    <a:p>
                      <a:r>
                        <a:rPr lang="en-IN" smtClean="0"/>
                        <a:t>acos(x)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Return the arc cosine of x, in radians.</a:t>
                      </a:r>
                    </a:p>
                  </a:txBody>
                  <a:tcPr/>
                </a:tc>
              </a:tr>
              <a:tr h="435121">
                <a:tc>
                  <a:txBody>
                    <a:bodyPr/>
                    <a:lstStyle/>
                    <a:p>
                      <a:r>
                        <a:rPr lang="en-IN" dirty="0" smtClean="0"/>
                        <a:t>6</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err="1" smtClean="0"/>
                        <a:t>atan</a:t>
                      </a:r>
                      <a:r>
                        <a:rPr lang="en-IN" dirty="0" smtClean="0"/>
                        <a:t>(x)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Return the arc tangent of x, in radians.</a:t>
                      </a:r>
                    </a:p>
                  </a:txBody>
                  <a:tcPr/>
                </a:tc>
              </a:tr>
              <a:tr h="435121">
                <a:tc>
                  <a:txBody>
                    <a:bodyPr/>
                    <a:lstStyle/>
                    <a:p>
                      <a:r>
                        <a:rPr lang="en-IN" dirty="0" smtClean="0"/>
                        <a:t>7</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atan2(y, 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err="1" smtClean="0"/>
                        <a:t>Return</a:t>
                      </a:r>
                      <a:r>
                        <a:rPr lang="es-ES" dirty="0" smtClean="0"/>
                        <a:t> atan(y / x), in </a:t>
                      </a:r>
                      <a:r>
                        <a:rPr lang="es-ES" dirty="0" err="1" smtClean="0"/>
                        <a:t>radians</a:t>
                      </a:r>
                      <a:r>
                        <a:rPr lang="es-ES" dirty="0" smtClean="0"/>
                        <a:t>.</a:t>
                      </a:r>
                      <a:endParaRPr lang="en-IN" dirty="0" smtClean="0"/>
                    </a:p>
                  </a:txBody>
                  <a:tcPr/>
                </a:tc>
              </a:tr>
              <a:tr h="435121">
                <a:tc>
                  <a:txBody>
                    <a:bodyPr/>
                    <a:lstStyle/>
                    <a:p>
                      <a:r>
                        <a:rPr lang="en-IN" dirty="0" smtClean="0"/>
                        <a:t>8</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err="1" smtClean="0"/>
                        <a:t>hypot</a:t>
                      </a:r>
                      <a:r>
                        <a:rPr lang="en-IN" dirty="0" smtClean="0"/>
                        <a:t>(x, 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Return the Euclidean norm, </a:t>
                      </a:r>
                      <a:r>
                        <a:rPr lang="en-IN" dirty="0" err="1" smtClean="0"/>
                        <a:t>sqrt</a:t>
                      </a:r>
                      <a:r>
                        <a:rPr lang="en-IN" dirty="0" smtClean="0"/>
                        <a:t>(x*x + y*y).</a:t>
                      </a:r>
                    </a:p>
                  </a:txBody>
                  <a:tcPr/>
                </a:tc>
              </a:tr>
              <a:tr h="435121">
                <a:tc>
                  <a:txBody>
                    <a:bodyPr/>
                    <a:lstStyle/>
                    <a:p>
                      <a:r>
                        <a:rPr lang="en-IN" dirty="0" smtClean="0"/>
                        <a:t>9</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degrees(x)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Converts angle x from radians to degrees.</a:t>
                      </a:r>
                    </a:p>
                  </a:txBody>
                  <a:tcPr/>
                </a:tc>
              </a:tr>
              <a:tr h="435121">
                <a:tc>
                  <a:txBody>
                    <a:bodyPr/>
                    <a:lstStyle/>
                    <a:p>
                      <a:r>
                        <a:rPr lang="en-IN" dirty="0" smtClean="0"/>
                        <a:t>10</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radians(x)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Converts angle x from degrees to radians.</a:t>
                      </a:r>
                    </a:p>
                  </a:txBody>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Mathematical Constants</a:t>
            </a:r>
            <a:endParaRPr lang="en-IN" dirty="0"/>
          </a:p>
        </p:txBody>
      </p:sp>
      <p:graphicFrame>
        <p:nvGraphicFramePr>
          <p:cNvPr id="5" name="Content Placeholder 4"/>
          <p:cNvGraphicFramePr>
            <a:graphicFrameLocks noGrp="1"/>
          </p:cNvGraphicFramePr>
          <p:nvPr>
            <p:ph idx="1"/>
          </p:nvPr>
        </p:nvGraphicFramePr>
        <p:xfrm>
          <a:off x="457200" y="1071563"/>
          <a:ext cx="8229600" cy="1224280"/>
        </p:xfrm>
        <a:graphic>
          <a:graphicData uri="http://schemas.openxmlformats.org/drawingml/2006/table">
            <a:tbl>
              <a:tblPr firstRow="1" bandRow="1">
                <a:tableStyleId>{5C22544A-7EE6-4342-B048-85BDC9FD1C3A}</a:tableStyleId>
              </a:tblPr>
              <a:tblGrid>
                <a:gridCol w="1042966"/>
                <a:gridCol w="1928826"/>
                <a:gridCol w="5257808"/>
              </a:tblGrid>
              <a:tr h="370840">
                <a:tc>
                  <a:txBody>
                    <a:bodyPr/>
                    <a:lstStyle/>
                    <a:p>
                      <a:r>
                        <a:rPr lang="en-IN" dirty="0" smtClean="0"/>
                        <a:t>Sl. No.</a:t>
                      </a:r>
                      <a:endParaRPr lang="en-IN" dirty="0"/>
                    </a:p>
                  </a:txBody>
                  <a:tcPr/>
                </a:tc>
                <a:tc>
                  <a:txBody>
                    <a:bodyPr/>
                    <a:lstStyle/>
                    <a:p>
                      <a:r>
                        <a:rPr lang="en-IN" dirty="0" smtClean="0"/>
                        <a:t>Functions</a:t>
                      </a:r>
                      <a:endParaRPr lang="en-IN" dirty="0"/>
                    </a:p>
                  </a:txBody>
                  <a:tcPr/>
                </a:tc>
                <a:tc>
                  <a:txBody>
                    <a:bodyPr/>
                    <a:lstStyle/>
                    <a:p>
                      <a:r>
                        <a:rPr lang="en-IN" dirty="0" smtClean="0"/>
                        <a:t>Descriptions</a:t>
                      </a:r>
                      <a:endParaRPr lang="en-IN" dirty="0"/>
                    </a:p>
                  </a:txBody>
                  <a:tcPr/>
                </a:tc>
              </a:tr>
              <a:tr h="370840">
                <a:tc>
                  <a:txBody>
                    <a:bodyPr/>
                    <a:lstStyle/>
                    <a:p>
                      <a:pPr algn="ctr" fontAlgn="t"/>
                      <a:r>
                        <a:rPr lang="en-IN" dirty="0"/>
                        <a:t>1</a:t>
                      </a:r>
                    </a:p>
                  </a:txBody>
                  <a:tcPr marL="76200" marR="76200" marT="76200" marB="76200"/>
                </a:tc>
                <a:tc>
                  <a:txBody>
                    <a:bodyPr/>
                    <a:lstStyle/>
                    <a:p>
                      <a:pPr algn="just" fontAlgn="t"/>
                      <a:r>
                        <a:rPr lang="en-IN" b="1" dirty="0" smtClean="0">
                          <a:solidFill>
                            <a:srgbClr val="000000"/>
                          </a:solidFill>
                        </a:rPr>
                        <a:t>pi</a:t>
                      </a:r>
                      <a:endParaRPr lang="en-IN" dirty="0">
                        <a:solidFill>
                          <a:srgbClr val="000000"/>
                        </a:solidFill>
                      </a:endParaRP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0000"/>
                          </a:solidFill>
                        </a:rPr>
                        <a:t>The mathematical constant pi.</a:t>
                      </a:r>
                    </a:p>
                  </a:txBody>
                  <a:tcPr/>
                </a:tc>
              </a:tr>
              <a:tr h="370840">
                <a:tc>
                  <a:txBody>
                    <a:bodyPr/>
                    <a:lstStyle/>
                    <a:p>
                      <a:pPr algn="ctr" fontAlgn="t"/>
                      <a:r>
                        <a:rPr lang="en-IN"/>
                        <a:t>2</a:t>
                      </a:r>
                    </a:p>
                  </a:txBody>
                  <a:tcPr marL="76200" marR="76200" marT="76200" marB="76200"/>
                </a:tc>
                <a:tc>
                  <a:txBody>
                    <a:bodyPr/>
                    <a:lstStyle/>
                    <a:p>
                      <a:pPr algn="just" fontAlgn="t"/>
                      <a:r>
                        <a:rPr lang="en-IN" b="1" dirty="0" smtClean="0">
                          <a:solidFill>
                            <a:srgbClr val="000000"/>
                          </a:solidFill>
                        </a:rPr>
                        <a:t>e</a:t>
                      </a:r>
                      <a:endParaRPr lang="en-IN" dirty="0">
                        <a:solidFill>
                          <a:srgbClr val="000000"/>
                        </a:solidFill>
                      </a:endParaRP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0000"/>
                          </a:solidFill>
                        </a:rPr>
                        <a:t>The mathematical constant e.</a:t>
                      </a:r>
                    </a:p>
                  </a:txBody>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Strings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Strings are amongst the most popular types in Python. We can create them simply by enclosing characters in quotes. Python treats single quotes the same as double quotes.</a:t>
            </a:r>
          </a:p>
          <a:p>
            <a:endParaRPr lang="en-IN"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Accessing Values in Strings</a:t>
            </a:r>
            <a:endParaRPr lang="en-IN" dirty="0"/>
          </a:p>
        </p:txBody>
      </p:sp>
      <p:sp>
        <p:nvSpPr>
          <p:cNvPr id="3" name="Content Placeholder 2"/>
          <p:cNvSpPr>
            <a:spLocks noGrp="1"/>
          </p:cNvSpPr>
          <p:nvPr>
            <p:ph idx="1"/>
          </p:nvPr>
        </p:nvSpPr>
        <p:spPr>
          <a:xfrm>
            <a:off x="457200" y="1071546"/>
            <a:ext cx="8229600" cy="5643602"/>
          </a:xfrm>
        </p:spPr>
        <p:txBody>
          <a:bodyPr>
            <a:normAutofit lnSpcReduction="10000"/>
          </a:bodyPr>
          <a:lstStyle/>
          <a:p>
            <a:r>
              <a:rPr lang="en-IN" dirty="0" smtClean="0"/>
              <a:t>Python does not support a character type.</a:t>
            </a:r>
          </a:p>
          <a:p>
            <a:r>
              <a:rPr lang="en-IN" dirty="0" smtClean="0"/>
              <a:t>To access substrings, use the square brackets for slicing along with the index or indices to obtain your substring.</a:t>
            </a:r>
          </a:p>
          <a:p>
            <a:pPr lvl="1"/>
            <a:r>
              <a:rPr lang="en-IN" dirty="0" smtClean="0"/>
              <a:t>var1 = 'Hello World!' </a:t>
            </a:r>
          </a:p>
          <a:p>
            <a:pPr lvl="1"/>
            <a:r>
              <a:rPr lang="en-IN" dirty="0" smtClean="0"/>
              <a:t>var2 = "Python Programming" </a:t>
            </a:r>
          </a:p>
          <a:p>
            <a:pPr lvl="1"/>
            <a:r>
              <a:rPr lang="en-IN" dirty="0" smtClean="0"/>
              <a:t>print "var1[0]: ", var1[0] </a:t>
            </a:r>
          </a:p>
          <a:p>
            <a:pPr lvl="1"/>
            <a:r>
              <a:rPr lang="en-IN" dirty="0" smtClean="0"/>
              <a:t>print "var2[1:5]: ", var2[1:5]</a:t>
            </a:r>
            <a:endParaRPr lang="en-IN" dirty="0"/>
          </a:p>
          <a:p>
            <a:pPr lvl="1">
              <a:buNone/>
            </a:pPr>
            <a:r>
              <a:rPr lang="en-IN" dirty="0" smtClean="0"/>
              <a:t>Output:</a:t>
            </a:r>
          </a:p>
          <a:p>
            <a:pPr lvl="1"/>
            <a:r>
              <a:rPr lang="en-IN" dirty="0" smtClean="0"/>
              <a:t>var1[0]: H </a:t>
            </a:r>
          </a:p>
          <a:p>
            <a:pPr lvl="1"/>
            <a:r>
              <a:rPr lang="en-IN" dirty="0" smtClean="0"/>
              <a:t>var2[1:5]: </a:t>
            </a:r>
            <a:r>
              <a:rPr lang="en-IN" dirty="0" err="1" smtClean="0"/>
              <a:t>ytho</a:t>
            </a:r>
            <a:r>
              <a:rPr lang="en-IN" dirty="0" smtClean="0"/>
              <a:t> </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Updating Strings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You can "update" an existing string by (re)assigning a variable to another string. The new value can be related to its previous value or to a completely different string altogether.</a:t>
            </a:r>
          </a:p>
          <a:p>
            <a:pPr lvl="1"/>
            <a:r>
              <a:rPr lang="en-IN" dirty="0" smtClean="0"/>
              <a:t>var1 = 'Hello World!' </a:t>
            </a:r>
          </a:p>
          <a:p>
            <a:pPr lvl="1"/>
            <a:r>
              <a:rPr lang="en-IN" dirty="0" smtClean="0"/>
              <a:t>print "Updated String :- ", var1[:6] + 'Python‘</a:t>
            </a:r>
          </a:p>
          <a:p>
            <a:r>
              <a:rPr lang="en-IN" dirty="0" smtClean="0"/>
              <a:t>Output:</a:t>
            </a:r>
          </a:p>
          <a:p>
            <a:pPr lvl="1"/>
            <a:r>
              <a:rPr lang="en-IN" dirty="0" smtClean="0"/>
              <a:t>Updated String :- Hello Python</a:t>
            </a:r>
            <a:endParaRPr lang="en-IN"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582594"/>
          </a:xfrm>
        </p:spPr>
        <p:txBody>
          <a:bodyPr>
            <a:normAutofit fontScale="90000"/>
          </a:bodyPr>
          <a:lstStyle/>
          <a:p>
            <a:r>
              <a:rPr lang="en-IN" dirty="0" smtClean="0"/>
              <a:t>Escape Characters</a:t>
            </a:r>
            <a:endParaRPr lang="en-IN" dirty="0"/>
          </a:p>
        </p:txBody>
      </p:sp>
      <p:graphicFrame>
        <p:nvGraphicFramePr>
          <p:cNvPr id="4" name="Content Placeholder 3"/>
          <p:cNvGraphicFramePr>
            <a:graphicFrameLocks noGrp="1"/>
          </p:cNvGraphicFramePr>
          <p:nvPr>
            <p:ph idx="1"/>
          </p:nvPr>
        </p:nvGraphicFramePr>
        <p:xfrm>
          <a:off x="357158" y="472003"/>
          <a:ext cx="8472518" cy="6385997"/>
        </p:xfrm>
        <a:graphic>
          <a:graphicData uri="http://schemas.openxmlformats.org/drawingml/2006/table">
            <a:tbl>
              <a:tblPr firstRow="1" bandRow="1">
                <a:tableStyleId>{5C22544A-7EE6-4342-B048-85BDC9FD1C3A}</a:tableStyleId>
              </a:tblPr>
              <a:tblGrid>
                <a:gridCol w="2900354"/>
                <a:gridCol w="5572164"/>
              </a:tblGrid>
              <a:tr h="250732">
                <a:tc>
                  <a:txBody>
                    <a:bodyPr/>
                    <a:lstStyle/>
                    <a:p>
                      <a:pPr algn="ctr" fontAlgn="t"/>
                      <a:r>
                        <a:rPr lang="en-IN" dirty="0"/>
                        <a:t>Backslash notation</a:t>
                      </a:r>
                    </a:p>
                  </a:txBody>
                  <a:tcPr marL="76200" marR="76200" marT="76200" marB="76200"/>
                </a:tc>
                <a:tc>
                  <a:txBody>
                    <a:bodyPr/>
                    <a:lstStyle/>
                    <a:p>
                      <a:pPr algn="ctr" fontAlgn="t"/>
                      <a:r>
                        <a:rPr lang="en-IN" dirty="0"/>
                        <a:t>Description</a:t>
                      </a:r>
                    </a:p>
                  </a:txBody>
                  <a:tcPr marL="76200" marR="76200" marT="76200" marB="76200"/>
                </a:tc>
              </a:tr>
              <a:tr h="250732">
                <a:tc>
                  <a:txBody>
                    <a:bodyPr/>
                    <a:lstStyle/>
                    <a:p>
                      <a:pPr fontAlgn="t"/>
                      <a:r>
                        <a:rPr lang="en-IN" sz="1600" dirty="0"/>
                        <a:t>\a</a:t>
                      </a:r>
                    </a:p>
                  </a:txBody>
                  <a:tcPr marL="76200" marR="76200" marT="76200" marB="76200"/>
                </a:tc>
                <a:tc>
                  <a:txBody>
                    <a:bodyPr/>
                    <a:lstStyle/>
                    <a:p>
                      <a:pPr fontAlgn="t"/>
                      <a:r>
                        <a:rPr lang="en-IN" sz="1600"/>
                        <a:t>Bell or alert</a:t>
                      </a:r>
                    </a:p>
                  </a:txBody>
                  <a:tcPr marL="76200" marR="76200" marT="76200" marB="76200"/>
                </a:tc>
              </a:tr>
              <a:tr h="250732">
                <a:tc>
                  <a:txBody>
                    <a:bodyPr/>
                    <a:lstStyle/>
                    <a:p>
                      <a:pPr fontAlgn="t"/>
                      <a:r>
                        <a:rPr lang="en-IN" sz="1600" dirty="0"/>
                        <a:t>\b</a:t>
                      </a:r>
                    </a:p>
                  </a:txBody>
                  <a:tcPr marL="76200" marR="76200" marT="76200" marB="76200"/>
                </a:tc>
                <a:tc>
                  <a:txBody>
                    <a:bodyPr/>
                    <a:lstStyle/>
                    <a:p>
                      <a:pPr fontAlgn="t"/>
                      <a:r>
                        <a:rPr lang="en-IN" sz="1600"/>
                        <a:t>Backspace</a:t>
                      </a:r>
                    </a:p>
                  </a:txBody>
                  <a:tcPr marL="76200" marR="76200" marT="76200" marB="76200"/>
                </a:tc>
              </a:tr>
              <a:tr h="250732">
                <a:tc>
                  <a:txBody>
                    <a:bodyPr/>
                    <a:lstStyle/>
                    <a:p>
                      <a:pPr fontAlgn="t"/>
                      <a:r>
                        <a:rPr lang="en-IN" sz="1600" dirty="0"/>
                        <a:t>\</a:t>
                      </a:r>
                      <a:r>
                        <a:rPr lang="en-IN" sz="1600" dirty="0" err="1"/>
                        <a:t>cx</a:t>
                      </a:r>
                      <a:endParaRPr lang="en-IN" sz="1600" dirty="0"/>
                    </a:p>
                  </a:txBody>
                  <a:tcPr marL="76200" marR="76200" marT="76200" marB="76200"/>
                </a:tc>
                <a:tc>
                  <a:txBody>
                    <a:bodyPr/>
                    <a:lstStyle/>
                    <a:p>
                      <a:pPr fontAlgn="t"/>
                      <a:r>
                        <a:rPr lang="en-IN" sz="1600"/>
                        <a:t>Control-x</a:t>
                      </a:r>
                    </a:p>
                  </a:txBody>
                  <a:tcPr marL="76200" marR="76200" marT="76200" marB="76200"/>
                </a:tc>
              </a:tr>
              <a:tr h="250732">
                <a:tc>
                  <a:txBody>
                    <a:bodyPr/>
                    <a:lstStyle/>
                    <a:p>
                      <a:pPr fontAlgn="t"/>
                      <a:r>
                        <a:rPr lang="en-IN" sz="1600" dirty="0"/>
                        <a:t>\C-x</a:t>
                      </a:r>
                    </a:p>
                  </a:txBody>
                  <a:tcPr marL="76200" marR="76200" marT="76200" marB="76200"/>
                </a:tc>
                <a:tc>
                  <a:txBody>
                    <a:bodyPr/>
                    <a:lstStyle/>
                    <a:p>
                      <a:pPr fontAlgn="t"/>
                      <a:r>
                        <a:rPr lang="en-IN" sz="1600"/>
                        <a:t>Control-x</a:t>
                      </a:r>
                    </a:p>
                  </a:txBody>
                  <a:tcPr marL="76200" marR="76200" marT="76200" marB="76200"/>
                </a:tc>
              </a:tr>
              <a:tr h="250732">
                <a:tc>
                  <a:txBody>
                    <a:bodyPr/>
                    <a:lstStyle/>
                    <a:p>
                      <a:pPr fontAlgn="t"/>
                      <a:r>
                        <a:rPr lang="en-IN" sz="1600"/>
                        <a:t>\e</a:t>
                      </a:r>
                    </a:p>
                  </a:txBody>
                  <a:tcPr marL="76200" marR="76200" marT="76200" marB="76200"/>
                </a:tc>
                <a:tc>
                  <a:txBody>
                    <a:bodyPr/>
                    <a:lstStyle/>
                    <a:p>
                      <a:pPr fontAlgn="t"/>
                      <a:r>
                        <a:rPr lang="en-IN" sz="1600"/>
                        <a:t>Escape</a:t>
                      </a:r>
                    </a:p>
                  </a:txBody>
                  <a:tcPr marL="76200" marR="76200" marT="76200" marB="76200"/>
                </a:tc>
              </a:tr>
              <a:tr h="250732">
                <a:tc>
                  <a:txBody>
                    <a:bodyPr/>
                    <a:lstStyle/>
                    <a:p>
                      <a:pPr fontAlgn="t"/>
                      <a:r>
                        <a:rPr lang="en-IN" sz="1600" dirty="0"/>
                        <a:t>\f</a:t>
                      </a:r>
                    </a:p>
                  </a:txBody>
                  <a:tcPr marL="76200" marR="76200" marT="76200" marB="76200"/>
                </a:tc>
                <a:tc>
                  <a:txBody>
                    <a:bodyPr/>
                    <a:lstStyle/>
                    <a:p>
                      <a:pPr fontAlgn="t"/>
                      <a:r>
                        <a:rPr lang="en-IN" sz="1600" dirty="0" err="1"/>
                        <a:t>Formfeed</a:t>
                      </a:r>
                      <a:endParaRPr lang="en-IN" sz="1600" dirty="0"/>
                    </a:p>
                  </a:txBody>
                  <a:tcPr marL="76200" marR="76200" marT="76200" marB="76200"/>
                </a:tc>
              </a:tr>
              <a:tr h="250732">
                <a:tc>
                  <a:txBody>
                    <a:bodyPr/>
                    <a:lstStyle/>
                    <a:p>
                      <a:pPr fontAlgn="t"/>
                      <a:r>
                        <a:rPr lang="en-IN" sz="1600"/>
                        <a:t>\M-\C-x</a:t>
                      </a:r>
                    </a:p>
                  </a:txBody>
                  <a:tcPr marL="76200" marR="76200" marT="76200" marB="76200"/>
                </a:tc>
                <a:tc>
                  <a:txBody>
                    <a:bodyPr/>
                    <a:lstStyle/>
                    <a:p>
                      <a:pPr fontAlgn="t"/>
                      <a:r>
                        <a:rPr lang="en-IN" sz="1600" dirty="0"/>
                        <a:t>Meta-Control-x</a:t>
                      </a:r>
                    </a:p>
                  </a:txBody>
                  <a:tcPr marL="76200" marR="76200" marT="76200" marB="76200"/>
                </a:tc>
              </a:tr>
              <a:tr h="250732">
                <a:tc>
                  <a:txBody>
                    <a:bodyPr/>
                    <a:lstStyle/>
                    <a:p>
                      <a:pPr fontAlgn="t"/>
                      <a:r>
                        <a:rPr lang="en-IN" sz="1600"/>
                        <a:t>\n</a:t>
                      </a:r>
                    </a:p>
                  </a:txBody>
                  <a:tcPr marL="76200" marR="76200" marT="76200" marB="76200"/>
                </a:tc>
                <a:tc>
                  <a:txBody>
                    <a:bodyPr/>
                    <a:lstStyle/>
                    <a:p>
                      <a:pPr fontAlgn="t"/>
                      <a:r>
                        <a:rPr lang="en-IN" sz="1600" dirty="0"/>
                        <a:t>Newline</a:t>
                      </a:r>
                    </a:p>
                  </a:txBody>
                  <a:tcPr marL="76200" marR="76200" marT="76200" marB="76200"/>
                </a:tc>
              </a:tr>
              <a:tr h="250732">
                <a:tc>
                  <a:txBody>
                    <a:bodyPr/>
                    <a:lstStyle/>
                    <a:p>
                      <a:pPr fontAlgn="t"/>
                      <a:r>
                        <a:rPr lang="en-IN" sz="1600"/>
                        <a:t>\nnn</a:t>
                      </a:r>
                    </a:p>
                  </a:txBody>
                  <a:tcPr marL="76200" marR="76200" marT="76200" marB="76200"/>
                </a:tc>
                <a:tc>
                  <a:txBody>
                    <a:bodyPr/>
                    <a:lstStyle/>
                    <a:p>
                      <a:pPr fontAlgn="t"/>
                      <a:r>
                        <a:rPr lang="en-IN" sz="1600" dirty="0"/>
                        <a:t>Octal notation, where n is in the range 0.7</a:t>
                      </a:r>
                    </a:p>
                  </a:txBody>
                  <a:tcPr marL="76200" marR="76200" marT="76200" marB="76200"/>
                </a:tc>
              </a:tr>
              <a:tr h="250732">
                <a:tc>
                  <a:txBody>
                    <a:bodyPr/>
                    <a:lstStyle/>
                    <a:p>
                      <a:pPr fontAlgn="t"/>
                      <a:r>
                        <a:rPr lang="en-IN" sz="1600"/>
                        <a:t>\r</a:t>
                      </a:r>
                    </a:p>
                  </a:txBody>
                  <a:tcPr marL="76200" marR="76200" marT="76200" marB="76200"/>
                </a:tc>
                <a:tc>
                  <a:txBody>
                    <a:bodyPr/>
                    <a:lstStyle/>
                    <a:p>
                      <a:pPr fontAlgn="t"/>
                      <a:r>
                        <a:rPr lang="en-IN" sz="1600" dirty="0"/>
                        <a:t>Carriage return</a:t>
                      </a:r>
                    </a:p>
                  </a:txBody>
                  <a:tcPr marL="76200" marR="76200" marT="76200" marB="76200"/>
                </a:tc>
              </a:tr>
              <a:tr h="250732">
                <a:tc>
                  <a:txBody>
                    <a:bodyPr/>
                    <a:lstStyle/>
                    <a:p>
                      <a:pPr fontAlgn="t"/>
                      <a:r>
                        <a:rPr lang="en-IN" sz="1600"/>
                        <a:t>\s</a:t>
                      </a:r>
                    </a:p>
                  </a:txBody>
                  <a:tcPr marL="76200" marR="76200" marT="76200" marB="76200"/>
                </a:tc>
                <a:tc>
                  <a:txBody>
                    <a:bodyPr/>
                    <a:lstStyle/>
                    <a:p>
                      <a:pPr fontAlgn="t"/>
                      <a:r>
                        <a:rPr lang="en-IN" sz="1600" dirty="0"/>
                        <a:t>Space</a:t>
                      </a:r>
                    </a:p>
                  </a:txBody>
                  <a:tcPr marL="76200" marR="76200" marT="76200" marB="76200"/>
                </a:tc>
              </a:tr>
              <a:tr h="250732">
                <a:tc>
                  <a:txBody>
                    <a:bodyPr/>
                    <a:lstStyle/>
                    <a:p>
                      <a:pPr fontAlgn="t"/>
                      <a:r>
                        <a:rPr lang="en-IN" sz="1600"/>
                        <a:t>\t</a:t>
                      </a:r>
                    </a:p>
                  </a:txBody>
                  <a:tcPr marL="76200" marR="76200" marT="76200" marB="76200"/>
                </a:tc>
                <a:tc>
                  <a:txBody>
                    <a:bodyPr/>
                    <a:lstStyle/>
                    <a:p>
                      <a:pPr fontAlgn="t"/>
                      <a:r>
                        <a:rPr lang="en-IN" sz="1600" dirty="0"/>
                        <a:t>Tab</a:t>
                      </a:r>
                    </a:p>
                  </a:txBody>
                  <a:tcPr marL="76200" marR="76200" marT="76200" marB="76200"/>
                </a:tc>
              </a:tr>
              <a:tr h="250732">
                <a:tc>
                  <a:txBody>
                    <a:bodyPr/>
                    <a:lstStyle/>
                    <a:p>
                      <a:pPr fontAlgn="t"/>
                      <a:r>
                        <a:rPr lang="en-IN" sz="1600"/>
                        <a:t>\v</a:t>
                      </a:r>
                    </a:p>
                  </a:txBody>
                  <a:tcPr marL="76200" marR="76200" marT="76200" marB="76200"/>
                </a:tc>
                <a:tc>
                  <a:txBody>
                    <a:bodyPr/>
                    <a:lstStyle/>
                    <a:p>
                      <a:pPr fontAlgn="t"/>
                      <a:r>
                        <a:rPr lang="en-IN" sz="1600" dirty="0"/>
                        <a:t>Vertical tab</a:t>
                      </a:r>
                    </a:p>
                  </a:txBody>
                  <a:tcPr marL="76200" marR="76200" marT="76200" marB="76200"/>
                </a:tc>
              </a:tr>
              <a:tr h="250732">
                <a:tc>
                  <a:txBody>
                    <a:bodyPr/>
                    <a:lstStyle/>
                    <a:p>
                      <a:pPr fontAlgn="t"/>
                      <a:r>
                        <a:rPr lang="en-IN" sz="1600"/>
                        <a:t>\x</a:t>
                      </a:r>
                    </a:p>
                  </a:txBody>
                  <a:tcPr marL="76200" marR="76200" marT="76200" marB="76200"/>
                </a:tc>
                <a:tc>
                  <a:txBody>
                    <a:bodyPr/>
                    <a:lstStyle/>
                    <a:p>
                      <a:pPr fontAlgn="t"/>
                      <a:r>
                        <a:rPr lang="en-IN" sz="1600" dirty="0"/>
                        <a:t>Character x</a:t>
                      </a:r>
                    </a:p>
                  </a:txBody>
                  <a:tcPr marL="76200" marR="76200" marT="76200" marB="76200"/>
                </a:tc>
              </a:tr>
              <a:tr h="411917">
                <a:tc>
                  <a:txBody>
                    <a:bodyPr/>
                    <a:lstStyle/>
                    <a:p>
                      <a:pPr algn="l" fontAlgn="t"/>
                      <a:r>
                        <a:rPr lang="en-IN" sz="1600" dirty="0" smtClean="0"/>
                        <a:t>\</a:t>
                      </a:r>
                      <a:r>
                        <a:rPr lang="en-IN" sz="1600" dirty="0" err="1" smtClean="0"/>
                        <a:t>xnn</a:t>
                      </a:r>
                      <a:endParaRPr lang="en-IN" sz="1600" dirty="0"/>
                    </a:p>
                  </a:txBody>
                  <a:tcPr marL="76200" marR="76200" marT="76200" marB="76200"/>
                </a:tc>
                <a:tc>
                  <a:txBody>
                    <a:bodyPr/>
                    <a:lstStyle/>
                    <a:p>
                      <a:pPr fontAlgn="t"/>
                      <a:r>
                        <a:rPr lang="en-IN" sz="1600" dirty="0"/>
                        <a:t>Hexadecimal notation, where n is in the range 0.9, </a:t>
                      </a:r>
                      <a:r>
                        <a:rPr lang="en-IN" sz="1600" dirty="0" err="1"/>
                        <a:t>a.f</a:t>
                      </a:r>
                      <a:r>
                        <a:rPr lang="en-IN" sz="1600" dirty="0"/>
                        <a:t>, or A.F</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String Special Operators</a:t>
            </a:r>
            <a:endParaRPr lang="en-IN" dirty="0"/>
          </a:p>
        </p:txBody>
      </p:sp>
      <p:graphicFrame>
        <p:nvGraphicFramePr>
          <p:cNvPr id="4" name="Content Placeholder 3"/>
          <p:cNvGraphicFramePr>
            <a:graphicFrameLocks noGrp="1"/>
          </p:cNvGraphicFramePr>
          <p:nvPr>
            <p:ph idx="1"/>
          </p:nvPr>
        </p:nvGraphicFramePr>
        <p:xfrm>
          <a:off x="457200" y="1071563"/>
          <a:ext cx="8229600" cy="4907280"/>
        </p:xfrm>
        <a:graphic>
          <a:graphicData uri="http://schemas.openxmlformats.org/drawingml/2006/table">
            <a:tbl>
              <a:tblPr firstRow="1" bandRow="1">
                <a:tableStyleId>{5C22544A-7EE6-4342-B048-85BDC9FD1C3A}</a:tableStyleId>
              </a:tblPr>
              <a:tblGrid>
                <a:gridCol w="1185842"/>
                <a:gridCol w="4300558"/>
                <a:gridCol w="2743200"/>
              </a:tblGrid>
              <a:tr h="370840">
                <a:tc>
                  <a:txBody>
                    <a:bodyPr/>
                    <a:lstStyle/>
                    <a:p>
                      <a:pPr algn="ctr" fontAlgn="t"/>
                      <a:r>
                        <a:rPr lang="en-IN" dirty="0"/>
                        <a:t>Operator</a:t>
                      </a:r>
                    </a:p>
                  </a:txBody>
                  <a:tcPr marL="76200" marR="76200" marT="76200" marB="76200"/>
                </a:tc>
                <a:tc>
                  <a:txBody>
                    <a:bodyPr/>
                    <a:lstStyle/>
                    <a:p>
                      <a:pPr algn="ctr" fontAlgn="t"/>
                      <a:r>
                        <a:rPr lang="en-IN" dirty="0"/>
                        <a:t>Description</a:t>
                      </a:r>
                    </a:p>
                  </a:txBody>
                  <a:tcPr marL="76200" marR="76200" marT="76200" marB="76200"/>
                </a:tc>
                <a:tc>
                  <a:txBody>
                    <a:bodyPr/>
                    <a:lstStyle/>
                    <a:p>
                      <a:pPr algn="ctr" fontAlgn="t"/>
                      <a:r>
                        <a:rPr lang="en-IN" dirty="0"/>
                        <a:t>Example</a:t>
                      </a:r>
                    </a:p>
                  </a:txBody>
                  <a:tcPr marL="76200" marR="76200" marT="76200" marB="76200"/>
                </a:tc>
              </a:tr>
              <a:tr h="370840">
                <a:tc>
                  <a:txBody>
                    <a:bodyPr/>
                    <a:lstStyle/>
                    <a:p>
                      <a:pPr algn="ctr" fontAlgn="t"/>
                      <a:r>
                        <a:rPr lang="en-IN" dirty="0"/>
                        <a:t>+</a:t>
                      </a:r>
                    </a:p>
                  </a:txBody>
                  <a:tcPr marL="76200" marR="76200" marT="76200" marB="76200"/>
                </a:tc>
                <a:tc>
                  <a:txBody>
                    <a:bodyPr/>
                    <a:lstStyle/>
                    <a:p>
                      <a:pPr fontAlgn="t"/>
                      <a:r>
                        <a:rPr lang="en-IN"/>
                        <a:t>Concatenation - Adds values on either side of the operator</a:t>
                      </a:r>
                    </a:p>
                  </a:txBody>
                  <a:tcPr marL="76200" marR="76200" marT="76200" marB="76200"/>
                </a:tc>
                <a:tc>
                  <a:txBody>
                    <a:bodyPr/>
                    <a:lstStyle/>
                    <a:p>
                      <a:pPr algn="ctr" fontAlgn="t"/>
                      <a:r>
                        <a:rPr lang="en-IN"/>
                        <a:t>a + b will give HelloPython</a:t>
                      </a:r>
                    </a:p>
                  </a:txBody>
                  <a:tcPr marL="76200" marR="76200" marT="76200" marB="76200"/>
                </a:tc>
              </a:tr>
              <a:tr h="370840">
                <a:tc>
                  <a:txBody>
                    <a:bodyPr/>
                    <a:lstStyle/>
                    <a:p>
                      <a:pPr algn="ctr" fontAlgn="t"/>
                      <a:r>
                        <a:rPr lang="en-IN"/>
                        <a:t>*</a:t>
                      </a:r>
                    </a:p>
                  </a:txBody>
                  <a:tcPr marL="76200" marR="76200" marT="76200" marB="76200"/>
                </a:tc>
                <a:tc>
                  <a:txBody>
                    <a:bodyPr/>
                    <a:lstStyle/>
                    <a:p>
                      <a:pPr fontAlgn="t"/>
                      <a:r>
                        <a:rPr lang="en-IN"/>
                        <a:t>Repetition - Creates new strings, concatenating multiple copies of the same string</a:t>
                      </a:r>
                    </a:p>
                  </a:txBody>
                  <a:tcPr marL="76200" marR="76200" marT="76200" marB="76200"/>
                </a:tc>
                <a:tc>
                  <a:txBody>
                    <a:bodyPr/>
                    <a:lstStyle/>
                    <a:p>
                      <a:pPr algn="ctr" fontAlgn="t"/>
                      <a:r>
                        <a:rPr lang="en-IN"/>
                        <a:t>a*2 will give -HelloHello</a:t>
                      </a:r>
                    </a:p>
                  </a:txBody>
                  <a:tcPr marL="76200" marR="76200" marT="76200" marB="76200"/>
                </a:tc>
              </a:tr>
              <a:tr h="370840">
                <a:tc>
                  <a:txBody>
                    <a:bodyPr/>
                    <a:lstStyle/>
                    <a:p>
                      <a:pPr algn="ctr" fontAlgn="t"/>
                      <a:r>
                        <a:rPr lang="en-IN"/>
                        <a:t>[]</a:t>
                      </a:r>
                    </a:p>
                  </a:txBody>
                  <a:tcPr marL="76200" marR="76200" marT="76200" marB="76200"/>
                </a:tc>
                <a:tc>
                  <a:txBody>
                    <a:bodyPr/>
                    <a:lstStyle/>
                    <a:p>
                      <a:pPr fontAlgn="t"/>
                      <a:r>
                        <a:rPr lang="en-IN"/>
                        <a:t>Slice - Gives the character from the given index</a:t>
                      </a:r>
                    </a:p>
                  </a:txBody>
                  <a:tcPr marL="76200" marR="76200" marT="76200" marB="76200"/>
                </a:tc>
                <a:tc>
                  <a:txBody>
                    <a:bodyPr/>
                    <a:lstStyle/>
                    <a:p>
                      <a:pPr algn="ctr" fontAlgn="t"/>
                      <a:r>
                        <a:rPr lang="en-IN"/>
                        <a:t>a[1] will give e</a:t>
                      </a:r>
                    </a:p>
                  </a:txBody>
                  <a:tcPr marL="76200" marR="76200" marT="76200" marB="76200"/>
                </a:tc>
              </a:tr>
              <a:tr h="370840">
                <a:tc>
                  <a:txBody>
                    <a:bodyPr/>
                    <a:lstStyle/>
                    <a:p>
                      <a:pPr algn="ctr" fontAlgn="t"/>
                      <a:r>
                        <a:rPr lang="en-IN"/>
                        <a:t>[ : ]</a:t>
                      </a:r>
                    </a:p>
                  </a:txBody>
                  <a:tcPr marL="76200" marR="76200" marT="76200" marB="76200"/>
                </a:tc>
                <a:tc>
                  <a:txBody>
                    <a:bodyPr/>
                    <a:lstStyle/>
                    <a:p>
                      <a:pPr fontAlgn="t"/>
                      <a:r>
                        <a:rPr lang="en-IN"/>
                        <a:t>Range Slice - Gives the characters from the given range</a:t>
                      </a:r>
                    </a:p>
                  </a:txBody>
                  <a:tcPr marL="76200" marR="76200" marT="76200" marB="76200"/>
                </a:tc>
                <a:tc>
                  <a:txBody>
                    <a:bodyPr/>
                    <a:lstStyle/>
                    <a:p>
                      <a:pPr algn="ctr" fontAlgn="t"/>
                      <a:r>
                        <a:rPr lang="en-IN"/>
                        <a:t>a[1:4] will give ell</a:t>
                      </a:r>
                    </a:p>
                  </a:txBody>
                  <a:tcPr marL="76200" marR="76200" marT="76200" marB="76200"/>
                </a:tc>
              </a:tr>
              <a:tr h="370840">
                <a:tc>
                  <a:txBody>
                    <a:bodyPr/>
                    <a:lstStyle/>
                    <a:p>
                      <a:pPr algn="ctr" fontAlgn="t"/>
                      <a:r>
                        <a:rPr lang="en-IN"/>
                        <a:t>in</a:t>
                      </a:r>
                    </a:p>
                  </a:txBody>
                  <a:tcPr marL="76200" marR="76200" marT="76200" marB="76200"/>
                </a:tc>
                <a:tc>
                  <a:txBody>
                    <a:bodyPr/>
                    <a:lstStyle/>
                    <a:p>
                      <a:pPr fontAlgn="t"/>
                      <a:r>
                        <a:rPr lang="en-IN"/>
                        <a:t>Membership - Returns true if a character exists in the given string</a:t>
                      </a:r>
                    </a:p>
                  </a:txBody>
                  <a:tcPr marL="76200" marR="76200" marT="76200" marB="76200"/>
                </a:tc>
                <a:tc>
                  <a:txBody>
                    <a:bodyPr/>
                    <a:lstStyle/>
                    <a:p>
                      <a:pPr algn="ctr" fontAlgn="t"/>
                      <a:r>
                        <a:rPr lang="en-IN"/>
                        <a:t>H in a will give 1</a:t>
                      </a:r>
                    </a:p>
                  </a:txBody>
                  <a:tcPr marL="76200" marR="76200" marT="76200" marB="76200"/>
                </a:tc>
              </a:tr>
              <a:tr h="370840">
                <a:tc>
                  <a:txBody>
                    <a:bodyPr/>
                    <a:lstStyle/>
                    <a:p>
                      <a:pPr algn="ctr" fontAlgn="t"/>
                      <a:r>
                        <a:rPr lang="en-IN"/>
                        <a:t>not in</a:t>
                      </a:r>
                    </a:p>
                  </a:txBody>
                  <a:tcPr marL="76200" marR="76200" marT="76200" marB="76200"/>
                </a:tc>
                <a:tc>
                  <a:txBody>
                    <a:bodyPr/>
                    <a:lstStyle/>
                    <a:p>
                      <a:pPr fontAlgn="t"/>
                      <a:r>
                        <a:rPr lang="en-IN" dirty="0"/>
                        <a:t>Membership - Returns true if a character does not exist in the given string</a:t>
                      </a:r>
                    </a:p>
                  </a:txBody>
                  <a:tcPr marL="76200" marR="76200" marT="76200" marB="76200"/>
                </a:tc>
                <a:tc>
                  <a:txBody>
                    <a:bodyPr/>
                    <a:lstStyle/>
                    <a:p>
                      <a:pPr algn="ctr" fontAlgn="t"/>
                      <a:r>
                        <a:rPr lang="en-IN" dirty="0"/>
                        <a:t>M not in a will give 1</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Built in String Methods</a:t>
            </a:r>
            <a:endParaRPr lang="en-IN" dirty="0"/>
          </a:p>
        </p:txBody>
      </p:sp>
      <p:graphicFrame>
        <p:nvGraphicFramePr>
          <p:cNvPr id="4" name="Content Placeholder 3"/>
          <p:cNvGraphicFramePr>
            <a:graphicFrameLocks noGrp="1"/>
          </p:cNvGraphicFramePr>
          <p:nvPr>
            <p:ph idx="1"/>
          </p:nvPr>
        </p:nvGraphicFramePr>
        <p:xfrm>
          <a:off x="428596" y="1005840"/>
          <a:ext cx="8229600" cy="5585118"/>
        </p:xfrm>
        <a:graphic>
          <a:graphicData uri="http://schemas.openxmlformats.org/drawingml/2006/table">
            <a:tbl>
              <a:tblPr firstRow="1" bandRow="1">
                <a:tableStyleId>{5C22544A-7EE6-4342-B048-85BDC9FD1C3A}</a:tableStyleId>
              </a:tblPr>
              <a:tblGrid>
                <a:gridCol w="971528"/>
                <a:gridCol w="2571768"/>
                <a:gridCol w="4686304"/>
              </a:tblGrid>
              <a:tr h="352790">
                <a:tc>
                  <a:txBody>
                    <a:bodyPr/>
                    <a:lstStyle/>
                    <a:p>
                      <a:r>
                        <a:rPr lang="en-IN" dirty="0" smtClean="0"/>
                        <a:t>Sl. No.</a:t>
                      </a:r>
                      <a:endParaRPr lang="en-IN" dirty="0"/>
                    </a:p>
                  </a:txBody>
                  <a:tcPr/>
                </a:tc>
                <a:tc>
                  <a:txBody>
                    <a:bodyPr/>
                    <a:lstStyle/>
                    <a:p>
                      <a:r>
                        <a:rPr lang="en-IN" dirty="0" smtClean="0"/>
                        <a:t>Methods</a:t>
                      </a:r>
                      <a:endParaRPr lang="en-IN" dirty="0"/>
                    </a:p>
                  </a:txBody>
                  <a:tcPr/>
                </a:tc>
                <a:tc>
                  <a:txBody>
                    <a:bodyPr/>
                    <a:lstStyle/>
                    <a:p>
                      <a:r>
                        <a:rPr lang="en-IN" dirty="0" smtClean="0"/>
                        <a:t>Description</a:t>
                      </a:r>
                      <a:endParaRPr lang="en-IN" dirty="0"/>
                    </a:p>
                  </a:txBody>
                  <a:tcPr/>
                </a:tc>
              </a:tr>
              <a:tr h="608925">
                <a:tc>
                  <a:txBody>
                    <a:bodyPr/>
                    <a:lstStyle/>
                    <a:p>
                      <a:pPr algn="l" rtl="0" fontAlgn="t"/>
                      <a:r>
                        <a:rPr lang="en-US" sz="1800" b="0" i="0" u="none" strike="noStrike" dirty="0">
                          <a:solidFill>
                            <a:srgbClr val="000000"/>
                          </a:solidFill>
                          <a:latin typeface="Calibri"/>
                        </a:rPr>
                        <a:t>1</a:t>
                      </a:r>
                    </a:p>
                  </a:txBody>
                  <a:tcPr marL="9525" marR="9525" marT="9525" marB="0"/>
                </a:tc>
                <a:tc>
                  <a:txBody>
                    <a:bodyPr/>
                    <a:lstStyle/>
                    <a:p>
                      <a:pPr algn="l" rtl="0" fontAlgn="t"/>
                      <a:r>
                        <a:rPr lang="en-US" sz="1800" b="0" i="0" u="none" strike="noStrike">
                          <a:solidFill>
                            <a:srgbClr val="000000"/>
                          </a:solidFill>
                          <a:latin typeface="Calibri"/>
                        </a:rPr>
                        <a:t>capitalize() </a:t>
                      </a:r>
                    </a:p>
                  </a:txBody>
                  <a:tcPr marL="9525" marR="9525" marT="9525" marB="0"/>
                </a:tc>
                <a:tc>
                  <a:txBody>
                    <a:bodyPr/>
                    <a:lstStyle/>
                    <a:p>
                      <a:pPr algn="l" rtl="0" fontAlgn="t"/>
                      <a:r>
                        <a:rPr lang="en-US" sz="1800" b="0" i="0" u="none" strike="noStrike">
                          <a:solidFill>
                            <a:srgbClr val="000000"/>
                          </a:solidFill>
                          <a:latin typeface="Calibri"/>
                        </a:rPr>
                        <a:t>Capitalizes first letter of string</a:t>
                      </a:r>
                    </a:p>
                  </a:txBody>
                  <a:tcPr marL="9525" marR="9525" marT="9525" marB="0"/>
                </a:tc>
              </a:tr>
              <a:tr h="608925">
                <a:tc>
                  <a:txBody>
                    <a:bodyPr/>
                    <a:lstStyle/>
                    <a:p>
                      <a:pPr algn="l" rtl="0" fontAlgn="t"/>
                      <a:r>
                        <a:rPr lang="en-US" sz="1800" b="0" i="0" u="none" strike="noStrike">
                          <a:solidFill>
                            <a:srgbClr val="000000"/>
                          </a:solidFill>
                          <a:latin typeface="Calibri"/>
                        </a:rPr>
                        <a:t>2</a:t>
                      </a:r>
                    </a:p>
                  </a:txBody>
                  <a:tcPr marL="9525" marR="9525" marT="9525" marB="0"/>
                </a:tc>
                <a:tc>
                  <a:txBody>
                    <a:bodyPr/>
                    <a:lstStyle/>
                    <a:p>
                      <a:pPr algn="l" rtl="0" fontAlgn="t"/>
                      <a:r>
                        <a:rPr lang="en-US" sz="1800" b="0" i="0" u="none" strike="noStrike">
                          <a:solidFill>
                            <a:srgbClr val="000000"/>
                          </a:solidFill>
                          <a:latin typeface="Calibri"/>
                        </a:rPr>
                        <a:t>center(width, fillchar) </a:t>
                      </a:r>
                    </a:p>
                  </a:txBody>
                  <a:tcPr marL="9525" marR="9525" marT="9525" marB="0"/>
                </a:tc>
                <a:tc>
                  <a:txBody>
                    <a:bodyPr/>
                    <a:lstStyle/>
                    <a:p>
                      <a:pPr algn="l" rtl="0" fontAlgn="t"/>
                      <a:r>
                        <a:rPr lang="en-US" sz="1800" b="0" i="0" u="none" strike="noStrike">
                          <a:solidFill>
                            <a:srgbClr val="000000"/>
                          </a:solidFill>
                          <a:latin typeface="Calibri"/>
                        </a:rPr>
                        <a:t>Returns a space-padded string with the original string centered to a total of width columns.</a:t>
                      </a:r>
                    </a:p>
                  </a:txBody>
                  <a:tcPr marL="9525" marR="9525" marT="9525" marB="0"/>
                </a:tc>
              </a:tr>
              <a:tr h="869893">
                <a:tc>
                  <a:txBody>
                    <a:bodyPr/>
                    <a:lstStyle/>
                    <a:p>
                      <a:pPr algn="l" rtl="0" fontAlgn="t"/>
                      <a:r>
                        <a:rPr lang="en-US" sz="1800" b="0" i="0" u="none" strike="noStrike">
                          <a:solidFill>
                            <a:srgbClr val="000000"/>
                          </a:solidFill>
                          <a:latin typeface="Calibri"/>
                        </a:rPr>
                        <a:t>3</a:t>
                      </a:r>
                    </a:p>
                  </a:txBody>
                  <a:tcPr marL="9525" marR="9525" marT="9525" marB="0"/>
                </a:tc>
                <a:tc>
                  <a:txBody>
                    <a:bodyPr/>
                    <a:lstStyle/>
                    <a:p>
                      <a:pPr algn="l" rtl="0" fontAlgn="t"/>
                      <a:r>
                        <a:rPr lang="en-US" sz="1800" b="0" i="0" u="none" strike="noStrike">
                          <a:solidFill>
                            <a:srgbClr val="000000"/>
                          </a:solidFill>
                          <a:latin typeface="Calibri"/>
                        </a:rPr>
                        <a:t>len(string) </a:t>
                      </a:r>
                    </a:p>
                  </a:txBody>
                  <a:tcPr marL="9525" marR="9525" marT="9525" marB="0"/>
                </a:tc>
                <a:tc>
                  <a:txBody>
                    <a:bodyPr/>
                    <a:lstStyle/>
                    <a:p>
                      <a:pPr algn="l" rtl="0" fontAlgn="t"/>
                      <a:r>
                        <a:rPr lang="en-US" sz="1800" b="0" i="0" u="none" strike="noStrike">
                          <a:solidFill>
                            <a:srgbClr val="000000"/>
                          </a:solidFill>
                          <a:latin typeface="Calibri"/>
                        </a:rPr>
                        <a:t>Returns the length of the string</a:t>
                      </a:r>
                    </a:p>
                  </a:txBody>
                  <a:tcPr marL="9525" marR="9525" marT="9525" marB="0"/>
                </a:tc>
              </a:tr>
              <a:tr h="1130861">
                <a:tc>
                  <a:txBody>
                    <a:bodyPr/>
                    <a:lstStyle/>
                    <a:p>
                      <a:pPr algn="l" rtl="0" fontAlgn="t"/>
                      <a:r>
                        <a:rPr lang="en-US" sz="1800" b="0" i="0" u="none" strike="noStrike">
                          <a:solidFill>
                            <a:srgbClr val="000000"/>
                          </a:solidFill>
                          <a:latin typeface="Calibri"/>
                        </a:rPr>
                        <a:t>4</a:t>
                      </a:r>
                    </a:p>
                  </a:txBody>
                  <a:tcPr marL="9525" marR="9525" marT="9525" marB="0"/>
                </a:tc>
                <a:tc>
                  <a:txBody>
                    <a:bodyPr/>
                    <a:lstStyle/>
                    <a:p>
                      <a:pPr algn="l" rtl="0" fontAlgn="t"/>
                      <a:r>
                        <a:rPr lang="en-US" sz="1800" b="0" i="0" u="none" strike="noStrike">
                          <a:solidFill>
                            <a:srgbClr val="000000"/>
                          </a:solidFill>
                          <a:latin typeface="Calibri"/>
                        </a:rPr>
                        <a:t>min(str) </a:t>
                      </a:r>
                    </a:p>
                  </a:txBody>
                  <a:tcPr marL="9525" marR="9525" marT="9525" marB="0"/>
                </a:tc>
                <a:tc>
                  <a:txBody>
                    <a:bodyPr/>
                    <a:lstStyle/>
                    <a:p>
                      <a:pPr algn="l" rtl="0" fontAlgn="t"/>
                      <a:r>
                        <a:rPr lang="en-US" sz="1800" b="0" i="0" u="none" strike="noStrike">
                          <a:solidFill>
                            <a:srgbClr val="000000"/>
                          </a:solidFill>
                          <a:latin typeface="Calibri"/>
                        </a:rPr>
                        <a:t>Returns the min alphabetical character from the string str.</a:t>
                      </a:r>
                    </a:p>
                  </a:txBody>
                  <a:tcPr marL="9525" marR="9525" marT="9525" marB="0"/>
                </a:tc>
              </a:tr>
              <a:tr h="869893">
                <a:tc>
                  <a:txBody>
                    <a:bodyPr/>
                    <a:lstStyle/>
                    <a:p>
                      <a:pPr algn="l" rtl="0" fontAlgn="t"/>
                      <a:r>
                        <a:rPr lang="en-US" sz="1800" b="0" i="0" u="none" strike="noStrike">
                          <a:solidFill>
                            <a:srgbClr val="000000"/>
                          </a:solidFill>
                          <a:latin typeface="Calibri"/>
                        </a:rPr>
                        <a:t>5</a:t>
                      </a:r>
                    </a:p>
                  </a:txBody>
                  <a:tcPr marL="9525" marR="9525" marT="9525" marB="0"/>
                </a:tc>
                <a:tc>
                  <a:txBody>
                    <a:bodyPr/>
                    <a:lstStyle/>
                    <a:p>
                      <a:pPr algn="l" rtl="0" fontAlgn="t"/>
                      <a:r>
                        <a:rPr lang="en-US" sz="1800" b="0" i="0" u="none" strike="noStrike">
                          <a:solidFill>
                            <a:srgbClr val="000000"/>
                          </a:solidFill>
                          <a:latin typeface="Calibri"/>
                        </a:rPr>
                        <a:t>max(str) </a:t>
                      </a:r>
                    </a:p>
                  </a:txBody>
                  <a:tcPr marL="9525" marR="9525" marT="9525" marB="0"/>
                </a:tc>
                <a:tc>
                  <a:txBody>
                    <a:bodyPr/>
                    <a:lstStyle/>
                    <a:p>
                      <a:pPr algn="l" rtl="0" fontAlgn="t"/>
                      <a:r>
                        <a:rPr lang="en-US" sz="1800" b="0" i="0" u="none" strike="noStrike" dirty="0">
                          <a:solidFill>
                            <a:srgbClr val="000000"/>
                          </a:solidFill>
                          <a:latin typeface="Calibri"/>
                        </a:rPr>
                        <a:t>Returns the max alphabetical character from the string str.</a:t>
                      </a:r>
                    </a:p>
                  </a:txBody>
                  <a:tcPr marL="9525" marR="9525" marT="9525" marB="0"/>
                </a:tc>
              </a:tr>
              <a:tr h="1130861">
                <a:tc>
                  <a:txBody>
                    <a:bodyPr/>
                    <a:lstStyle/>
                    <a:p>
                      <a:pPr algn="l" rtl="0" fontAlgn="t"/>
                      <a:r>
                        <a:rPr lang="en-US" sz="1800" b="0" i="0" u="none" strike="noStrike" dirty="0">
                          <a:solidFill>
                            <a:srgbClr val="000000"/>
                          </a:solidFill>
                          <a:latin typeface="Calibri"/>
                        </a:rPr>
                        <a:t>6</a:t>
                      </a:r>
                    </a:p>
                  </a:txBody>
                  <a:tcPr marL="9525" marR="9525" marT="9525" marB="0"/>
                </a:tc>
                <a:tc>
                  <a:txBody>
                    <a:bodyPr/>
                    <a:lstStyle/>
                    <a:p>
                      <a:pPr algn="l" rtl="0" fontAlgn="t"/>
                      <a:r>
                        <a:rPr lang="en-US" sz="1800" b="0" i="0" u="none" strike="noStrike">
                          <a:solidFill>
                            <a:srgbClr val="000000"/>
                          </a:solidFill>
                          <a:latin typeface="Calibri"/>
                        </a:rPr>
                        <a:t>count(str, beg= 0,end=len(string)) </a:t>
                      </a:r>
                    </a:p>
                  </a:txBody>
                  <a:tcPr marL="9525" marR="9525" marT="9525" marB="0"/>
                </a:tc>
                <a:tc>
                  <a:txBody>
                    <a:bodyPr/>
                    <a:lstStyle/>
                    <a:p>
                      <a:pPr algn="l" rtl="0" fontAlgn="t"/>
                      <a:r>
                        <a:rPr lang="en-US" sz="1800" b="0" i="0" u="none" strike="noStrike" dirty="0">
                          <a:solidFill>
                            <a:srgbClr val="000000"/>
                          </a:solidFill>
                          <a:latin typeface="Calibri"/>
                        </a:rPr>
                        <a:t>Counts how many times </a:t>
                      </a:r>
                      <a:r>
                        <a:rPr lang="en-US" sz="1800" b="0" i="0" u="none" strike="noStrike" dirty="0" err="1">
                          <a:solidFill>
                            <a:srgbClr val="000000"/>
                          </a:solidFill>
                          <a:latin typeface="Calibri"/>
                        </a:rPr>
                        <a:t>str</a:t>
                      </a:r>
                      <a:r>
                        <a:rPr lang="en-US" sz="1800" b="0" i="0" u="none" strike="noStrike" dirty="0">
                          <a:solidFill>
                            <a:srgbClr val="000000"/>
                          </a:solidFill>
                          <a:latin typeface="Calibri"/>
                        </a:rPr>
                        <a:t> occurs in string or in a substring of string if starting index beg and ending index end are given.</a:t>
                      </a:r>
                    </a:p>
                  </a:txBody>
                  <a:tcPr marL="9525" marR="9525" marT="9525" marB="0"/>
                </a:tc>
              </a:tr>
            </a:tbl>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Built in String Methods</a:t>
            </a:r>
            <a:endParaRPr lang="en-IN" dirty="0"/>
          </a:p>
        </p:txBody>
      </p:sp>
      <p:graphicFrame>
        <p:nvGraphicFramePr>
          <p:cNvPr id="4" name="Content Placeholder 3"/>
          <p:cNvGraphicFramePr>
            <a:graphicFrameLocks noGrp="1"/>
          </p:cNvGraphicFramePr>
          <p:nvPr>
            <p:ph idx="1"/>
          </p:nvPr>
        </p:nvGraphicFramePr>
        <p:xfrm>
          <a:off x="500034" y="1071563"/>
          <a:ext cx="8186766" cy="5100955"/>
        </p:xfrm>
        <a:graphic>
          <a:graphicData uri="http://schemas.openxmlformats.org/drawingml/2006/table">
            <a:tbl>
              <a:tblPr firstRow="1" bandRow="1">
                <a:tableStyleId>{5C22544A-7EE6-4342-B048-85BDC9FD1C3A}</a:tableStyleId>
              </a:tblPr>
              <a:tblGrid>
                <a:gridCol w="928694"/>
                <a:gridCol w="2143140"/>
                <a:gridCol w="5114932"/>
              </a:tblGrid>
              <a:tr h="370840">
                <a:tc>
                  <a:txBody>
                    <a:bodyPr/>
                    <a:lstStyle/>
                    <a:p>
                      <a:r>
                        <a:rPr lang="en-IN" dirty="0" smtClean="0"/>
                        <a:t>Sl. No.</a:t>
                      </a:r>
                      <a:endParaRPr lang="en-IN" dirty="0"/>
                    </a:p>
                  </a:txBody>
                  <a:tcPr/>
                </a:tc>
                <a:tc>
                  <a:txBody>
                    <a:bodyPr/>
                    <a:lstStyle/>
                    <a:p>
                      <a:r>
                        <a:rPr lang="en-IN" dirty="0" smtClean="0"/>
                        <a:t>Methods</a:t>
                      </a:r>
                      <a:endParaRPr lang="en-IN" dirty="0"/>
                    </a:p>
                  </a:txBody>
                  <a:tcPr/>
                </a:tc>
                <a:tc>
                  <a:txBody>
                    <a:bodyPr/>
                    <a:lstStyle/>
                    <a:p>
                      <a:r>
                        <a:rPr lang="en-IN" dirty="0" smtClean="0"/>
                        <a:t>Description</a:t>
                      </a:r>
                      <a:endParaRPr lang="en-IN" dirty="0"/>
                    </a:p>
                  </a:txBody>
                  <a:tcPr/>
                </a:tc>
              </a:tr>
              <a:tr h="370840">
                <a:tc>
                  <a:txBody>
                    <a:bodyPr/>
                    <a:lstStyle/>
                    <a:p>
                      <a:pPr algn="l" rtl="0" fontAlgn="t"/>
                      <a:r>
                        <a:rPr lang="en-US" sz="1800" b="0" i="0" u="none" strike="noStrike" dirty="0">
                          <a:solidFill>
                            <a:srgbClr val="000000"/>
                          </a:solidFill>
                          <a:latin typeface="Calibri"/>
                        </a:rPr>
                        <a:t>7</a:t>
                      </a:r>
                    </a:p>
                  </a:txBody>
                  <a:tcPr marL="9525" marR="9525" marT="9525" marB="0"/>
                </a:tc>
                <a:tc>
                  <a:txBody>
                    <a:bodyPr/>
                    <a:lstStyle/>
                    <a:p>
                      <a:pPr algn="l" rtl="0" fontAlgn="t"/>
                      <a:r>
                        <a:rPr lang="en-US" sz="1800" b="0" i="0" u="none" strike="noStrike">
                          <a:solidFill>
                            <a:srgbClr val="000000"/>
                          </a:solidFill>
                          <a:latin typeface="Calibri"/>
                        </a:rPr>
                        <a:t>find(str, beg=0 end=len(string)) </a:t>
                      </a:r>
                    </a:p>
                  </a:txBody>
                  <a:tcPr marL="9525" marR="9525" marT="9525" marB="0"/>
                </a:tc>
                <a:tc>
                  <a:txBody>
                    <a:bodyPr/>
                    <a:lstStyle/>
                    <a:p>
                      <a:pPr algn="l" rtl="0" fontAlgn="t"/>
                      <a:r>
                        <a:rPr lang="en-US" sz="1800" b="0" i="0" u="none" strike="noStrike">
                          <a:solidFill>
                            <a:srgbClr val="000000"/>
                          </a:solidFill>
                          <a:latin typeface="Calibri"/>
                        </a:rPr>
                        <a:t>Determine if str occurs in string or in a substring of string if starting index beg and ending index end are given returns index if found and -1 otherwise.</a:t>
                      </a:r>
                    </a:p>
                  </a:txBody>
                  <a:tcPr marL="9525" marR="9525" marT="9525" marB="0"/>
                </a:tc>
              </a:tr>
              <a:tr h="370840">
                <a:tc>
                  <a:txBody>
                    <a:bodyPr/>
                    <a:lstStyle/>
                    <a:p>
                      <a:pPr algn="l" rtl="0" fontAlgn="t"/>
                      <a:r>
                        <a:rPr lang="en-US" sz="1800" b="0" i="0" u="none" strike="noStrike">
                          <a:solidFill>
                            <a:srgbClr val="000000"/>
                          </a:solidFill>
                          <a:latin typeface="Calibri"/>
                        </a:rPr>
                        <a:t>8</a:t>
                      </a:r>
                    </a:p>
                  </a:txBody>
                  <a:tcPr marL="9525" marR="9525" marT="9525" marB="0"/>
                </a:tc>
                <a:tc>
                  <a:txBody>
                    <a:bodyPr/>
                    <a:lstStyle/>
                    <a:p>
                      <a:pPr algn="l" rtl="0" fontAlgn="t"/>
                      <a:r>
                        <a:rPr lang="en-US" sz="1800" b="0" i="0" u="none" strike="noStrike">
                          <a:solidFill>
                            <a:srgbClr val="000000"/>
                          </a:solidFill>
                          <a:latin typeface="Calibri"/>
                        </a:rPr>
                        <a:t>rfind(str, beg=0,end=len(string)) </a:t>
                      </a:r>
                    </a:p>
                  </a:txBody>
                  <a:tcPr marL="9525" marR="9525" marT="9525" marB="0"/>
                </a:tc>
                <a:tc>
                  <a:txBody>
                    <a:bodyPr/>
                    <a:lstStyle/>
                    <a:p>
                      <a:pPr algn="l" rtl="0" fontAlgn="t"/>
                      <a:r>
                        <a:rPr lang="en-US" sz="1800" b="0" i="0" u="none" strike="noStrike">
                          <a:solidFill>
                            <a:srgbClr val="000000"/>
                          </a:solidFill>
                          <a:latin typeface="Calibri"/>
                        </a:rPr>
                        <a:t>Same as find(), but search backwards in string.</a:t>
                      </a:r>
                    </a:p>
                  </a:txBody>
                  <a:tcPr marL="9525" marR="9525" marT="9525" marB="0"/>
                </a:tc>
              </a:tr>
              <a:tr h="370840">
                <a:tc>
                  <a:txBody>
                    <a:bodyPr/>
                    <a:lstStyle/>
                    <a:p>
                      <a:pPr algn="l" rtl="0" fontAlgn="t"/>
                      <a:r>
                        <a:rPr lang="en-US" sz="1800" b="0" i="0" u="none" strike="noStrike">
                          <a:solidFill>
                            <a:srgbClr val="000000"/>
                          </a:solidFill>
                          <a:latin typeface="Calibri"/>
                        </a:rPr>
                        <a:t>9</a:t>
                      </a:r>
                    </a:p>
                  </a:txBody>
                  <a:tcPr marL="9525" marR="9525" marT="9525" marB="0"/>
                </a:tc>
                <a:tc>
                  <a:txBody>
                    <a:bodyPr/>
                    <a:lstStyle/>
                    <a:p>
                      <a:pPr algn="l" rtl="0" fontAlgn="t"/>
                      <a:r>
                        <a:rPr lang="en-US" sz="1800" b="0" i="0" u="none" strike="noStrike">
                          <a:solidFill>
                            <a:srgbClr val="000000"/>
                          </a:solidFill>
                          <a:latin typeface="Calibri"/>
                        </a:rPr>
                        <a:t>index(str, beg=0, end=len(string)) </a:t>
                      </a:r>
                    </a:p>
                  </a:txBody>
                  <a:tcPr marL="9525" marR="9525" marT="9525" marB="0"/>
                </a:tc>
                <a:tc>
                  <a:txBody>
                    <a:bodyPr/>
                    <a:lstStyle/>
                    <a:p>
                      <a:pPr algn="l" rtl="0" fontAlgn="t"/>
                      <a:r>
                        <a:rPr lang="en-US" sz="1800" b="0" i="0" u="none" strike="noStrike">
                          <a:solidFill>
                            <a:srgbClr val="000000"/>
                          </a:solidFill>
                          <a:latin typeface="Calibri"/>
                        </a:rPr>
                        <a:t>Same as find(), but raises an exception if str not found.</a:t>
                      </a:r>
                    </a:p>
                  </a:txBody>
                  <a:tcPr marL="9525" marR="9525" marT="9525" marB="0"/>
                </a:tc>
              </a:tr>
              <a:tr h="370840">
                <a:tc>
                  <a:txBody>
                    <a:bodyPr/>
                    <a:lstStyle/>
                    <a:p>
                      <a:pPr algn="l" rtl="0" fontAlgn="t"/>
                      <a:r>
                        <a:rPr lang="en-US" sz="1800" b="0" i="0" u="none" strike="noStrike">
                          <a:solidFill>
                            <a:srgbClr val="000000"/>
                          </a:solidFill>
                          <a:latin typeface="Calibri"/>
                        </a:rPr>
                        <a:t>10</a:t>
                      </a:r>
                    </a:p>
                  </a:txBody>
                  <a:tcPr marL="9525" marR="9525" marT="9525" marB="0"/>
                </a:tc>
                <a:tc>
                  <a:txBody>
                    <a:bodyPr/>
                    <a:lstStyle/>
                    <a:p>
                      <a:pPr algn="l" rtl="0" fontAlgn="t"/>
                      <a:r>
                        <a:rPr lang="en-US" sz="1800" b="0" i="0" u="none" strike="noStrike">
                          <a:solidFill>
                            <a:srgbClr val="000000"/>
                          </a:solidFill>
                          <a:latin typeface="Calibri"/>
                        </a:rPr>
                        <a:t>rindex( str, beg=0, end=len(string)) </a:t>
                      </a:r>
                    </a:p>
                  </a:txBody>
                  <a:tcPr marL="9525" marR="9525" marT="9525" marB="0"/>
                </a:tc>
                <a:tc>
                  <a:txBody>
                    <a:bodyPr/>
                    <a:lstStyle/>
                    <a:p>
                      <a:pPr algn="l" rtl="0" fontAlgn="t"/>
                      <a:r>
                        <a:rPr lang="en-US" sz="1800" b="0" i="0" u="none" strike="noStrike">
                          <a:solidFill>
                            <a:srgbClr val="000000"/>
                          </a:solidFill>
                          <a:latin typeface="Calibri"/>
                        </a:rPr>
                        <a:t>Same as index(), but search backwards in string.</a:t>
                      </a:r>
                    </a:p>
                  </a:txBody>
                  <a:tcPr marL="9525" marR="9525" marT="9525" marB="0"/>
                </a:tc>
              </a:tr>
              <a:tr h="370840">
                <a:tc>
                  <a:txBody>
                    <a:bodyPr/>
                    <a:lstStyle/>
                    <a:p>
                      <a:pPr algn="l" rtl="0" fontAlgn="t"/>
                      <a:r>
                        <a:rPr lang="en-US" sz="1800" b="0" i="0" u="none" strike="noStrike">
                          <a:solidFill>
                            <a:srgbClr val="000000"/>
                          </a:solidFill>
                          <a:latin typeface="Calibri"/>
                        </a:rPr>
                        <a:t>11</a:t>
                      </a:r>
                    </a:p>
                  </a:txBody>
                  <a:tcPr marL="9525" marR="9525" marT="9525" marB="0"/>
                </a:tc>
                <a:tc>
                  <a:txBody>
                    <a:bodyPr/>
                    <a:lstStyle/>
                    <a:p>
                      <a:pPr algn="l" rtl="0" fontAlgn="t"/>
                      <a:r>
                        <a:rPr lang="en-US" sz="1800" b="0" i="0" u="none" strike="noStrike">
                          <a:solidFill>
                            <a:srgbClr val="000000"/>
                          </a:solidFill>
                          <a:latin typeface="Calibri"/>
                        </a:rPr>
                        <a:t>startswith(str, beg=0,end=len(string)) </a:t>
                      </a:r>
                    </a:p>
                  </a:txBody>
                  <a:tcPr marL="9525" marR="9525" marT="9525" marB="0"/>
                </a:tc>
                <a:tc>
                  <a:txBody>
                    <a:bodyPr/>
                    <a:lstStyle/>
                    <a:p>
                      <a:pPr algn="l" rtl="0" fontAlgn="t"/>
                      <a:r>
                        <a:rPr lang="en-US" sz="1800" b="0" i="0" u="none" strike="noStrike">
                          <a:solidFill>
                            <a:srgbClr val="000000"/>
                          </a:solidFill>
                          <a:latin typeface="Calibri"/>
                        </a:rPr>
                        <a:t>Determines if string or a substring of string (if starting index beg and ending index end are given) starts with substring str; returns true if so and false otherwise.</a:t>
                      </a:r>
                    </a:p>
                  </a:txBody>
                  <a:tcPr marL="9525" marR="9525" marT="9525" marB="0"/>
                </a:tc>
              </a:tr>
              <a:tr h="370840">
                <a:tc>
                  <a:txBody>
                    <a:bodyPr/>
                    <a:lstStyle/>
                    <a:p>
                      <a:pPr algn="l" rtl="0" fontAlgn="t"/>
                      <a:r>
                        <a:rPr lang="en-US" sz="1800" b="0" i="0" u="none" strike="noStrike">
                          <a:solidFill>
                            <a:srgbClr val="000000"/>
                          </a:solidFill>
                          <a:latin typeface="Calibri"/>
                        </a:rPr>
                        <a:t>12</a:t>
                      </a:r>
                    </a:p>
                  </a:txBody>
                  <a:tcPr marL="9525" marR="9525" marT="9525" marB="0"/>
                </a:tc>
                <a:tc>
                  <a:txBody>
                    <a:bodyPr/>
                    <a:lstStyle/>
                    <a:p>
                      <a:pPr algn="l" rtl="0" fontAlgn="t"/>
                      <a:r>
                        <a:rPr lang="en-US" sz="1800" b="0" i="0" u="none" strike="noStrike">
                          <a:solidFill>
                            <a:srgbClr val="000000"/>
                          </a:solidFill>
                          <a:latin typeface="Calibri"/>
                        </a:rPr>
                        <a:t>endswith(suffix, beg=0, end=len(string)) </a:t>
                      </a:r>
                    </a:p>
                  </a:txBody>
                  <a:tcPr marL="9525" marR="9525" marT="9525" marB="0"/>
                </a:tc>
                <a:tc>
                  <a:txBody>
                    <a:bodyPr/>
                    <a:lstStyle/>
                    <a:p>
                      <a:pPr algn="l" rtl="0" fontAlgn="t"/>
                      <a:r>
                        <a:rPr lang="en-US" sz="1800" b="0" i="0" u="none" strike="noStrike" dirty="0">
                          <a:solidFill>
                            <a:srgbClr val="000000"/>
                          </a:solidFill>
                          <a:latin typeface="Calibri"/>
                        </a:rPr>
                        <a:t>Determines if string or a substring of string (if starting index beg and ending index end are given) ends with suffix; returns true if so and false otherwise.</a:t>
                      </a:r>
                    </a:p>
                  </a:txBody>
                  <a:tcPr marL="9525" marR="9525" marT="9525" marB="0"/>
                </a:tc>
              </a:tr>
              <a:tr h="370840">
                <a:tc>
                  <a:txBody>
                    <a:bodyPr/>
                    <a:lstStyle/>
                    <a:p>
                      <a:pPr algn="l" rtl="0" fontAlgn="t"/>
                      <a:r>
                        <a:rPr lang="en-US" sz="1800" b="0" i="0" u="none" strike="noStrike" dirty="0">
                          <a:solidFill>
                            <a:srgbClr val="000000"/>
                          </a:solidFill>
                          <a:latin typeface="Calibri"/>
                        </a:rPr>
                        <a:t>13</a:t>
                      </a:r>
                    </a:p>
                  </a:txBody>
                  <a:tcPr marL="9525" marR="9525" marT="9525" marB="0"/>
                </a:tc>
                <a:tc>
                  <a:txBody>
                    <a:bodyPr/>
                    <a:lstStyle/>
                    <a:p>
                      <a:pPr algn="l" rtl="0" fontAlgn="t"/>
                      <a:r>
                        <a:rPr lang="en-US" sz="1800" b="0" i="0" u="none" strike="noStrike">
                          <a:solidFill>
                            <a:srgbClr val="000000"/>
                          </a:solidFill>
                          <a:latin typeface="Calibri"/>
                        </a:rPr>
                        <a:t>expandtabs(tabsize=8) </a:t>
                      </a:r>
                    </a:p>
                  </a:txBody>
                  <a:tcPr marL="9525" marR="9525" marT="9525" marB="0"/>
                </a:tc>
                <a:tc>
                  <a:txBody>
                    <a:bodyPr/>
                    <a:lstStyle/>
                    <a:p>
                      <a:pPr algn="l" rtl="0" fontAlgn="t"/>
                      <a:r>
                        <a:rPr lang="en-US" sz="1800" b="0" i="0" u="none" strike="noStrike" dirty="0">
                          <a:solidFill>
                            <a:srgbClr val="000000"/>
                          </a:solidFill>
                          <a:latin typeface="Calibri"/>
                        </a:rPr>
                        <a:t>Expands tabs in string to multiple spaces; defaults to 8 spaces per tab if </a:t>
                      </a:r>
                      <a:r>
                        <a:rPr lang="en-US" sz="1800" b="0" i="0" u="none" strike="noStrike" dirty="0" err="1">
                          <a:solidFill>
                            <a:srgbClr val="000000"/>
                          </a:solidFill>
                          <a:latin typeface="Calibri"/>
                        </a:rPr>
                        <a:t>tabsize</a:t>
                      </a:r>
                      <a:r>
                        <a:rPr lang="en-US" sz="1800" b="0" i="0" u="none" strike="noStrike" dirty="0">
                          <a:solidFill>
                            <a:srgbClr val="000000"/>
                          </a:solidFill>
                          <a:latin typeface="Calibri"/>
                        </a:rPr>
                        <a:t> not provided.</a:t>
                      </a:r>
                    </a:p>
                  </a:txBody>
                  <a:tcPr marL="9525" marR="9525" marT="9525" marB="0"/>
                </a:tc>
              </a:tr>
            </a:tbl>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Built in String Methods</a:t>
            </a:r>
            <a:endParaRPr lang="en-IN" dirty="0"/>
          </a:p>
        </p:txBody>
      </p:sp>
      <p:graphicFrame>
        <p:nvGraphicFramePr>
          <p:cNvPr id="4" name="Content Placeholder 3"/>
          <p:cNvGraphicFramePr>
            <a:graphicFrameLocks noGrp="1"/>
          </p:cNvGraphicFramePr>
          <p:nvPr>
            <p:ph idx="1"/>
          </p:nvPr>
        </p:nvGraphicFramePr>
        <p:xfrm>
          <a:off x="457200" y="1071563"/>
          <a:ext cx="8229600" cy="5384800"/>
        </p:xfrm>
        <a:graphic>
          <a:graphicData uri="http://schemas.openxmlformats.org/drawingml/2006/table">
            <a:tbl>
              <a:tblPr firstRow="1" bandRow="1">
                <a:tableStyleId>{5C22544A-7EE6-4342-B048-85BDC9FD1C3A}</a:tableStyleId>
              </a:tblPr>
              <a:tblGrid>
                <a:gridCol w="971528"/>
                <a:gridCol w="2571768"/>
                <a:gridCol w="4686304"/>
              </a:tblGrid>
              <a:tr h="370840">
                <a:tc>
                  <a:txBody>
                    <a:bodyPr/>
                    <a:lstStyle/>
                    <a:p>
                      <a:r>
                        <a:rPr lang="en-IN" dirty="0" smtClean="0"/>
                        <a:t>Sl. No.</a:t>
                      </a:r>
                      <a:endParaRPr lang="en-IN" dirty="0"/>
                    </a:p>
                  </a:txBody>
                  <a:tcPr/>
                </a:tc>
                <a:tc>
                  <a:txBody>
                    <a:bodyPr/>
                    <a:lstStyle/>
                    <a:p>
                      <a:r>
                        <a:rPr lang="en-IN" dirty="0" smtClean="0"/>
                        <a:t>Methods</a:t>
                      </a:r>
                      <a:endParaRPr lang="en-IN" dirty="0"/>
                    </a:p>
                  </a:txBody>
                  <a:tcPr/>
                </a:tc>
                <a:tc>
                  <a:txBody>
                    <a:bodyPr/>
                    <a:lstStyle/>
                    <a:p>
                      <a:r>
                        <a:rPr lang="en-IN" dirty="0" smtClean="0"/>
                        <a:t>Description</a:t>
                      </a:r>
                      <a:endParaRPr lang="en-IN" dirty="0"/>
                    </a:p>
                  </a:txBody>
                  <a:tcPr/>
                </a:tc>
              </a:tr>
              <a:tr h="370840">
                <a:tc>
                  <a:txBody>
                    <a:bodyPr/>
                    <a:lstStyle/>
                    <a:p>
                      <a:pPr algn="l" rtl="0" fontAlgn="t"/>
                      <a:r>
                        <a:rPr lang="en-US" sz="1800" b="0" i="0" u="none" strike="noStrike" dirty="0">
                          <a:solidFill>
                            <a:srgbClr val="000000"/>
                          </a:solidFill>
                          <a:latin typeface="Calibri"/>
                        </a:rPr>
                        <a:t>14</a:t>
                      </a:r>
                    </a:p>
                  </a:txBody>
                  <a:tcPr marL="9525" marR="9525" marT="9525" marB="0"/>
                </a:tc>
                <a:tc>
                  <a:txBody>
                    <a:bodyPr/>
                    <a:lstStyle/>
                    <a:p>
                      <a:pPr algn="l" rtl="0" fontAlgn="t"/>
                      <a:r>
                        <a:rPr lang="en-US" sz="1800" b="0" i="0" u="none" strike="noStrike">
                          <a:solidFill>
                            <a:srgbClr val="000000"/>
                          </a:solidFill>
                          <a:latin typeface="Calibri"/>
                        </a:rPr>
                        <a:t>isalnum() </a:t>
                      </a:r>
                    </a:p>
                  </a:txBody>
                  <a:tcPr marL="9525" marR="9525" marT="9525" marB="0"/>
                </a:tc>
                <a:tc>
                  <a:txBody>
                    <a:bodyPr/>
                    <a:lstStyle/>
                    <a:p>
                      <a:pPr algn="l" rtl="0" fontAlgn="t"/>
                      <a:r>
                        <a:rPr lang="en-US" sz="1800" b="0" i="0" u="none" strike="noStrike">
                          <a:solidFill>
                            <a:srgbClr val="000000"/>
                          </a:solidFill>
                          <a:latin typeface="Calibri"/>
                        </a:rPr>
                        <a:t>Returns true if string has at least 1 character and all characters are alphanumeric and false otherwise.</a:t>
                      </a:r>
                    </a:p>
                  </a:txBody>
                  <a:tcPr marL="9525" marR="9525" marT="9525" marB="0"/>
                </a:tc>
              </a:tr>
              <a:tr h="370840">
                <a:tc>
                  <a:txBody>
                    <a:bodyPr/>
                    <a:lstStyle/>
                    <a:p>
                      <a:pPr algn="l" rtl="0" fontAlgn="t"/>
                      <a:r>
                        <a:rPr lang="en-US" sz="1800" b="0" i="0" u="none" strike="noStrike">
                          <a:solidFill>
                            <a:srgbClr val="000000"/>
                          </a:solidFill>
                          <a:latin typeface="Calibri"/>
                        </a:rPr>
                        <a:t>15</a:t>
                      </a:r>
                    </a:p>
                  </a:txBody>
                  <a:tcPr marL="9525" marR="9525" marT="9525" marB="0"/>
                </a:tc>
                <a:tc>
                  <a:txBody>
                    <a:bodyPr/>
                    <a:lstStyle/>
                    <a:p>
                      <a:pPr algn="l" rtl="0" fontAlgn="t"/>
                      <a:r>
                        <a:rPr lang="en-US" sz="1800" b="0" i="0" u="none" strike="noStrike">
                          <a:solidFill>
                            <a:srgbClr val="000000"/>
                          </a:solidFill>
                          <a:latin typeface="Calibri"/>
                        </a:rPr>
                        <a:t>isalpha() </a:t>
                      </a:r>
                    </a:p>
                  </a:txBody>
                  <a:tcPr marL="9525" marR="9525" marT="9525" marB="0"/>
                </a:tc>
                <a:tc>
                  <a:txBody>
                    <a:bodyPr/>
                    <a:lstStyle/>
                    <a:p>
                      <a:pPr algn="l" rtl="0" fontAlgn="t"/>
                      <a:r>
                        <a:rPr lang="en-US" sz="1800" b="0" i="0" u="none" strike="noStrike">
                          <a:solidFill>
                            <a:srgbClr val="000000"/>
                          </a:solidFill>
                          <a:latin typeface="Calibri"/>
                        </a:rPr>
                        <a:t>Returns true if string has at least 1 character and all characters are alphabetic and false otherwise.</a:t>
                      </a:r>
                    </a:p>
                  </a:txBody>
                  <a:tcPr marL="9525" marR="9525" marT="9525" marB="0"/>
                </a:tc>
              </a:tr>
              <a:tr h="370840">
                <a:tc>
                  <a:txBody>
                    <a:bodyPr/>
                    <a:lstStyle/>
                    <a:p>
                      <a:pPr algn="l" rtl="0" fontAlgn="t"/>
                      <a:r>
                        <a:rPr lang="en-US" sz="1800" b="0" i="0" u="none" strike="noStrike">
                          <a:solidFill>
                            <a:srgbClr val="000000"/>
                          </a:solidFill>
                          <a:latin typeface="Calibri"/>
                        </a:rPr>
                        <a:t>16</a:t>
                      </a:r>
                    </a:p>
                  </a:txBody>
                  <a:tcPr marL="9525" marR="9525" marT="9525" marB="0"/>
                </a:tc>
                <a:tc>
                  <a:txBody>
                    <a:bodyPr/>
                    <a:lstStyle/>
                    <a:p>
                      <a:pPr algn="l" rtl="0" fontAlgn="t"/>
                      <a:r>
                        <a:rPr lang="en-US" sz="1800" b="0" i="0" u="none" strike="noStrike">
                          <a:solidFill>
                            <a:srgbClr val="000000"/>
                          </a:solidFill>
                          <a:latin typeface="Calibri"/>
                        </a:rPr>
                        <a:t>isdigit() </a:t>
                      </a:r>
                    </a:p>
                  </a:txBody>
                  <a:tcPr marL="9525" marR="9525" marT="9525" marB="0"/>
                </a:tc>
                <a:tc>
                  <a:txBody>
                    <a:bodyPr/>
                    <a:lstStyle/>
                    <a:p>
                      <a:pPr algn="l" rtl="0" fontAlgn="t"/>
                      <a:r>
                        <a:rPr lang="en-US" sz="1800" b="0" i="0" u="none" strike="noStrike">
                          <a:solidFill>
                            <a:srgbClr val="000000"/>
                          </a:solidFill>
                          <a:latin typeface="Calibri"/>
                        </a:rPr>
                        <a:t>Returns true if string contains only digits and false otherwise.</a:t>
                      </a:r>
                    </a:p>
                  </a:txBody>
                  <a:tcPr marL="9525" marR="9525" marT="9525" marB="0"/>
                </a:tc>
              </a:tr>
              <a:tr h="370840">
                <a:tc>
                  <a:txBody>
                    <a:bodyPr/>
                    <a:lstStyle/>
                    <a:p>
                      <a:pPr algn="l" rtl="0" fontAlgn="t"/>
                      <a:r>
                        <a:rPr lang="en-US" sz="1800" b="0" i="0" u="none" strike="noStrike">
                          <a:solidFill>
                            <a:srgbClr val="000000"/>
                          </a:solidFill>
                          <a:latin typeface="Calibri"/>
                        </a:rPr>
                        <a:t>17</a:t>
                      </a:r>
                    </a:p>
                  </a:txBody>
                  <a:tcPr marL="9525" marR="9525" marT="9525" marB="0"/>
                </a:tc>
                <a:tc>
                  <a:txBody>
                    <a:bodyPr/>
                    <a:lstStyle/>
                    <a:p>
                      <a:pPr algn="l" rtl="0" fontAlgn="t"/>
                      <a:r>
                        <a:rPr lang="en-US" sz="1800" b="0" i="0" u="none" strike="noStrike">
                          <a:solidFill>
                            <a:srgbClr val="000000"/>
                          </a:solidFill>
                          <a:latin typeface="Calibri"/>
                        </a:rPr>
                        <a:t>isnumeric() </a:t>
                      </a:r>
                    </a:p>
                  </a:txBody>
                  <a:tcPr marL="9525" marR="9525" marT="9525" marB="0"/>
                </a:tc>
                <a:tc>
                  <a:txBody>
                    <a:bodyPr/>
                    <a:lstStyle/>
                    <a:p>
                      <a:pPr algn="l" rtl="0" fontAlgn="t"/>
                      <a:r>
                        <a:rPr lang="en-US" sz="1800" b="0" i="0" u="none" strike="noStrike">
                          <a:solidFill>
                            <a:srgbClr val="000000"/>
                          </a:solidFill>
                          <a:latin typeface="Calibri"/>
                        </a:rPr>
                        <a:t>Returns true if a unicode string contains only numeric characters and false otherwise.</a:t>
                      </a:r>
                    </a:p>
                  </a:txBody>
                  <a:tcPr marL="9525" marR="9525" marT="9525" marB="0"/>
                </a:tc>
              </a:tr>
              <a:tr h="370840">
                <a:tc>
                  <a:txBody>
                    <a:bodyPr/>
                    <a:lstStyle/>
                    <a:p>
                      <a:pPr algn="l" rtl="0" fontAlgn="t"/>
                      <a:r>
                        <a:rPr lang="en-US" sz="1800" b="0" i="0" u="none" strike="noStrike">
                          <a:solidFill>
                            <a:srgbClr val="000000"/>
                          </a:solidFill>
                          <a:latin typeface="Calibri"/>
                        </a:rPr>
                        <a:t>18</a:t>
                      </a:r>
                    </a:p>
                  </a:txBody>
                  <a:tcPr marL="9525" marR="9525" marT="9525" marB="0"/>
                </a:tc>
                <a:tc>
                  <a:txBody>
                    <a:bodyPr/>
                    <a:lstStyle/>
                    <a:p>
                      <a:pPr algn="l" rtl="0" fontAlgn="t"/>
                      <a:r>
                        <a:rPr lang="en-US" sz="1800" b="0" i="0" u="none" strike="noStrike">
                          <a:solidFill>
                            <a:srgbClr val="000000"/>
                          </a:solidFill>
                          <a:latin typeface="Calibri"/>
                        </a:rPr>
                        <a:t>isdecimal() </a:t>
                      </a:r>
                    </a:p>
                  </a:txBody>
                  <a:tcPr marL="9525" marR="9525" marT="9525" marB="0"/>
                </a:tc>
                <a:tc>
                  <a:txBody>
                    <a:bodyPr/>
                    <a:lstStyle/>
                    <a:p>
                      <a:pPr algn="l" rtl="0" fontAlgn="t"/>
                      <a:r>
                        <a:rPr lang="en-US" sz="1800" b="0" i="0" u="none" strike="noStrike">
                          <a:solidFill>
                            <a:srgbClr val="000000"/>
                          </a:solidFill>
                          <a:latin typeface="Calibri"/>
                        </a:rPr>
                        <a:t>Returns true if a unicode string contains only decimal characters and false otherwise.</a:t>
                      </a:r>
                    </a:p>
                  </a:txBody>
                  <a:tcPr marL="9525" marR="9525" marT="9525" marB="0"/>
                </a:tc>
              </a:tr>
              <a:tr h="370840">
                <a:tc>
                  <a:txBody>
                    <a:bodyPr/>
                    <a:lstStyle/>
                    <a:p>
                      <a:pPr algn="l" rtl="0" fontAlgn="t"/>
                      <a:r>
                        <a:rPr lang="en-US" sz="1800" b="0" i="0" u="none" strike="noStrike">
                          <a:solidFill>
                            <a:srgbClr val="000000"/>
                          </a:solidFill>
                          <a:latin typeface="Calibri"/>
                        </a:rPr>
                        <a:t>19</a:t>
                      </a:r>
                    </a:p>
                  </a:txBody>
                  <a:tcPr marL="9525" marR="9525" marT="9525" marB="0"/>
                </a:tc>
                <a:tc>
                  <a:txBody>
                    <a:bodyPr/>
                    <a:lstStyle/>
                    <a:p>
                      <a:pPr algn="l" rtl="0" fontAlgn="t"/>
                      <a:r>
                        <a:rPr lang="en-US" sz="1800" b="0" i="0" u="none" strike="noStrike">
                          <a:solidFill>
                            <a:srgbClr val="000000"/>
                          </a:solidFill>
                          <a:latin typeface="Calibri"/>
                        </a:rPr>
                        <a:t>isspace() </a:t>
                      </a:r>
                    </a:p>
                  </a:txBody>
                  <a:tcPr marL="9525" marR="9525" marT="9525" marB="0"/>
                </a:tc>
                <a:tc>
                  <a:txBody>
                    <a:bodyPr/>
                    <a:lstStyle/>
                    <a:p>
                      <a:pPr algn="l" rtl="0" fontAlgn="t"/>
                      <a:r>
                        <a:rPr lang="en-US" sz="1800" b="0" i="0" u="none" strike="noStrike">
                          <a:solidFill>
                            <a:srgbClr val="000000"/>
                          </a:solidFill>
                          <a:latin typeface="Calibri"/>
                        </a:rPr>
                        <a:t>Returns true if string contains only whitespace characters and false otherwise.</a:t>
                      </a:r>
                    </a:p>
                  </a:txBody>
                  <a:tcPr marL="9525" marR="9525" marT="9525" marB="0"/>
                </a:tc>
              </a:tr>
              <a:tr h="370840">
                <a:tc>
                  <a:txBody>
                    <a:bodyPr/>
                    <a:lstStyle/>
                    <a:p>
                      <a:pPr algn="l" rtl="0" fontAlgn="t"/>
                      <a:r>
                        <a:rPr lang="en-US" sz="1800" b="0" i="0" u="none" strike="noStrike">
                          <a:solidFill>
                            <a:srgbClr val="000000"/>
                          </a:solidFill>
                          <a:latin typeface="Calibri"/>
                        </a:rPr>
                        <a:t>20</a:t>
                      </a:r>
                    </a:p>
                  </a:txBody>
                  <a:tcPr marL="9525" marR="9525" marT="9525" marB="0"/>
                </a:tc>
                <a:tc>
                  <a:txBody>
                    <a:bodyPr/>
                    <a:lstStyle/>
                    <a:p>
                      <a:pPr algn="l" rtl="0" fontAlgn="t"/>
                      <a:r>
                        <a:rPr lang="en-US" sz="1800" b="0" i="0" u="none" strike="noStrike">
                          <a:solidFill>
                            <a:srgbClr val="000000"/>
                          </a:solidFill>
                          <a:latin typeface="Calibri"/>
                        </a:rPr>
                        <a:t>istitle() </a:t>
                      </a:r>
                    </a:p>
                  </a:txBody>
                  <a:tcPr marL="9525" marR="9525" marT="9525" marB="0"/>
                </a:tc>
                <a:tc>
                  <a:txBody>
                    <a:bodyPr/>
                    <a:lstStyle/>
                    <a:p>
                      <a:pPr algn="l" rtl="0" fontAlgn="t"/>
                      <a:r>
                        <a:rPr lang="en-US" sz="1800" b="0" i="0" u="none" strike="noStrike" dirty="0">
                          <a:solidFill>
                            <a:srgbClr val="000000"/>
                          </a:solidFill>
                          <a:latin typeface="Calibri"/>
                        </a:rPr>
                        <a:t>Returns true if string is properly "</a:t>
                      </a:r>
                      <a:r>
                        <a:rPr lang="en-US" sz="1800" b="0" i="0" u="none" strike="noStrike" dirty="0" err="1">
                          <a:solidFill>
                            <a:srgbClr val="000000"/>
                          </a:solidFill>
                          <a:latin typeface="Calibri"/>
                        </a:rPr>
                        <a:t>titlecased</a:t>
                      </a:r>
                      <a:r>
                        <a:rPr lang="en-US" sz="1800" b="0" i="0" u="none" strike="noStrike" dirty="0">
                          <a:solidFill>
                            <a:srgbClr val="000000"/>
                          </a:solidFill>
                          <a:latin typeface="Calibri"/>
                        </a:rPr>
                        <a:t>" and false otherwise. </a:t>
                      </a:r>
                    </a:p>
                  </a:txBody>
                  <a:tcPr marL="9525" marR="9525" marT="9525" marB="0"/>
                </a:tc>
              </a:tr>
              <a:tr h="370840">
                <a:tc>
                  <a:txBody>
                    <a:bodyPr/>
                    <a:lstStyle/>
                    <a:p>
                      <a:pPr algn="l" rtl="0" fontAlgn="t"/>
                      <a:r>
                        <a:rPr lang="en-US" sz="1800" b="0" i="0" u="none" strike="noStrike" dirty="0">
                          <a:solidFill>
                            <a:srgbClr val="000000"/>
                          </a:solidFill>
                          <a:latin typeface="Calibri"/>
                        </a:rPr>
                        <a:t>21</a:t>
                      </a:r>
                    </a:p>
                  </a:txBody>
                  <a:tcPr marL="9525" marR="9525" marT="9525" marB="0"/>
                </a:tc>
                <a:tc>
                  <a:txBody>
                    <a:bodyPr/>
                    <a:lstStyle/>
                    <a:p>
                      <a:pPr algn="l" rtl="0" fontAlgn="t"/>
                      <a:r>
                        <a:rPr lang="en-US" sz="1800" b="0" i="0" u="none" strike="noStrike">
                          <a:solidFill>
                            <a:srgbClr val="000000"/>
                          </a:solidFill>
                          <a:latin typeface="Calibri"/>
                        </a:rPr>
                        <a:t>isupper() </a:t>
                      </a:r>
                    </a:p>
                  </a:txBody>
                  <a:tcPr marL="9525" marR="9525" marT="9525" marB="0"/>
                </a:tc>
                <a:tc>
                  <a:txBody>
                    <a:bodyPr/>
                    <a:lstStyle/>
                    <a:p>
                      <a:pPr algn="l" rtl="0" fontAlgn="t"/>
                      <a:r>
                        <a:rPr lang="en-US" sz="1800" b="0" i="0" u="none" strike="noStrike" dirty="0">
                          <a:solidFill>
                            <a:srgbClr val="000000"/>
                          </a:solidFill>
                          <a:latin typeface="Calibri"/>
                        </a:rPr>
                        <a:t>Returns true if string has at least one cased character and all cased characters are in uppercase and false otherwise.</a:t>
                      </a:r>
                    </a:p>
                  </a:txBody>
                  <a:tcPr marL="9525" marR="9525" marT="9525" marB="0"/>
                </a:tc>
              </a:tr>
            </a:tbl>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Built in String Methods</a:t>
            </a:r>
            <a:endParaRPr lang="en-IN" dirty="0"/>
          </a:p>
        </p:txBody>
      </p:sp>
      <p:graphicFrame>
        <p:nvGraphicFramePr>
          <p:cNvPr id="4" name="Content Placeholder 3"/>
          <p:cNvGraphicFramePr>
            <a:graphicFrameLocks noGrp="1"/>
          </p:cNvGraphicFramePr>
          <p:nvPr>
            <p:ph idx="1"/>
          </p:nvPr>
        </p:nvGraphicFramePr>
        <p:xfrm>
          <a:off x="457200" y="1071563"/>
          <a:ext cx="8229600" cy="5467985"/>
        </p:xfrm>
        <a:graphic>
          <a:graphicData uri="http://schemas.openxmlformats.org/drawingml/2006/table">
            <a:tbl>
              <a:tblPr firstRow="1" bandRow="1">
                <a:tableStyleId>{5C22544A-7EE6-4342-B048-85BDC9FD1C3A}</a:tableStyleId>
              </a:tblPr>
              <a:tblGrid>
                <a:gridCol w="828652"/>
                <a:gridCol w="2500330"/>
                <a:gridCol w="4900618"/>
              </a:tblGrid>
              <a:tr h="370840">
                <a:tc>
                  <a:txBody>
                    <a:bodyPr/>
                    <a:lstStyle/>
                    <a:p>
                      <a:r>
                        <a:rPr lang="en-IN" dirty="0" smtClean="0"/>
                        <a:t>Sl. No.</a:t>
                      </a:r>
                      <a:endParaRPr lang="en-IN" dirty="0"/>
                    </a:p>
                  </a:txBody>
                  <a:tcPr/>
                </a:tc>
                <a:tc>
                  <a:txBody>
                    <a:bodyPr/>
                    <a:lstStyle/>
                    <a:p>
                      <a:r>
                        <a:rPr lang="en-IN" dirty="0" smtClean="0"/>
                        <a:t>Methods</a:t>
                      </a:r>
                      <a:endParaRPr lang="en-IN" dirty="0"/>
                    </a:p>
                  </a:txBody>
                  <a:tcPr/>
                </a:tc>
                <a:tc>
                  <a:txBody>
                    <a:bodyPr/>
                    <a:lstStyle/>
                    <a:p>
                      <a:r>
                        <a:rPr lang="en-IN" dirty="0" smtClean="0"/>
                        <a:t>Description</a:t>
                      </a:r>
                      <a:endParaRPr lang="en-IN" dirty="0"/>
                    </a:p>
                  </a:txBody>
                  <a:tcPr/>
                </a:tc>
              </a:tr>
              <a:tr h="370840">
                <a:tc>
                  <a:txBody>
                    <a:bodyPr/>
                    <a:lstStyle/>
                    <a:p>
                      <a:pPr algn="l" rtl="0" fontAlgn="t"/>
                      <a:r>
                        <a:rPr lang="en-US" sz="1800" b="0" i="0" u="none" strike="noStrike" dirty="0">
                          <a:solidFill>
                            <a:srgbClr val="000000"/>
                          </a:solidFill>
                          <a:latin typeface="Calibri"/>
                        </a:rPr>
                        <a:t>22</a:t>
                      </a:r>
                    </a:p>
                  </a:txBody>
                  <a:tcPr marL="9525" marR="9525" marT="9525" marB="0"/>
                </a:tc>
                <a:tc>
                  <a:txBody>
                    <a:bodyPr/>
                    <a:lstStyle/>
                    <a:p>
                      <a:pPr algn="l" rtl="0" fontAlgn="t"/>
                      <a:r>
                        <a:rPr lang="en-US" sz="1800" b="0" i="0" u="none" strike="noStrike">
                          <a:solidFill>
                            <a:srgbClr val="000000"/>
                          </a:solidFill>
                          <a:latin typeface="Calibri"/>
                        </a:rPr>
                        <a:t>islower() </a:t>
                      </a:r>
                    </a:p>
                  </a:txBody>
                  <a:tcPr marL="9525" marR="9525" marT="9525" marB="0"/>
                </a:tc>
                <a:tc>
                  <a:txBody>
                    <a:bodyPr/>
                    <a:lstStyle/>
                    <a:p>
                      <a:pPr algn="l" rtl="0" fontAlgn="t"/>
                      <a:r>
                        <a:rPr lang="en-US" sz="1800" b="0" i="0" u="none" strike="noStrike">
                          <a:solidFill>
                            <a:srgbClr val="000000"/>
                          </a:solidFill>
                          <a:latin typeface="Calibri"/>
                        </a:rPr>
                        <a:t>Returns true if string has at least 1 cased character and all cased characters are in lowercase and false otherwise.</a:t>
                      </a:r>
                    </a:p>
                  </a:txBody>
                  <a:tcPr marL="9525" marR="9525" marT="9525" marB="0"/>
                </a:tc>
              </a:tr>
              <a:tr h="370840">
                <a:tc>
                  <a:txBody>
                    <a:bodyPr/>
                    <a:lstStyle/>
                    <a:p>
                      <a:pPr algn="l" rtl="0" fontAlgn="t"/>
                      <a:r>
                        <a:rPr lang="en-US" sz="1800" b="0" i="0" u="none" strike="noStrike">
                          <a:solidFill>
                            <a:srgbClr val="000000"/>
                          </a:solidFill>
                          <a:latin typeface="Calibri"/>
                        </a:rPr>
                        <a:t>23</a:t>
                      </a:r>
                    </a:p>
                  </a:txBody>
                  <a:tcPr marL="9525" marR="9525" marT="9525" marB="0"/>
                </a:tc>
                <a:tc>
                  <a:txBody>
                    <a:bodyPr/>
                    <a:lstStyle/>
                    <a:p>
                      <a:pPr algn="l" rtl="0" fontAlgn="t"/>
                      <a:r>
                        <a:rPr lang="en-US" sz="1800" b="0" i="0" u="none" strike="noStrike">
                          <a:solidFill>
                            <a:srgbClr val="000000"/>
                          </a:solidFill>
                          <a:latin typeface="Calibri"/>
                        </a:rPr>
                        <a:t>join(seq) </a:t>
                      </a:r>
                    </a:p>
                  </a:txBody>
                  <a:tcPr marL="9525" marR="9525" marT="9525" marB="0"/>
                </a:tc>
                <a:tc>
                  <a:txBody>
                    <a:bodyPr/>
                    <a:lstStyle/>
                    <a:p>
                      <a:pPr algn="l" rtl="0" fontAlgn="t"/>
                      <a:r>
                        <a:rPr lang="en-US" sz="1800" b="0" i="0" u="none" strike="noStrike">
                          <a:solidFill>
                            <a:srgbClr val="000000"/>
                          </a:solidFill>
                          <a:latin typeface="Calibri"/>
                        </a:rPr>
                        <a:t>Merges (concatenates) the string representations of elements in sequence seq into a string, with separator string.</a:t>
                      </a:r>
                    </a:p>
                  </a:txBody>
                  <a:tcPr marL="9525" marR="9525" marT="9525" marB="0"/>
                </a:tc>
              </a:tr>
              <a:tr h="370840">
                <a:tc>
                  <a:txBody>
                    <a:bodyPr/>
                    <a:lstStyle/>
                    <a:p>
                      <a:pPr algn="l" rtl="0" fontAlgn="t"/>
                      <a:r>
                        <a:rPr lang="en-US" sz="1800" b="0" i="0" u="none" strike="noStrike">
                          <a:solidFill>
                            <a:srgbClr val="000000"/>
                          </a:solidFill>
                          <a:latin typeface="Calibri"/>
                        </a:rPr>
                        <a:t>24</a:t>
                      </a:r>
                    </a:p>
                  </a:txBody>
                  <a:tcPr marL="9525" marR="9525" marT="9525" marB="0"/>
                </a:tc>
                <a:tc>
                  <a:txBody>
                    <a:bodyPr/>
                    <a:lstStyle/>
                    <a:p>
                      <a:pPr algn="l" rtl="0" fontAlgn="t"/>
                      <a:r>
                        <a:rPr lang="en-US" sz="1800" b="0" i="0" u="none" strike="noStrike">
                          <a:solidFill>
                            <a:srgbClr val="000000"/>
                          </a:solidFill>
                          <a:latin typeface="Calibri"/>
                        </a:rPr>
                        <a:t>ljust(width[, fillchar]) </a:t>
                      </a:r>
                    </a:p>
                  </a:txBody>
                  <a:tcPr marL="9525" marR="9525" marT="9525" marB="0"/>
                </a:tc>
                <a:tc>
                  <a:txBody>
                    <a:bodyPr/>
                    <a:lstStyle/>
                    <a:p>
                      <a:pPr algn="l" rtl="0" fontAlgn="t"/>
                      <a:r>
                        <a:rPr lang="en-US" sz="1800" b="0" i="0" u="none" strike="noStrike">
                          <a:solidFill>
                            <a:srgbClr val="000000"/>
                          </a:solidFill>
                          <a:latin typeface="Calibri"/>
                        </a:rPr>
                        <a:t>Returns a space-padded string with the original string left-justified to a total of width columns.</a:t>
                      </a:r>
                    </a:p>
                  </a:txBody>
                  <a:tcPr marL="9525" marR="9525" marT="9525" marB="0"/>
                </a:tc>
              </a:tr>
              <a:tr h="370840">
                <a:tc>
                  <a:txBody>
                    <a:bodyPr/>
                    <a:lstStyle/>
                    <a:p>
                      <a:pPr algn="l" rtl="0" fontAlgn="t"/>
                      <a:r>
                        <a:rPr lang="en-US" sz="1800" b="0" i="0" u="none" strike="noStrike">
                          <a:solidFill>
                            <a:srgbClr val="000000"/>
                          </a:solidFill>
                          <a:latin typeface="Calibri"/>
                        </a:rPr>
                        <a:t>25</a:t>
                      </a:r>
                    </a:p>
                  </a:txBody>
                  <a:tcPr marL="9525" marR="9525" marT="9525" marB="0"/>
                </a:tc>
                <a:tc>
                  <a:txBody>
                    <a:bodyPr/>
                    <a:lstStyle/>
                    <a:p>
                      <a:pPr algn="l" rtl="0" fontAlgn="t"/>
                      <a:r>
                        <a:rPr lang="en-US" sz="1800" b="0" i="0" u="none" strike="noStrike">
                          <a:solidFill>
                            <a:srgbClr val="000000"/>
                          </a:solidFill>
                          <a:latin typeface="Calibri"/>
                        </a:rPr>
                        <a:t>lower() </a:t>
                      </a:r>
                    </a:p>
                  </a:txBody>
                  <a:tcPr marL="9525" marR="9525" marT="9525" marB="0"/>
                </a:tc>
                <a:tc>
                  <a:txBody>
                    <a:bodyPr/>
                    <a:lstStyle/>
                    <a:p>
                      <a:pPr algn="l" rtl="0" fontAlgn="t"/>
                      <a:r>
                        <a:rPr lang="en-US" sz="1800" b="0" i="0" u="none" strike="noStrike">
                          <a:solidFill>
                            <a:srgbClr val="000000"/>
                          </a:solidFill>
                          <a:latin typeface="Calibri"/>
                        </a:rPr>
                        <a:t>Converts all uppercase letters in string to lowercase.</a:t>
                      </a:r>
                    </a:p>
                  </a:txBody>
                  <a:tcPr marL="9525" marR="9525" marT="9525" marB="0"/>
                </a:tc>
              </a:tr>
              <a:tr h="370840">
                <a:tc>
                  <a:txBody>
                    <a:bodyPr/>
                    <a:lstStyle/>
                    <a:p>
                      <a:pPr algn="l" rtl="0" fontAlgn="t"/>
                      <a:r>
                        <a:rPr lang="en-US" sz="1800" b="0" i="0" u="none" strike="noStrike">
                          <a:solidFill>
                            <a:srgbClr val="000000"/>
                          </a:solidFill>
                          <a:latin typeface="Calibri"/>
                        </a:rPr>
                        <a:t>26</a:t>
                      </a:r>
                    </a:p>
                  </a:txBody>
                  <a:tcPr marL="9525" marR="9525" marT="9525" marB="0"/>
                </a:tc>
                <a:tc>
                  <a:txBody>
                    <a:bodyPr/>
                    <a:lstStyle/>
                    <a:p>
                      <a:pPr algn="l" rtl="0" fontAlgn="t"/>
                      <a:r>
                        <a:rPr lang="en-US" sz="1800" b="0" i="0" u="none" strike="noStrike">
                          <a:solidFill>
                            <a:srgbClr val="000000"/>
                          </a:solidFill>
                          <a:latin typeface="Calibri"/>
                        </a:rPr>
                        <a:t>upper() </a:t>
                      </a:r>
                    </a:p>
                  </a:txBody>
                  <a:tcPr marL="9525" marR="9525" marT="9525" marB="0"/>
                </a:tc>
                <a:tc>
                  <a:txBody>
                    <a:bodyPr/>
                    <a:lstStyle/>
                    <a:p>
                      <a:pPr algn="l" rtl="0" fontAlgn="t"/>
                      <a:r>
                        <a:rPr lang="en-US" sz="1800" b="0" i="0" u="none" strike="noStrike">
                          <a:solidFill>
                            <a:srgbClr val="000000"/>
                          </a:solidFill>
                          <a:latin typeface="Calibri"/>
                        </a:rPr>
                        <a:t>Converts lowercase letters in string to uppercase.</a:t>
                      </a:r>
                    </a:p>
                  </a:txBody>
                  <a:tcPr marL="9525" marR="9525" marT="9525" marB="0"/>
                </a:tc>
              </a:tr>
              <a:tr h="370840">
                <a:tc>
                  <a:txBody>
                    <a:bodyPr/>
                    <a:lstStyle/>
                    <a:p>
                      <a:pPr algn="l" rtl="0" fontAlgn="t"/>
                      <a:r>
                        <a:rPr lang="en-US" sz="1800" b="0" i="0" u="none" strike="noStrike">
                          <a:solidFill>
                            <a:srgbClr val="000000"/>
                          </a:solidFill>
                          <a:latin typeface="Calibri"/>
                        </a:rPr>
                        <a:t>27</a:t>
                      </a:r>
                    </a:p>
                  </a:txBody>
                  <a:tcPr marL="9525" marR="9525" marT="9525" marB="0"/>
                </a:tc>
                <a:tc>
                  <a:txBody>
                    <a:bodyPr/>
                    <a:lstStyle/>
                    <a:p>
                      <a:pPr algn="l" rtl="0" fontAlgn="t"/>
                      <a:r>
                        <a:rPr lang="en-US" sz="1800" b="0" i="0" u="none" strike="noStrike">
                          <a:solidFill>
                            <a:srgbClr val="000000"/>
                          </a:solidFill>
                          <a:latin typeface="Calibri"/>
                        </a:rPr>
                        <a:t>lstrip() </a:t>
                      </a:r>
                    </a:p>
                  </a:txBody>
                  <a:tcPr marL="9525" marR="9525" marT="9525" marB="0"/>
                </a:tc>
                <a:tc>
                  <a:txBody>
                    <a:bodyPr/>
                    <a:lstStyle/>
                    <a:p>
                      <a:pPr algn="l" rtl="0" fontAlgn="t"/>
                      <a:r>
                        <a:rPr lang="en-US" sz="1800" b="0" i="0" u="none" strike="noStrike" dirty="0">
                          <a:solidFill>
                            <a:srgbClr val="000000"/>
                          </a:solidFill>
                          <a:latin typeface="Calibri"/>
                        </a:rPr>
                        <a:t>Removes all leading whitespace in string.</a:t>
                      </a:r>
                    </a:p>
                  </a:txBody>
                  <a:tcPr marL="9525" marR="9525" marT="9525" marB="0"/>
                </a:tc>
              </a:tr>
              <a:tr h="370840">
                <a:tc>
                  <a:txBody>
                    <a:bodyPr/>
                    <a:lstStyle/>
                    <a:p>
                      <a:pPr algn="l" rtl="0" fontAlgn="t"/>
                      <a:r>
                        <a:rPr lang="en-US" sz="1800" b="0" i="0" u="none" strike="noStrike" dirty="0">
                          <a:solidFill>
                            <a:srgbClr val="000000"/>
                          </a:solidFill>
                          <a:latin typeface="Calibri"/>
                        </a:rPr>
                        <a:t>28</a:t>
                      </a:r>
                    </a:p>
                  </a:txBody>
                  <a:tcPr marL="9525" marR="9525" marT="9525" marB="0"/>
                </a:tc>
                <a:tc>
                  <a:txBody>
                    <a:bodyPr/>
                    <a:lstStyle/>
                    <a:p>
                      <a:pPr algn="l" rtl="0" fontAlgn="t"/>
                      <a:r>
                        <a:rPr lang="en-US" sz="1800" b="0" i="0" u="none" strike="noStrike">
                          <a:solidFill>
                            <a:srgbClr val="000000"/>
                          </a:solidFill>
                          <a:latin typeface="Calibri"/>
                        </a:rPr>
                        <a:t>rstrip() </a:t>
                      </a:r>
                    </a:p>
                  </a:txBody>
                  <a:tcPr marL="9525" marR="9525" marT="9525" marB="0"/>
                </a:tc>
                <a:tc>
                  <a:txBody>
                    <a:bodyPr/>
                    <a:lstStyle/>
                    <a:p>
                      <a:pPr algn="l" rtl="0" fontAlgn="t"/>
                      <a:r>
                        <a:rPr lang="en-US" sz="1800" b="0" i="0" u="none" strike="noStrike">
                          <a:solidFill>
                            <a:srgbClr val="000000"/>
                          </a:solidFill>
                          <a:latin typeface="Calibri"/>
                        </a:rPr>
                        <a:t>Removes all trailing whitespace of string.</a:t>
                      </a:r>
                    </a:p>
                  </a:txBody>
                  <a:tcPr marL="9525" marR="9525" marT="9525" marB="0"/>
                </a:tc>
              </a:tr>
              <a:tr h="370840">
                <a:tc>
                  <a:txBody>
                    <a:bodyPr/>
                    <a:lstStyle/>
                    <a:p>
                      <a:pPr algn="l" rtl="0" fontAlgn="t"/>
                      <a:r>
                        <a:rPr lang="en-US" sz="1800" b="0" i="0" u="none" strike="noStrike">
                          <a:solidFill>
                            <a:srgbClr val="000000"/>
                          </a:solidFill>
                          <a:latin typeface="Calibri"/>
                        </a:rPr>
                        <a:t>29</a:t>
                      </a:r>
                    </a:p>
                  </a:txBody>
                  <a:tcPr marL="9525" marR="9525" marT="9525" marB="0"/>
                </a:tc>
                <a:tc>
                  <a:txBody>
                    <a:bodyPr/>
                    <a:lstStyle/>
                    <a:p>
                      <a:pPr algn="l" rtl="0" fontAlgn="t"/>
                      <a:r>
                        <a:rPr lang="en-US" sz="1800" b="0" i="0" u="none" strike="noStrike">
                          <a:solidFill>
                            <a:srgbClr val="000000"/>
                          </a:solidFill>
                          <a:latin typeface="Calibri"/>
                        </a:rPr>
                        <a:t>replace(old, new [, max]) </a:t>
                      </a:r>
                    </a:p>
                  </a:txBody>
                  <a:tcPr marL="9525" marR="9525" marT="9525" marB="0"/>
                </a:tc>
                <a:tc>
                  <a:txBody>
                    <a:bodyPr/>
                    <a:lstStyle/>
                    <a:p>
                      <a:pPr algn="l" rtl="0" fontAlgn="t"/>
                      <a:r>
                        <a:rPr lang="en-US" sz="1800" b="0" i="0" u="none" strike="noStrike">
                          <a:solidFill>
                            <a:srgbClr val="000000"/>
                          </a:solidFill>
                          <a:latin typeface="Calibri"/>
                        </a:rPr>
                        <a:t>Replaces all occurrences of old in string with new or at most max occurrences if max given.</a:t>
                      </a:r>
                    </a:p>
                  </a:txBody>
                  <a:tcPr marL="9525" marR="9525" marT="9525" marB="0"/>
                </a:tc>
              </a:tr>
              <a:tr h="370840">
                <a:tc>
                  <a:txBody>
                    <a:bodyPr/>
                    <a:lstStyle/>
                    <a:p>
                      <a:pPr algn="l" rtl="0" fontAlgn="t"/>
                      <a:r>
                        <a:rPr lang="en-US" sz="1800" b="0" i="0" u="none" strike="noStrike">
                          <a:solidFill>
                            <a:srgbClr val="000000"/>
                          </a:solidFill>
                          <a:latin typeface="Calibri"/>
                        </a:rPr>
                        <a:t>30</a:t>
                      </a:r>
                    </a:p>
                  </a:txBody>
                  <a:tcPr marL="9525" marR="9525" marT="9525" marB="0"/>
                </a:tc>
                <a:tc>
                  <a:txBody>
                    <a:bodyPr/>
                    <a:lstStyle/>
                    <a:p>
                      <a:pPr algn="l" rtl="0" fontAlgn="t"/>
                      <a:r>
                        <a:rPr lang="en-US" sz="1800" b="0" i="0" u="none" strike="noStrike">
                          <a:solidFill>
                            <a:srgbClr val="000000"/>
                          </a:solidFill>
                          <a:latin typeface="Calibri"/>
                        </a:rPr>
                        <a:t>split(str="", num=string.count(str)) </a:t>
                      </a:r>
                    </a:p>
                  </a:txBody>
                  <a:tcPr marL="9525" marR="9525" marT="9525" marB="0"/>
                </a:tc>
                <a:tc>
                  <a:txBody>
                    <a:bodyPr/>
                    <a:lstStyle/>
                    <a:p>
                      <a:pPr algn="l" rtl="0" fontAlgn="t"/>
                      <a:r>
                        <a:rPr lang="en-US" sz="1800" b="0" i="0" u="none" strike="noStrike" dirty="0">
                          <a:solidFill>
                            <a:srgbClr val="000000"/>
                          </a:solidFill>
                          <a:latin typeface="Calibri"/>
                        </a:rPr>
                        <a:t>Splits string according to delimiter </a:t>
                      </a:r>
                      <a:r>
                        <a:rPr lang="en-US" sz="1800" b="0" i="0" u="none" strike="noStrike" dirty="0" err="1">
                          <a:solidFill>
                            <a:srgbClr val="000000"/>
                          </a:solidFill>
                          <a:latin typeface="Calibri"/>
                        </a:rPr>
                        <a:t>str</a:t>
                      </a:r>
                      <a:r>
                        <a:rPr lang="en-US" sz="1800" b="0" i="0" u="none" strike="noStrike" dirty="0">
                          <a:solidFill>
                            <a:srgbClr val="000000"/>
                          </a:solidFill>
                          <a:latin typeface="Calibri"/>
                        </a:rPr>
                        <a:t> (space if not provided) and returns list of substrings; split into at most num substrings if given.</a:t>
                      </a:r>
                    </a:p>
                  </a:txBody>
                  <a:tcPr marL="9525" marR="9525" marT="9525" marB="0"/>
                </a:tc>
              </a:tr>
            </a:tbl>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Built in String Methods</a:t>
            </a:r>
            <a:endParaRPr lang="en-IN" dirty="0"/>
          </a:p>
        </p:txBody>
      </p:sp>
      <p:graphicFrame>
        <p:nvGraphicFramePr>
          <p:cNvPr id="4" name="Content Placeholder 3"/>
          <p:cNvGraphicFramePr>
            <a:graphicFrameLocks noGrp="1"/>
          </p:cNvGraphicFramePr>
          <p:nvPr>
            <p:ph idx="1"/>
          </p:nvPr>
        </p:nvGraphicFramePr>
        <p:xfrm>
          <a:off x="457200" y="1071563"/>
          <a:ext cx="8229600" cy="4451985"/>
        </p:xfrm>
        <a:graphic>
          <a:graphicData uri="http://schemas.openxmlformats.org/drawingml/2006/table">
            <a:tbl>
              <a:tblPr firstRow="1" bandRow="1">
                <a:tableStyleId>{5C22544A-7EE6-4342-B048-85BDC9FD1C3A}</a:tableStyleId>
              </a:tblPr>
              <a:tblGrid>
                <a:gridCol w="828652"/>
                <a:gridCol w="2500330"/>
                <a:gridCol w="4900618"/>
              </a:tblGrid>
              <a:tr h="370840">
                <a:tc>
                  <a:txBody>
                    <a:bodyPr/>
                    <a:lstStyle/>
                    <a:p>
                      <a:r>
                        <a:rPr lang="en-IN" dirty="0" smtClean="0"/>
                        <a:t>Sl. No.</a:t>
                      </a:r>
                      <a:endParaRPr lang="en-IN" dirty="0"/>
                    </a:p>
                  </a:txBody>
                  <a:tcPr/>
                </a:tc>
                <a:tc>
                  <a:txBody>
                    <a:bodyPr/>
                    <a:lstStyle/>
                    <a:p>
                      <a:r>
                        <a:rPr lang="en-IN" dirty="0" smtClean="0"/>
                        <a:t>Methods</a:t>
                      </a:r>
                      <a:endParaRPr lang="en-IN" dirty="0"/>
                    </a:p>
                  </a:txBody>
                  <a:tcPr/>
                </a:tc>
                <a:tc>
                  <a:txBody>
                    <a:bodyPr/>
                    <a:lstStyle/>
                    <a:p>
                      <a:r>
                        <a:rPr lang="en-IN" dirty="0" smtClean="0"/>
                        <a:t>Description</a:t>
                      </a:r>
                      <a:endParaRPr lang="en-IN" dirty="0"/>
                    </a:p>
                  </a:txBody>
                  <a:tcPr/>
                </a:tc>
              </a:tr>
              <a:tr h="370840">
                <a:tc>
                  <a:txBody>
                    <a:bodyPr/>
                    <a:lstStyle/>
                    <a:p>
                      <a:pPr algn="l" rtl="0" fontAlgn="t"/>
                      <a:r>
                        <a:rPr lang="en-US" sz="1800" b="0" i="0" u="none" strike="noStrike" dirty="0">
                          <a:solidFill>
                            <a:srgbClr val="000000"/>
                          </a:solidFill>
                          <a:latin typeface="Calibri"/>
                        </a:rPr>
                        <a:t>31</a:t>
                      </a:r>
                    </a:p>
                  </a:txBody>
                  <a:tcPr marL="9525" marR="9525" marT="9525" marB="0"/>
                </a:tc>
                <a:tc>
                  <a:txBody>
                    <a:bodyPr/>
                    <a:lstStyle/>
                    <a:p>
                      <a:pPr algn="l" rtl="0" fontAlgn="t"/>
                      <a:r>
                        <a:rPr lang="en-US" sz="1800" b="0" i="0" u="none" strike="noStrike">
                          <a:solidFill>
                            <a:srgbClr val="000000"/>
                          </a:solidFill>
                          <a:latin typeface="Calibri"/>
                        </a:rPr>
                        <a:t>splitlines( num=string.count('\n')) </a:t>
                      </a:r>
                    </a:p>
                  </a:txBody>
                  <a:tcPr marL="9525" marR="9525" marT="9525" marB="0"/>
                </a:tc>
                <a:tc>
                  <a:txBody>
                    <a:bodyPr/>
                    <a:lstStyle/>
                    <a:p>
                      <a:pPr algn="l" rtl="0" fontAlgn="t"/>
                      <a:r>
                        <a:rPr lang="en-US" sz="1800" b="0" i="0" u="none" strike="noStrike">
                          <a:solidFill>
                            <a:srgbClr val="000000"/>
                          </a:solidFill>
                          <a:latin typeface="Calibri"/>
                        </a:rPr>
                        <a:t>Splits string at all (or num) NEWLINEs and returns a list of each line with NEWLINEs removed.</a:t>
                      </a:r>
                    </a:p>
                  </a:txBody>
                  <a:tcPr marL="9525" marR="9525" marT="9525" marB="0"/>
                </a:tc>
              </a:tr>
              <a:tr h="370840">
                <a:tc>
                  <a:txBody>
                    <a:bodyPr/>
                    <a:lstStyle/>
                    <a:p>
                      <a:pPr algn="l" rtl="0" fontAlgn="t"/>
                      <a:r>
                        <a:rPr lang="en-US" sz="1800" b="0" i="0" u="none" strike="noStrike">
                          <a:solidFill>
                            <a:srgbClr val="000000"/>
                          </a:solidFill>
                          <a:latin typeface="Calibri"/>
                        </a:rPr>
                        <a:t>32</a:t>
                      </a:r>
                    </a:p>
                  </a:txBody>
                  <a:tcPr marL="9525" marR="9525" marT="9525" marB="0"/>
                </a:tc>
                <a:tc>
                  <a:txBody>
                    <a:bodyPr/>
                    <a:lstStyle/>
                    <a:p>
                      <a:pPr algn="l" rtl="0" fontAlgn="t"/>
                      <a:r>
                        <a:rPr lang="en-US" sz="1800" b="0" i="0" u="none" strike="noStrike">
                          <a:solidFill>
                            <a:srgbClr val="000000"/>
                          </a:solidFill>
                          <a:latin typeface="Calibri"/>
                        </a:rPr>
                        <a:t>splitlines( num=string.count('\n')) </a:t>
                      </a:r>
                    </a:p>
                  </a:txBody>
                  <a:tcPr marL="9525" marR="9525" marT="9525" marB="0"/>
                </a:tc>
                <a:tc>
                  <a:txBody>
                    <a:bodyPr/>
                    <a:lstStyle/>
                    <a:p>
                      <a:pPr algn="l" rtl="0" fontAlgn="t"/>
                      <a:r>
                        <a:rPr lang="en-US" sz="1800" b="0" i="0" u="none" strike="noStrike">
                          <a:solidFill>
                            <a:srgbClr val="000000"/>
                          </a:solidFill>
                          <a:latin typeface="Calibri"/>
                        </a:rPr>
                        <a:t>Splits string at all (or num) NEWLINEs and returns a list of each line with NEWLINEs removed.</a:t>
                      </a:r>
                    </a:p>
                  </a:txBody>
                  <a:tcPr marL="9525" marR="9525" marT="9525" marB="0"/>
                </a:tc>
              </a:tr>
              <a:tr h="370840">
                <a:tc>
                  <a:txBody>
                    <a:bodyPr/>
                    <a:lstStyle/>
                    <a:p>
                      <a:pPr algn="l" rtl="0" fontAlgn="t"/>
                      <a:r>
                        <a:rPr lang="en-US" sz="1800" b="0" i="0" u="none" strike="noStrike">
                          <a:solidFill>
                            <a:srgbClr val="000000"/>
                          </a:solidFill>
                          <a:latin typeface="Calibri"/>
                        </a:rPr>
                        <a:t>33</a:t>
                      </a:r>
                    </a:p>
                  </a:txBody>
                  <a:tcPr marL="9525" marR="9525" marT="9525" marB="0"/>
                </a:tc>
                <a:tc>
                  <a:txBody>
                    <a:bodyPr/>
                    <a:lstStyle/>
                    <a:p>
                      <a:pPr algn="l" rtl="0" fontAlgn="t"/>
                      <a:r>
                        <a:rPr lang="en-US" sz="1800" b="0" i="0" u="none" strike="noStrike">
                          <a:solidFill>
                            <a:srgbClr val="000000"/>
                          </a:solidFill>
                          <a:latin typeface="Calibri"/>
                        </a:rPr>
                        <a:t>strip([chars]) </a:t>
                      </a:r>
                    </a:p>
                  </a:txBody>
                  <a:tcPr marL="9525" marR="9525" marT="9525" marB="0"/>
                </a:tc>
                <a:tc>
                  <a:txBody>
                    <a:bodyPr/>
                    <a:lstStyle/>
                    <a:p>
                      <a:pPr algn="l" rtl="0" fontAlgn="t"/>
                      <a:r>
                        <a:rPr lang="en-US" sz="1800" b="0" i="0" u="none" strike="noStrike">
                          <a:solidFill>
                            <a:srgbClr val="000000"/>
                          </a:solidFill>
                          <a:latin typeface="Calibri"/>
                        </a:rPr>
                        <a:t>Performs both lstrip() and rstrip() on string.</a:t>
                      </a:r>
                    </a:p>
                  </a:txBody>
                  <a:tcPr marL="9525" marR="9525" marT="9525" marB="0"/>
                </a:tc>
              </a:tr>
              <a:tr h="370840">
                <a:tc>
                  <a:txBody>
                    <a:bodyPr/>
                    <a:lstStyle/>
                    <a:p>
                      <a:pPr algn="l" rtl="0" fontAlgn="t"/>
                      <a:r>
                        <a:rPr lang="en-US" sz="1800" b="0" i="0" u="none" strike="noStrike">
                          <a:solidFill>
                            <a:srgbClr val="000000"/>
                          </a:solidFill>
                          <a:latin typeface="Calibri"/>
                        </a:rPr>
                        <a:t>34</a:t>
                      </a:r>
                    </a:p>
                  </a:txBody>
                  <a:tcPr marL="9525" marR="9525" marT="9525" marB="0"/>
                </a:tc>
                <a:tc>
                  <a:txBody>
                    <a:bodyPr/>
                    <a:lstStyle/>
                    <a:p>
                      <a:pPr algn="l" rtl="0" fontAlgn="t"/>
                      <a:r>
                        <a:rPr lang="en-US" sz="1800" b="0" i="0" u="none" strike="noStrike">
                          <a:solidFill>
                            <a:srgbClr val="000000"/>
                          </a:solidFill>
                          <a:latin typeface="Calibri"/>
                        </a:rPr>
                        <a:t>swapcase() </a:t>
                      </a:r>
                    </a:p>
                  </a:txBody>
                  <a:tcPr marL="9525" marR="9525" marT="9525" marB="0"/>
                </a:tc>
                <a:tc>
                  <a:txBody>
                    <a:bodyPr/>
                    <a:lstStyle/>
                    <a:p>
                      <a:pPr algn="l" rtl="0" fontAlgn="t"/>
                      <a:r>
                        <a:rPr lang="en-US" sz="1800" b="0" i="0" u="none" strike="noStrike">
                          <a:solidFill>
                            <a:srgbClr val="000000"/>
                          </a:solidFill>
                          <a:latin typeface="Calibri"/>
                        </a:rPr>
                        <a:t>Inverts case for all letters in string.</a:t>
                      </a:r>
                    </a:p>
                  </a:txBody>
                  <a:tcPr marL="9525" marR="9525" marT="9525" marB="0"/>
                </a:tc>
              </a:tr>
              <a:tr h="370840">
                <a:tc>
                  <a:txBody>
                    <a:bodyPr/>
                    <a:lstStyle/>
                    <a:p>
                      <a:pPr algn="l" rtl="0" fontAlgn="t"/>
                      <a:r>
                        <a:rPr lang="en-US" sz="1800" b="0" i="0" u="none" strike="noStrike">
                          <a:solidFill>
                            <a:srgbClr val="000000"/>
                          </a:solidFill>
                          <a:latin typeface="Calibri"/>
                        </a:rPr>
                        <a:t>35</a:t>
                      </a:r>
                    </a:p>
                  </a:txBody>
                  <a:tcPr marL="9525" marR="9525" marT="9525" marB="0"/>
                </a:tc>
                <a:tc>
                  <a:txBody>
                    <a:bodyPr/>
                    <a:lstStyle/>
                    <a:p>
                      <a:pPr algn="l" rtl="0" fontAlgn="t"/>
                      <a:r>
                        <a:rPr lang="en-US" sz="1800" b="0" i="0" u="none" strike="noStrike">
                          <a:solidFill>
                            <a:srgbClr val="000000"/>
                          </a:solidFill>
                          <a:latin typeface="Calibri"/>
                        </a:rPr>
                        <a:t>title() </a:t>
                      </a:r>
                    </a:p>
                  </a:txBody>
                  <a:tcPr marL="9525" marR="9525" marT="9525" marB="0"/>
                </a:tc>
                <a:tc>
                  <a:txBody>
                    <a:bodyPr/>
                    <a:lstStyle/>
                    <a:p>
                      <a:pPr algn="l" rtl="0" fontAlgn="t"/>
                      <a:r>
                        <a:rPr lang="en-US" sz="1800" b="0" i="0" u="none" strike="noStrike">
                          <a:solidFill>
                            <a:srgbClr val="000000"/>
                          </a:solidFill>
                          <a:latin typeface="Calibri"/>
                        </a:rPr>
                        <a:t>Returns "titlecased" version of string, that is, all words begin with uppercase and the rest are lowercase.</a:t>
                      </a:r>
                    </a:p>
                  </a:txBody>
                  <a:tcPr marL="9525" marR="9525" marT="9525" marB="0"/>
                </a:tc>
              </a:tr>
              <a:tr h="370840">
                <a:tc>
                  <a:txBody>
                    <a:bodyPr/>
                    <a:lstStyle/>
                    <a:p>
                      <a:pPr algn="l" rtl="0" fontAlgn="t"/>
                      <a:r>
                        <a:rPr lang="en-US" sz="1800" b="0" i="0" u="none" strike="noStrike">
                          <a:solidFill>
                            <a:srgbClr val="000000"/>
                          </a:solidFill>
                          <a:latin typeface="Calibri"/>
                        </a:rPr>
                        <a:t>36</a:t>
                      </a:r>
                    </a:p>
                  </a:txBody>
                  <a:tcPr marL="9525" marR="9525" marT="9525" marB="0"/>
                </a:tc>
                <a:tc>
                  <a:txBody>
                    <a:bodyPr/>
                    <a:lstStyle/>
                    <a:p>
                      <a:pPr algn="l" rtl="0" fontAlgn="t"/>
                      <a:r>
                        <a:rPr lang="en-US" sz="1800" b="0" i="0" u="none" strike="noStrike">
                          <a:solidFill>
                            <a:srgbClr val="000000"/>
                          </a:solidFill>
                          <a:latin typeface="Calibri"/>
                        </a:rPr>
                        <a:t>translate(table, deletechars="") </a:t>
                      </a:r>
                    </a:p>
                  </a:txBody>
                  <a:tcPr marL="9525" marR="9525" marT="9525" marB="0"/>
                </a:tc>
                <a:tc>
                  <a:txBody>
                    <a:bodyPr/>
                    <a:lstStyle/>
                    <a:p>
                      <a:pPr algn="l" rtl="0" fontAlgn="t"/>
                      <a:r>
                        <a:rPr lang="en-US" sz="1800" b="0" i="0" u="none" strike="noStrike" dirty="0">
                          <a:solidFill>
                            <a:srgbClr val="000000"/>
                          </a:solidFill>
                          <a:latin typeface="Calibri"/>
                        </a:rPr>
                        <a:t>Translates string according to translation table </a:t>
                      </a:r>
                      <a:r>
                        <a:rPr lang="en-US" sz="1800" b="0" i="0" u="none" strike="noStrike" dirty="0" err="1">
                          <a:solidFill>
                            <a:srgbClr val="000000"/>
                          </a:solidFill>
                          <a:latin typeface="Calibri"/>
                        </a:rPr>
                        <a:t>str</a:t>
                      </a:r>
                      <a:r>
                        <a:rPr lang="en-US" sz="1800" b="0" i="0" u="none" strike="noStrike" dirty="0">
                          <a:solidFill>
                            <a:srgbClr val="000000"/>
                          </a:solidFill>
                          <a:latin typeface="Calibri"/>
                        </a:rPr>
                        <a:t>(256 chars), removing those in the del string.</a:t>
                      </a:r>
                    </a:p>
                  </a:txBody>
                  <a:tcPr marL="9525" marR="9525" marT="9525" marB="0"/>
                </a:tc>
              </a:tr>
              <a:tr h="370840">
                <a:tc>
                  <a:txBody>
                    <a:bodyPr/>
                    <a:lstStyle/>
                    <a:p>
                      <a:pPr algn="l" rtl="0" fontAlgn="t"/>
                      <a:r>
                        <a:rPr lang="en-US" sz="1800" b="0" i="0" u="none" strike="noStrike" dirty="0">
                          <a:solidFill>
                            <a:srgbClr val="000000"/>
                          </a:solidFill>
                          <a:latin typeface="Calibri"/>
                        </a:rPr>
                        <a:t>37</a:t>
                      </a:r>
                    </a:p>
                  </a:txBody>
                  <a:tcPr marL="9525" marR="9525" marT="9525" marB="0"/>
                </a:tc>
                <a:tc>
                  <a:txBody>
                    <a:bodyPr/>
                    <a:lstStyle/>
                    <a:p>
                      <a:pPr algn="l" rtl="0" fontAlgn="t"/>
                      <a:r>
                        <a:rPr lang="en-US" sz="1800" b="0" i="0" u="none" strike="noStrike">
                          <a:solidFill>
                            <a:srgbClr val="000000"/>
                          </a:solidFill>
                          <a:latin typeface="Calibri"/>
                        </a:rPr>
                        <a:t>zfill (width) </a:t>
                      </a:r>
                    </a:p>
                  </a:txBody>
                  <a:tcPr marL="9525" marR="9525" marT="9525" marB="0"/>
                </a:tc>
                <a:tc>
                  <a:txBody>
                    <a:bodyPr/>
                    <a:lstStyle/>
                    <a:p>
                      <a:pPr algn="l" rtl="0" fontAlgn="t"/>
                      <a:r>
                        <a:rPr lang="en-US" sz="1800" b="0" i="0" u="none" strike="noStrike" dirty="0">
                          <a:solidFill>
                            <a:srgbClr val="000000"/>
                          </a:solidFill>
                          <a:latin typeface="Calibri"/>
                        </a:rPr>
                        <a:t>Returns original string </a:t>
                      </a:r>
                      <a:r>
                        <a:rPr lang="en-US" sz="1800" b="0" i="0" u="none" strike="noStrike" dirty="0" err="1">
                          <a:solidFill>
                            <a:srgbClr val="000000"/>
                          </a:solidFill>
                          <a:latin typeface="Calibri"/>
                        </a:rPr>
                        <a:t>leftpadded</a:t>
                      </a:r>
                      <a:r>
                        <a:rPr lang="en-US" sz="1800" b="0" i="0" u="none" strike="noStrike" dirty="0">
                          <a:solidFill>
                            <a:srgbClr val="000000"/>
                          </a:solidFill>
                          <a:latin typeface="Calibri"/>
                        </a:rPr>
                        <a:t> with zeros to a total of width characters; intended for numbers, </a:t>
                      </a:r>
                      <a:r>
                        <a:rPr lang="en-US" sz="1800" b="0" i="0" u="none" strike="noStrike" dirty="0" err="1">
                          <a:solidFill>
                            <a:srgbClr val="000000"/>
                          </a:solidFill>
                          <a:latin typeface="Calibri"/>
                        </a:rPr>
                        <a:t>zfill</a:t>
                      </a:r>
                      <a:r>
                        <a:rPr lang="en-US" sz="1800" b="0" i="0" u="none" strike="noStrike" dirty="0">
                          <a:solidFill>
                            <a:srgbClr val="000000"/>
                          </a:solidFill>
                          <a:latin typeface="Calibri"/>
                        </a:rPr>
                        <a:t>() retains any sign given (less one zero)</a:t>
                      </a:r>
                    </a:p>
                  </a:txBody>
                  <a:tcPr marL="9525" marR="9525" marT="9525" marB="0"/>
                </a:tc>
              </a:tr>
            </a:tbl>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Functions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Defining a Function</a:t>
            </a:r>
            <a:endParaRPr lang="en-IN" dirty="0"/>
          </a:p>
        </p:txBody>
      </p:sp>
      <p:sp>
        <p:nvSpPr>
          <p:cNvPr id="3" name="Content Placeholder 2"/>
          <p:cNvSpPr>
            <a:spLocks noGrp="1"/>
          </p:cNvSpPr>
          <p:nvPr>
            <p:ph idx="1"/>
          </p:nvPr>
        </p:nvSpPr>
        <p:spPr>
          <a:xfrm>
            <a:off x="457200" y="1071546"/>
            <a:ext cx="8229600" cy="5643602"/>
          </a:xfrm>
        </p:spPr>
        <p:txBody>
          <a:bodyPr>
            <a:normAutofit fontScale="92500" lnSpcReduction="20000"/>
          </a:bodyPr>
          <a:lstStyle/>
          <a:p>
            <a:r>
              <a:rPr lang="en-IN" dirty="0" smtClean="0"/>
              <a:t>Here are simple rules to define a function in Python.</a:t>
            </a:r>
          </a:p>
          <a:p>
            <a:pPr lvl="1"/>
            <a:r>
              <a:rPr lang="en-IN" dirty="0" smtClean="0"/>
              <a:t>Function blocks begin with the keyword </a:t>
            </a:r>
            <a:r>
              <a:rPr lang="en-IN" sz="3800" b="1" dirty="0" smtClean="0"/>
              <a:t>def</a:t>
            </a:r>
            <a:r>
              <a:rPr lang="en-IN" dirty="0" smtClean="0"/>
              <a:t> followed by the </a:t>
            </a:r>
            <a:r>
              <a:rPr lang="en-IN" sz="3000" b="1" dirty="0" smtClean="0"/>
              <a:t>function name </a:t>
            </a:r>
            <a:r>
              <a:rPr lang="en-IN" dirty="0" smtClean="0"/>
              <a:t>and parentheses ( ( ) ).</a:t>
            </a:r>
          </a:p>
          <a:p>
            <a:pPr lvl="1"/>
            <a:r>
              <a:rPr lang="en-IN" dirty="0" smtClean="0"/>
              <a:t>Any input parameters or arguments should be placed within these parentheses. You can also define parameters inside these parentheses.</a:t>
            </a:r>
          </a:p>
          <a:p>
            <a:pPr lvl="1"/>
            <a:r>
              <a:rPr lang="en-IN" dirty="0" smtClean="0"/>
              <a:t>The code block within every function starts with a colon (</a:t>
            </a:r>
            <a:r>
              <a:rPr lang="en-IN" sz="3800" b="1" dirty="0" smtClean="0"/>
              <a:t>:</a:t>
            </a:r>
            <a:r>
              <a:rPr lang="en-IN" dirty="0" smtClean="0"/>
              <a:t>) and is </a:t>
            </a:r>
            <a:r>
              <a:rPr lang="en-IN" sz="3800" b="1" dirty="0" smtClean="0"/>
              <a:t>indented</a:t>
            </a:r>
            <a:r>
              <a:rPr lang="en-IN" dirty="0" smtClean="0"/>
              <a:t>.</a:t>
            </a:r>
          </a:p>
          <a:p>
            <a:pPr lvl="1"/>
            <a:r>
              <a:rPr lang="en-IN" dirty="0" smtClean="0"/>
              <a:t>The statement </a:t>
            </a:r>
            <a:r>
              <a:rPr lang="en-IN" sz="3800" b="1" dirty="0" smtClean="0"/>
              <a:t>return [expression] </a:t>
            </a:r>
            <a:r>
              <a:rPr lang="en-IN" sz="3200" b="1" dirty="0" smtClean="0"/>
              <a:t>exits a function</a:t>
            </a:r>
            <a:r>
              <a:rPr lang="en-IN" dirty="0" smtClean="0"/>
              <a:t>, optionally passing back an expression to the caller. A return statement with no arguments is the same as return None.</a:t>
            </a:r>
          </a:p>
          <a:p>
            <a:pPr lvl="1"/>
            <a:endParaRPr lang="en-IN"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fontScale="92500" lnSpcReduction="10000"/>
          </a:bodyPr>
          <a:lstStyle/>
          <a:p>
            <a:r>
              <a:rPr lang="en-IN" dirty="0" smtClean="0"/>
              <a:t>Syntax:</a:t>
            </a:r>
          </a:p>
          <a:p>
            <a:pPr>
              <a:buNone/>
            </a:pPr>
            <a:r>
              <a:rPr lang="en-IN" dirty="0" smtClean="0"/>
              <a:t>	def </a:t>
            </a:r>
            <a:r>
              <a:rPr lang="en-IN" dirty="0" err="1" smtClean="0"/>
              <a:t>functionname</a:t>
            </a:r>
            <a:r>
              <a:rPr lang="en-IN" dirty="0" smtClean="0"/>
              <a:t>( parameters ): 	"</a:t>
            </a:r>
            <a:r>
              <a:rPr lang="en-IN" dirty="0" err="1" smtClean="0"/>
              <a:t>function_docstring</a:t>
            </a:r>
            <a:r>
              <a:rPr lang="en-IN" dirty="0" smtClean="0"/>
              <a:t>" </a:t>
            </a:r>
          </a:p>
          <a:p>
            <a:pPr>
              <a:buNone/>
            </a:pPr>
            <a:r>
              <a:rPr lang="en-IN" dirty="0" smtClean="0"/>
              <a:t>		</a:t>
            </a:r>
            <a:r>
              <a:rPr lang="en-IN" dirty="0" err="1" smtClean="0"/>
              <a:t>function_suite</a:t>
            </a:r>
            <a:r>
              <a:rPr lang="en-IN" dirty="0" smtClean="0"/>
              <a:t> </a:t>
            </a:r>
          </a:p>
          <a:p>
            <a:pPr>
              <a:buNone/>
            </a:pPr>
            <a:r>
              <a:rPr lang="en-IN" dirty="0" smtClean="0"/>
              <a:t>		return [expression]</a:t>
            </a:r>
          </a:p>
          <a:p>
            <a:pPr>
              <a:buNone/>
            </a:pPr>
            <a:endParaRPr lang="en-IN" dirty="0" smtClean="0"/>
          </a:p>
          <a:p>
            <a:pPr>
              <a:buNone/>
            </a:pPr>
            <a:r>
              <a:rPr lang="en-IN" dirty="0" smtClean="0"/>
              <a:t>Example:</a:t>
            </a:r>
          </a:p>
          <a:p>
            <a:pPr>
              <a:buNone/>
            </a:pPr>
            <a:r>
              <a:rPr lang="en-IN" dirty="0" smtClean="0"/>
              <a:t>def </a:t>
            </a:r>
            <a:r>
              <a:rPr lang="en-IN" dirty="0" err="1" smtClean="0"/>
              <a:t>printme</a:t>
            </a:r>
            <a:r>
              <a:rPr lang="en-IN" dirty="0" smtClean="0"/>
              <a:t>( </a:t>
            </a:r>
            <a:r>
              <a:rPr lang="en-IN" dirty="0" err="1" smtClean="0"/>
              <a:t>str</a:t>
            </a:r>
            <a:r>
              <a:rPr lang="en-IN" dirty="0" smtClean="0"/>
              <a:t> ): </a:t>
            </a:r>
          </a:p>
          <a:p>
            <a:pPr>
              <a:buNone/>
            </a:pPr>
            <a:r>
              <a:rPr lang="en-IN" dirty="0" smtClean="0"/>
              <a:t>	"This prints a passed string into this function" print </a:t>
            </a:r>
            <a:r>
              <a:rPr lang="en-IN" dirty="0" err="1" smtClean="0"/>
              <a:t>str</a:t>
            </a:r>
            <a:r>
              <a:rPr lang="en-IN" dirty="0" smtClean="0"/>
              <a:t> </a:t>
            </a:r>
          </a:p>
          <a:p>
            <a:pPr>
              <a:buNone/>
            </a:pPr>
            <a:r>
              <a:rPr lang="en-IN" dirty="0" smtClean="0"/>
              <a:t>	return</a:t>
            </a:r>
            <a:endParaRPr lang="en-I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Function Arguments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You can call a function by using the following types of formal arguments −</a:t>
            </a:r>
          </a:p>
          <a:p>
            <a:pPr lvl="1"/>
            <a:r>
              <a:rPr lang="en-IN" dirty="0" smtClean="0"/>
              <a:t>Required arguments</a:t>
            </a:r>
          </a:p>
          <a:p>
            <a:pPr lvl="1"/>
            <a:r>
              <a:rPr lang="en-IN" dirty="0" smtClean="0"/>
              <a:t>Keyword arguments</a:t>
            </a:r>
          </a:p>
          <a:p>
            <a:pPr lvl="1"/>
            <a:r>
              <a:rPr lang="en-IN" dirty="0" smtClean="0"/>
              <a:t>Default arguments</a:t>
            </a:r>
          </a:p>
          <a:p>
            <a:pPr lvl="1"/>
            <a:r>
              <a:rPr lang="en-IN" dirty="0" smtClean="0"/>
              <a:t>Variable-length arguments</a:t>
            </a:r>
          </a:p>
          <a:p>
            <a:endParaRPr lang="en-I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Required arguments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Arguments passed to a function in correct positional order. </a:t>
            </a:r>
          </a:p>
          <a:p>
            <a:r>
              <a:rPr lang="en-IN" dirty="0" smtClean="0"/>
              <a:t>Here, the number of arguments in the function call should match exactly with the function definition.</a:t>
            </a:r>
          </a:p>
          <a:p>
            <a:endParaRPr lang="en-I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Keyword arguments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The caller identifies the arguments by the parameter name.</a:t>
            </a:r>
          </a:p>
          <a:p>
            <a:endParaRPr lang="en-I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Default arguments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Assumes a default value if a value is not provided in the function call for that argument.</a:t>
            </a:r>
          </a:p>
          <a:p>
            <a:endParaRPr lang="en-I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Variable-length arguments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You may need to process a function for more arguments than you specified while defining the function.</a:t>
            </a:r>
          </a:p>
          <a:p>
            <a:r>
              <a:rPr lang="en-IN" dirty="0" smtClean="0"/>
              <a:t>An asterisk (*) is placed before the variable name that holds the values of all </a:t>
            </a:r>
            <a:r>
              <a:rPr lang="en-IN" dirty="0" err="1" smtClean="0"/>
              <a:t>nonkeyword</a:t>
            </a:r>
            <a:r>
              <a:rPr lang="en-IN" dirty="0" smtClean="0"/>
              <a:t> variable arguments.</a:t>
            </a:r>
          </a:p>
          <a:p>
            <a:r>
              <a:rPr lang="en-IN" dirty="0" smtClean="0"/>
              <a:t>This </a:t>
            </a:r>
            <a:r>
              <a:rPr lang="en-IN" dirty="0" err="1" smtClean="0"/>
              <a:t>tuple</a:t>
            </a:r>
            <a:r>
              <a:rPr lang="en-IN" dirty="0" smtClean="0"/>
              <a:t> remains empty if no additional arguments are specified during the function call. </a:t>
            </a:r>
          </a:p>
          <a:p>
            <a:r>
              <a:rPr lang="en-IN" dirty="0" smtClean="0"/>
              <a:t>def &lt;function name&gt; (arg1,*arg2):</a:t>
            </a:r>
            <a:endParaRPr lang="en-I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The </a:t>
            </a:r>
            <a:r>
              <a:rPr lang="en-IN" i="1" dirty="0" smtClean="0"/>
              <a:t>Anonymous</a:t>
            </a:r>
            <a:r>
              <a:rPr lang="en-IN" dirty="0" smtClean="0"/>
              <a:t> Functions</a:t>
            </a:r>
            <a:endParaRPr lang="en-IN" dirty="0"/>
          </a:p>
        </p:txBody>
      </p:sp>
      <p:sp>
        <p:nvSpPr>
          <p:cNvPr id="3" name="Content Placeholder 2"/>
          <p:cNvSpPr>
            <a:spLocks noGrp="1"/>
          </p:cNvSpPr>
          <p:nvPr>
            <p:ph idx="1"/>
          </p:nvPr>
        </p:nvSpPr>
        <p:spPr>
          <a:xfrm>
            <a:off x="457200" y="1071546"/>
            <a:ext cx="8229600" cy="5643602"/>
          </a:xfrm>
        </p:spPr>
        <p:txBody>
          <a:bodyPr>
            <a:normAutofit fontScale="92500" lnSpcReduction="10000"/>
          </a:bodyPr>
          <a:lstStyle/>
          <a:p>
            <a:r>
              <a:rPr lang="en-IN" i="1" dirty="0" smtClean="0"/>
              <a:t>lambda</a:t>
            </a:r>
            <a:r>
              <a:rPr lang="en-IN" dirty="0" smtClean="0"/>
              <a:t> keyword to create small anonymous functions.</a:t>
            </a:r>
          </a:p>
          <a:p>
            <a:pPr lvl="1"/>
            <a:r>
              <a:rPr lang="en-IN" dirty="0" smtClean="0"/>
              <a:t>Lambda forms can take any number of arguments but return just one value in the form of an expression. </a:t>
            </a:r>
          </a:p>
          <a:p>
            <a:pPr lvl="1"/>
            <a:r>
              <a:rPr lang="en-IN" dirty="0" smtClean="0"/>
              <a:t>They cannot contain commands or multiple expressions.</a:t>
            </a:r>
          </a:p>
          <a:p>
            <a:pPr lvl="1"/>
            <a:r>
              <a:rPr lang="en-IN" dirty="0" smtClean="0"/>
              <a:t>An anonymous function cannot be a direct call to print because lambda requires an expression</a:t>
            </a:r>
          </a:p>
          <a:p>
            <a:pPr lvl="1"/>
            <a:r>
              <a:rPr lang="en-IN" dirty="0" smtClean="0"/>
              <a:t>Lambda functions have their own local namespace and cannot access variables other than those in their parameter list and those in the global namespace.</a:t>
            </a:r>
          </a:p>
          <a:p>
            <a:pPr lvl="1"/>
            <a:r>
              <a:rPr lang="en-IN" dirty="0" smtClean="0"/>
              <a:t>Syntax:</a:t>
            </a:r>
          </a:p>
          <a:p>
            <a:pPr lvl="2"/>
            <a:r>
              <a:rPr lang="en-IN" dirty="0" smtClean="0"/>
              <a:t>lambda [arg1 [,arg2,.....</a:t>
            </a:r>
            <a:r>
              <a:rPr lang="en-IN" dirty="0" err="1" smtClean="0"/>
              <a:t>argn</a:t>
            </a:r>
            <a:r>
              <a:rPr lang="en-IN" dirty="0" smtClean="0"/>
              <a:t>]]:expression</a:t>
            </a:r>
          </a:p>
          <a:p>
            <a:pPr lvl="2"/>
            <a:endParaRPr lang="en-IN" dirty="0" smtClean="0"/>
          </a:p>
          <a:p>
            <a:pPr lvl="1"/>
            <a:endParaRPr lang="en-I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Syntax:</a:t>
            </a:r>
          </a:p>
          <a:p>
            <a:pPr lvl="1"/>
            <a:r>
              <a:rPr lang="en-IN" dirty="0" err="1" smtClean="0"/>
              <a:t>lamdaname</a:t>
            </a:r>
            <a:r>
              <a:rPr lang="en-IN" dirty="0" smtClean="0"/>
              <a:t> =</a:t>
            </a:r>
          </a:p>
          <a:p>
            <a:pPr lvl="1">
              <a:buNone/>
            </a:pPr>
            <a:r>
              <a:rPr lang="en-IN" dirty="0" smtClean="0"/>
              <a:t>lambda [arg1 [,arg2,.....</a:t>
            </a:r>
            <a:r>
              <a:rPr lang="en-IN" dirty="0" err="1" smtClean="0"/>
              <a:t>argn</a:t>
            </a:r>
            <a:r>
              <a:rPr lang="en-IN" dirty="0" smtClean="0"/>
              <a:t>]]:expression</a:t>
            </a:r>
          </a:p>
          <a:p>
            <a:endParaRPr lang="en-IN" dirty="0" smtClean="0"/>
          </a:p>
          <a:p>
            <a:r>
              <a:rPr lang="nn-NO" dirty="0" smtClean="0"/>
              <a:t>sum = lambda arg1, arg2: arg1 + arg2;</a:t>
            </a:r>
          </a:p>
          <a:p>
            <a:endParaRPr lang="nn-NO" dirty="0" smtClean="0"/>
          </a:p>
          <a:p>
            <a:endParaRPr lang="nn-NO" dirty="0" smtClean="0"/>
          </a:p>
          <a:p>
            <a:r>
              <a:rPr lang="en-IN" dirty="0" smtClean="0"/>
              <a:t>print "Value of total : ", sum( 10, 20 )</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Scope of Variables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Global variables</a:t>
            </a:r>
          </a:p>
          <a:p>
            <a:r>
              <a:rPr lang="en-IN" dirty="0" smtClean="0"/>
              <a:t>Local variables</a:t>
            </a:r>
          </a:p>
          <a:p>
            <a:endParaRPr lang="en-IN" dirty="0" smtClean="0"/>
          </a:p>
          <a:p>
            <a:endParaRPr lang="en-IN" dirty="0"/>
          </a:p>
        </p:txBody>
      </p:sp>
      <p:graphicFrame>
        <p:nvGraphicFramePr>
          <p:cNvPr id="4" name="Table 3"/>
          <p:cNvGraphicFramePr>
            <a:graphicFrameLocks noGrp="1"/>
          </p:cNvGraphicFramePr>
          <p:nvPr/>
        </p:nvGraphicFramePr>
        <p:xfrm>
          <a:off x="714348" y="2571744"/>
          <a:ext cx="8001056" cy="2565400"/>
        </p:xfrm>
        <a:graphic>
          <a:graphicData uri="http://schemas.openxmlformats.org/drawingml/2006/table">
            <a:tbl>
              <a:tblPr firstRow="1" bandRow="1">
                <a:tableStyleId>{5C22544A-7EE6-4342-B048-85BDC9FD1C3A}</a:tableStyleId>
              </a:tblPr>
              <a:tblGrid>
                <a:gridCol w="4000528"/>
                <a:gridCol w="4000528"/>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Global variables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Local variables</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Variables defined outside a function body</a:t>
                      </a:r>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Variables defined inside a function body</a:t>
                      </a:r>
                      <a:endParaRPr lang="en-IN"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Variables can be accessed throughout the program body by all functions</a:t>
                      </a:r>
                      <a:endParaRPr lang="en-IN"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latin typeface="+mn-lt"/>
                          <a:ea typeface="+mn-ea"/>
                          <a:cs typeface="+mn-cs"/>
                        </a:rPr>
                        <a:t>Variable can be accessed only inside the function</a:t>
                      </a:r>
                      <a:endParaRPr lang="en-IN"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Memory will be de allocated after the program terminates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Memory will be de allocated after the method gets completed its execution</a:t>
                      </a:r>
                    </a:p>
                  </a:txBody>
                  <a:tcPr/>
                </a:tc>
              </a:tr>
            </a:tbl>
          </a:graphicData>
        </a:graphic>
      </p:graphicFrame>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Collections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Collections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Sometimes called a container.</a:t>
            </a:r>
          </a:p>
          <a:p>
            <a:r>
              <a:rPr lang="en-IN" dirty="0" smtClean="0"/>
              <a:t>It is simply an object that groups multiple elements into a single unit.</a:t>
            </a:r>
          </a:p>
          <a:p>
            <a:r>
              <a:rPr lang="en-IN" dirty="0" smtClean="0"/>
              <a:t>Basic Collection process are:</a:t>
            </a:r>
          </a:p>
          <a:p>
            <a:pPr lvl="1"/>
            <a:r>
              <a:rPr lang="en-IN" dirty="0" smtClean="0"/>
              <a:t>List</a:t>
            </a:r>
          </a:p>
          <a:p>
            <a:pPr lvl="1"/>
            <a:r>
              <a:rPr lang="en-IN" dirty="0" smtClean="0"/>
              <a:t>Array</a:t>
            </a:r>
          </a:p>
          <a:p>
            <a:pPr lvl="1"/>
            <a:r>
              <a:rPr lang="en-IN" dirty="0" err="1" smtClean="0"/>
              <a:t>Tuples</a:t>
            </a:r>
            <a:endParaRPr lang="en-IN" dirty="0" smtClean="0"/>
          </a:p>
          <a:p>
            <a:pPr lvl="1"/>
            <a:r>
              <a:rPr lang="en-IN" dirty="0" smtClean="0"/>
              <a:t>Set</a:t>
            </a:r>
          </a:p>
          <a:p>
            <a:pPr lvl="1"/>
            <a:r>
              <a:rPr lang="en-IN" dirty="0" smtClean="0"/>
              <a:t>Dictionary</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smtClean="0"/>
              <a:t>List</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Most versatile data type available in Python which can be written as a list of comma-separated values (items) between square brackets. </a:t>
            </a:r>
          </a:p>
          <a:p>
            <a:r>
              <a:rPr lang="en-IN" dirty="0" smtClean="0"/>
              <a:t>Items in a list need not be of the same type.</a:t>
            </a:r>
          </a:p>
          <a:p>
            <a:r>
              <a:rPr lang="en-IN" dirty="0" smtClean="0"/>
              <a:t>Creating a list is as simple as putting different comma-separated values between square brackets.</a:t>
            </a:r>
          </a:p>
          <a:p>
            <a:r>
              <a:rPr lang="en-IN" dirty="0" smtClean="0"/>
              <a:t>list1 = [1,’Anand’,80,80,80,240,80.00];</a:t>
            </a:r>
            <a:endParaRPr lang="en-IN"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Accessing Values in Lists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To access values in lists, use the square brackets for slicing along with the index.</a:t>
            </a:r>
          </a:p>
          <a:p>
            <a:r>
              <a:rPr lang="en-IN" dirty="0" smtClean="0"/>
              <a:t>With indices to obtain value available at that index.</a:t>
            </a:r>
          </a:p>
          <a:p>
            <a:r>
              <a:rPr lang="en-IN" dirty="0" smtClean="0"/>
              <a:t>Example:</a:t>
            </a:r>
          </a:p>
          <a:p>
            <a:pPr lvl="1"/>
            <a:r>
              <a:rPr lang="en-IN" dirty="0" smtClean="0"/>
              <a:t>print ("list1[0]: ", list1[0])</a:t>
            </a:r>
          </a:p>
          <a:p>
            <a:pPr lvl="1"/>
            <a:r>
              <a:rPr lang="en-IN" dirty="0" smtClean="0"/>
              <a:t>print ("list2[1:5]: ", list2[1:5])</a:t>
            </a:r>
          </a:p>
          <a:p>
            <a:endParaRPr lang="en-IN" dirty="0" smtClean="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Updating Lists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Element in the list are gets updated based on its index value</a:t>
            </a:r>
          </a:p>
          <a:p>
            <a:r>
              <a:rPr lang="en-IN" dirty="0" smtClean="0"/>
              <a:t>Example:</a:t>
            </a:r>
          </a:p>
          <a:p>
            <a:pPr>
              <a:buNone/>
            </a:pPr>
            <a:r>
              <a:rPr lang="en-IN" dirty="0" smtClean="0"/>
              <a:t>		l = [1,2,3,4,5,6,7,8,9,10]</a:t>
            </a:r>
          </a:p>
          <a:p>
            <a:pPr>
              <a:buNone/>
            </a:pPr>
            <a:endParaRPr lang="en-IN" dirty="0" smtClean="0"/>
          </a:p>
          <a:p>
            <a:pPr>
              <a:buNone/>
            </a:pPr>
            <a:r>
              <a:rPr lang="en-IN" dirty="0" smtClean="0"/>
              <a:t>			l[5] = 25;</a:t>
            </a:r>
          </a:p>
          <a:p>
            <a:pPr>
              <a:buNone/>
            </a:pPr>
            <a:endParaRPr lang="en-IN" dirty="0" smtClean="0"/>
          </a:p>
          <a:p>
            <a:pPr>
              <a:buNone/>
            </a:pPr>
            <a:r>
              <a:rPr lang="en-IN" dirty="0" smtClean="0"/>
              <a:t>			l[5:9] = 2,3,4;</a:t>
            </a:r>
            <a:endParaRPr lang="en-IN"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Deleting Lists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Element in the list are gets deleted based on its index value</a:t>
            </a:r>
          </a:p>
          <a:p>
            <a:r>
              <a:rPr lang="en-IN" dirty="0" smtClean="0"/>
              <a:t>Example:</a:t>
            </a:r>
          </a:p>
          <a:p>
            <a:pPr>
              <a:buNone/>
            </a:pPr>
            <a:r>
              <a:rPr lang="en-IN" dirty="0" smtClean="0"/>
              <a:t>		l = [1,2,3,4,5,6,7,8,9,10]</a:t>
            </a:r>
          </a:p>
          <a:p>
            <a:pPr>
              <a:buNone/>
            </a:pPr>
            <a:endParaRPr lang="en-IN" dirty="0" smtClean="0"/>
          </a:p>
          <a:p>
            <a:pPr>
              <a:buNone/>
            </a:pPr>
            <a:r>
              <a:rPr lang="en-IN" dirty="0" smtClean="0"/>
              <a:t>			del l[2];</a:t>
            </a:r>
          </a:p>
          <a:p>
            <a:pPr>
              <a:buNone/>
            </a:pPr>
            <a:r>
              <a:rPr lang="en-IN" dirty="0" smtClean="0"/>
              <a:t>			 del (l[2]);</a:t>
            </a:r>
          </a:p>
          <a:p>
            <a:pPr>
              <a:buNone/>
            </a:pPr>
            <a:r>
              <a:rPr lang="en-IN" dirty="0" smtClean="0"/>
              <a:t>			 del l[2:8];</a:t>
            </a:r>
          </a:p>
          <a:p>
            <a:pPr>
              <a:buNone/>
            </a:pPr>
            <a:r>
              <a:rPr lang="en-IN" dirty="0" smtClean="0"/>
              <a:t>			 del (l[2:8]);</a:t>
            </a:r>
            <a:endParaRPr lang="en-IN"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0"/>
            <a:ext cx="8229600" cy="582594"/>
          </a:xfrm>
        </p:spPr>
        <p:txBody>
          <a:bodyPr>
            <a:normAutofit fontScale="90000"/>
          </a:bodyPr>
          <a:lstStyle/>
          <a:p>
            <a:r>
              <a:rPr lang="en-IN" dirty="0" smtClean="0"/>
              <a:t>Basic List Operations</a:t>
            </a:r>
            <a:endParaRPr lang="en-IN" dirty="0"/>
          </a:p>
        </p:txBody>
      </p:sp>
      <p:graphicFrame>
        <p:nvGraphicFramePr>
          <p:cNvPr id="4" name="Content Placeholder 3"/>
          <p:cNvGraphicFramePr>
            <a:graphicFrameLocks noGrp="1"/>
          </p:cNvGraphicFramePr>
          <p:nvPr>
            <p:ph idx="1"/>
          </p:nvPr>
        </p:nvGraphicFramePr>
        <p:xfrm>
          <a:off x="428596" y="571480"/>
          <a:ext cx="8229600" cy="256032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pPr algn="ctr" fontAlgn="t"/>
                      <a:r>
                        <a:rPr lang="en-IN" dirty="0"/>
                        <a:t>Python Expression</a:t>
                      </a:r>
                    </a:p>
                  </a:txBody>
                  <a:tcPr marL="76200" marR="76200" marT="76200" marB="76200"/>
                </a:tc>
                <a:tc>
                  <a:txBody>
                    <a:bodyPr/>
                    <a:lstStyle/>
                    <a:p>
                      <a:pPr algn="ctr" fontAlgn="t"/>
                      <a:r>
                        <a:rPr lang="en-IN" dirty="0"/>
                        <a:t>Results</a:t>
                      </a:r>
                    </a:p>
                  </a:txBody>
                  <a:tcPr marL="76200" marR="76200" marT="76200" marB="76200"/>
                </a:tc>
                <a:tc>
                  <a:txBody>
                    <a:bodyPr/>
                    <a:lstStyle/>
                    <a:p>
                      <a:pPr algn="ctr" fontAlgn="t"/>
                      <a:r>
                        <a:rPr lang="en-IN" dirty="0"/>
                        <a:t>Description</a:t>
                      </a:r>
                    </a:p>
                  </a:txBody>
                  <a:tcPr marL="76200" marR="76200" marT="76200" marB="76200"/>
                </a:tc>
              </a:tr>
              <a:tr h="370840">
                <a:tc>
                  <a:txBody>
                    <a:bodyPr/>
                    <a:lstStyle/>
                    <a:p>
                      <a:pPr fontAlgn="t"/>
                      <a:r>
                        <a:rPr lang="en-IN" dirty="0" err="1"/>
                        <a:t>len</a:t>
                      </a:r>
                      <a:r>
                        <a:rPr lang="en-IN" dirty="0"/>
                        <a:t>([1, 2, 3])</a:t>
                      </a:r>
                    </a:p>
                  </a:txBody>
                  <a:tcPr marL="76200" marR="76200" marT="76200" marB="76200"/>
                </a:tc>
                <a:tc>
                  <a:txBody>
                    <a:bodyPr/>
                    <a:lstStyle/>
                    <a:p>
                      <a:pPr fontAlgn="t"/>
                      <a:r>
                        <a:rPr lang="en-IN" dirty="0"/>
                        <a:t>3</a:t>
                      </a:r>
                    </a:p>
                  </a:txBody>
                  <a:tcPr marL="76200" marR="76200" marT="76200" marB="76200"/>
                </a:tc>
                <a:tc>
                  <a:txBody>
                    <a:bodyPr/>
                    <a:lstStyle/>
                    <a:p>
                      <a:pPr fontAlgn="t"/>
                      <a:r>
                        <a:rPr lang="en-IN" dirty="0"/>
                        <a:t>Length</a:t>
                      </a:r>
                    </a:p>
                  </a:txBody>
                  <a:tcPr marL="76200" marR="76200" marT="76200" marB="76200"/>
                </a:tc>
              </a:tr>
              <a:tr h="370840">
                <a:tc>
                  <a:txBody>
                    <a:bodyPr/>
                    <a:lstStyle/>
                    <a:p>
                      <a:pPr fontAlgn="t"/>
                      <a:r>
                        <a:rPr lang="en-IN" dirty="0"/>
                        <a:t>[1, 2, 3] + [4, 5, 6]</a:t>
                      </a:r>
                    </a:p>
                  </a:txBody>
                  <a:tcPr marL="76200" marR="76200" marT="76200" marB="76200"/>
                </a:tc>
                <a:tc>
                  <a:txBody>
                    <a:bodyPr/>
                    <a:lstStyle/>
                    <a:p>
                      <a:pPr fontAlgn="t"/>
                      <a:r>
                        <a:rPr lang="en-IN"/>
                        <a:t>[1, 2, 3, 4, 5, 6]</a:t>
                      </a:r>
                    </a:p>
                  </a:txBody>
                  <a:tcPr marL="76200" marR="76200" marT="76200" marB="76200"/>
                </a:tc>
                <a:tc>
                  <a:txBody>
                    <a:bodyPr/>
                    <a:lstStyle/>
                    <a:p>
                      <a:pPr fontAlgn="t"/>
                      <a:r>
                        <a:rPr lang="en-IN"/>
                        <a:t>Concatenation</a:t>
                      </a:r>
                    </a:p>
                  </a:txBody>
                  <a:tcPr marL="76200" marR="76200" marT="76200" marB="76200"/>
                </a:tc>
              </a:tr>
              <a:tr h="370840">
                <a:tc>
                  <a:txBody>
                    <a:bodyPr/>
                    <a:lstStyle/>
                    <a:p>
                      <a:pPr fontAlgn="t"/>
                      <a:r>
                        <a:rPr lang="en-IN" dirty="0"/>
                        <a:t>['Hi!'] * 4</a:t>
                      </a:r>
                    </a:p>
                  </a:txBody>
                  <a:tcPr marL="76200" marR="76200" marT="76200" marB="76200"/>
                </a:tc>
                <a:tc>
                  <a:txBody>
                    <a:bodyPr/>
                    <a:lstStyle/>
                    <a:p>
                      <a:pPr fontAlgn="t"/>
                      <a:r>
                        <a:rPr lang="en-IN"/>
                        <a:t>['Hi!', 'Hi!', 'Hi!', 'Hi!']</a:t>
                      </a:r>
                    </a:p>
                  </a:txBody>
                  <a:tcPr marL="76200" marR="76200" marT="76200" marB="76200"/>
                </a:tc>
                <a:tc>
                  <a:txBody>
                    <a:bodyPr/>
                    <a:lstStyle/>
                    <a:p>
                      <a:pPr fontAlgn="t"/>
                      <a:r>
                        <a:rPr lang="en-IN" dirty="0" err="1" smtClean="0"/>
                        <a:t>Repetation</a:t>
                      </a:r>
                      <a:endParaRPr lang="en-IN" dirty="0"/>
                    </a:p>
                  </a:txBody>
                  <a:tcPr marL="76200" marR="76200" marT="76200" marB="76200"/>
                </a:tc>
              </a:tr>
              <a:tr h="370840">
                <a:tc>
                  <a:txBody>
                    <a:bodyPr/>
                    <a:lstStyle/>
                    <a:p>
                      <a:pPr fontAlgn="t"/>
                      <a:r>
                        <a:rPr lang="en-IN"/>
                        <a:t>3 in [1, 2, 3]</a:t>
                      </a:r>
                    </a:p>
                  </a:txBody>
                  <a:tcPr marL="76200" marR="76200" marT="76200" marB="76200"/>
                </a:tc>
                <a:tc>
                  <a:txBody>
                    <a:bodyPr/>
                    <a:lstStyle/>
                    <a:p>
                      <a:pPr fontAlgn="t"/>
                      <a:r>
                        <a:rPr lang="en-IN"/>
                        <a:t>True</a:t>
                      </a:r>
                    </a:p>
                  </a:txBody>
                  <a:tcPr marL="76200" marR="76200" marT="76200" marB="76200"/>
                </a:tc>
                <a:tc>
                  <a:txBody>
                    <a:bodyPr/>
                    <a:lstStyle/>
                    <a:p>
                      <a:pPr fontAlgn="t"/>
                      <a:r>
                        <a:rPr lang="en-IN"/>
                        <a:t>Membership</a:t>
                      </a:r>
                    </a:p>
                  </a:txBody>
                  <a:tcPr marL="76200" marR="76200" marT="76200" marB="76200"/>
                </a:tc>
              </a:tr>
              <a:tr h="370840">
                <a:tc>
                  <a:txBody>
                    <a:bodyPr/>
                    <a:lstStyle/>
                    <a:p>
                      <a:pPr fontAlgn="t"/>
                      <a:r>
                        <a:rPr lang="en-IN"/>
                        <a:t>for x in [1, 2, 3]: print x,</a:t>
                      </a:r>
                    </a:p>
                  </a:txBody>
                  <a:tcPr marL="76200" marR="76200" marT="76200" marB="76200"/>
                </a:tc>
                <a:tc>
                  <a:txBody>
                    <a:bodyPr/>
                    <a:lstStyle/>
                    <a:p>
                      <a:pPr fontAlgn="t"/>
                      <a:r>
                        <a:rPr lang="en-IN" dirty="0"/>
                        <a:t>1 2 3</a:t>
                      </a:r>
                    </a:p>
                  </a:txBody>
                  <a:tcPr marL="76200" marR="76200" marT="76200" marB="76200"/>
                </a:tc>
                <a:tc>
                  <a:txBody>
                    <a:bodyPr/>
                    <a:lstStyle/>
                    <a:p>
                      <a:pPr fontAlgn="t"/>
                      <a:r>
                        <a:rPr lang="en-IN" dirty="0"/>
                        <a:t>Iteration</a:t>
                      </a:r>
                    </a:p>
                  </a:txBody>
                  <a:tcPr marL="76200" marR="76200" marT="76200" marB="76200"/>
                </a:tc>
              </a:tr>
            </a:tbl>
          </a:graphicData>
        </a:graphic>
      </p:graphicFrame>
      <p:sp>
        <p:nvSpPr>
          <p:cNvPr id="5" name="Title 1"/>
          <p:cNvSpPr txBox="1">
            <a:spLocks/>
          </p:cNvSpPr>
          <p:nvPr/>
        </p:nvSpPr>
        <p:spPr>
          <a:xfrm>
            <a:off x="428596" y="3143248"/>
            <a:ext cx="8229600" cy="1214446"/>
          </a:xfrm>
          <a:prstGeom prst="rect">
            <a:avLst/>
          </a:prstGeom>
        </p:spPr>
        <p:txBody>
          <a:bodyPr vert="horz" lIns="91440" tIns="45720" rIns="91440" bIns="45720" rtlCol="0" anchor="ctr">
            <a:noAutofit/>
          </a:bodyPr>
          <a:lstStyle/>
          <a:p>
            <a:pPr algn="ctr">
              <a:spcBef>
                <a:spcPct val="0"/>
              </a:spcBef>
            </a:pPr>
            <a:r>
              <a:rPr lang="en-IN" sz="4000" dirty="0" smtClean="0">
                <a:latin typeface="+mj-lt"/>
                <a:ea typeface="+mj-ea"/>
                <a:cs typeface="+mj-cs"/>
              </a:rPr>
              <a:t>Indexing, Slicing, and Matrixes</a:t>
            </a:r>
          </a:p>
          <a:p>
            <a:r>
              <a:rPr lang="en-IN" dirty="0" smtClean="0"/>
              <a:t>Assuming following input −</a:t>
            </a:r>
          </a:p>
          <a:p>
            <a:r>
              <a:rPr lang="en-IN" dirty="0" smtClean="0"/>
              <a:t>L = ['spam', 'Spam', 'SPAM!']</a:t>
            </a:r>
            <a:endParaRPr lang="en-IN" dirty="0" smtClean="0">
              <a:latin typeface="+mj-lt"/>
              <a:ea typeface="+mj-ea"/>
              <a:cs typeface="+mj-cs"/>
            </a:endParaRPr>
          </a:p>
        </p:txBody>
      </p:sp>
      <p:graphicFrame>
        <p:nvGraphicFramePr>
          <p:cNvPr id="6" name="Table 5"/>
          <p:cNvGraphicFramePr>
            <a:graphicFrameLocks noGrp="1"/>
          </p:cNvGraphicFramePr>
          <p:nvPr/>
        </p:nvGraphicFramePr>
        <p:xfrm>
          <a:off x="500034" y="4450080"/>
          <a:ext cx="8358246" cy="2407920"/>
        </p:xfrm>
        <a:graphic>
          <a:graphicData uri="http://schemas.openxmlformats.org/drawingml/2006/table">
            <a:tbl>
              <a:tblPr firstRow="1" bandRow="1">
                <a:tableStyleId>{5C22544A-7EE6-4342-B048-85BDC9FD1C3A}</a:tableStyleId>
              </a:tblPr>
              <a:tblGrid>
                <a:gridCol w="2286016"/>
                <a:gridCol w="2500330"/>
                <a:gridCol w="3571900"/>
              </a:tblGrid>
              <a:tr h="370840">
                <a:tc>
                  <a:txBody>
                    <a:bodyPr/>
                    <a:lstStyle/>
                    <a:p>
                      <a:pPr algn="ctr" fontAlgn="t"/>
                      <a:r>
                        <a:rPr lang="en-IN" dirty="0"/>
                        <a:t>Python Expression</a:t>
                      </a:r>
                    </a:p>
                  </a:txBody>
                  <a:tcPr marL="76200" marR="76200" marT="76200" marB="76200"/>
                </a:tc>
                <a:tc>
                  <a:txBody>
                    <a:bodyPr/>
                    <a:lstStyle/>
                    <a:p>
                      <a:pPr algn="ctr" fontAlgn="t"/>
                      <a:r>
                        <a:rPr lang="en-IN" dirty="0"/>
                        <a:t>Results</a:t>
                      </a:r>
                    </a:p>
                  </a:txBody>
                  <a:tcPr marL="76200" marR="76200" marT="76200" marB="76200"/>
                </a:tc>
                <a:tc>
                  <a:txBody>
                    <a:bodyPr/>
                    <a:lstStyle/>
                    <a:p>
                      <a:pPr algn="ctr" fontAlgn="t"/>
                      <a:r>
                        <a:rPr lang="en-IN" dirty="0"/>
                        <a:t>Description</a:t>
                      </a:r>
                    </a:p>
                  </a:txBody>
                  <a:tcPr marL="76200" marR="76200" marT="76200" marB="76200"/>
                </a:tc>
              </a:tr>
              <a:tr h="370840">
                <a:tc>
                  <a:txBody>
                    <a:bodyPr/>
                    <a:lstStyle/>
                    <a:p>
                      <a:pPr fontAlgn="t"/>
                      <a:r>
                        <a:rPr lang="en-IN"/>
                        <a:t>L[2]</a:t>
                      </a:r>
                    </a:p>
                  </a:txBody>
                  <a:tcPr marL="76200" marR="76200" marT="76200" marB="76200"/>
                </a:tc>
                <a:tc>
                  <a:txBody>
                    <a:bodyPr/>
                    <a:lstStyle/>
                    <a:p>
                      <a:pPr fontAlgn="t"/>
                      <a:r>
                        <a:rPr lang="en-IN"/>
                        <a:t>SPAM!</a:t>
                      </a:r>
                    </a:p>
                  </a:txBody>
                  <a:tcPr marL="76200" marR="76200" marT="76200" marB="76200"/>
                </a:tc>
                <a:tc>
                  <a:txBody>
                    <a:bodyPr/>
                    <a:lstStyle/>
                    <a:p>
                      <a:pPr fontAlgn="t"/>
                      <a:r>
                        <a:rPr lang="en-IN"/>
                        <a:t>Offsets start at zero</a:t>
                      </a:r>
                    </a:p>
                  </a:txBody>
                  <a:tcPr marL="76200" marR="76200" marT="76200" marB="76200"/>
                </a:tc>
              </a:tr>
              <a:tr h="370840">
                <a:tc>
                  <a:txBody>
                    <a:bodyPr/>
                    <a:lstStyle/>
                    <a:p>
                      <a:pPr algn="l" fontAlgn="t"/>
                      <a:r>
                        <a:rPr lang="en-IN" dirty="0"/>
                        <a:t>L[-2]</a:t>
                      </a:r>
                    </a:p>
                  </a:txBody>
                  <a:tcPr marL="76200" marR="76200" marT="76200" marB="76200"/>
                </a:tc>
                <a:tc>
                  <a:txBody>
                    <a:bodyPr/>
                    <a:lstStyle/>
                    <a:p>
                      <a:pPr algn="l" fontAlgn="t"/>
                      <a:r>
                        <a:rPr lang="en-IN" dirty="0"/>
                        <a:t>Spam</a:t>
                      </a:r>
                    </a:p>
                  </a:txBody>
                  <a:tcPr marL="76200" marR="76200" marT="76200" marB="76200"/>
                </a:tc>
                <a:tc>
                  <a:txBody>
                    <a:bodyPr/>
                    <a:lstStyle/>
                    <a:p>
                      <a:pPr fontAlgn="t"/>
                      <a:r>
                        <a:rPr lang="en-IN" dirty="0"/>
                        <a:t>Negative: count from the right</a:t>
                      </a:r>
                    </a:p>
                  </a:txBody>
                  <a:tcPr marL="76200" marR="76200" marT="76200" marB="76200"/>
                </a:tc>
              </a:tr>
              <a:tr h="370840">
                <a:tc>
                  <a:txBody>
                    <a:bodyPr/>
                    <a:lstStyle/>
                    <a:p>
                      <a:pPr fontAlgn="t"/>
                      <a:r>
                        <a:rPr lang="en-IN" dirty="0"/>
                        <a:t>L[1:]</a:t>
                      </a:r>
                    </a:p>
                  </a:txBody>
                  <a:tcPr marL="76200" marR="76200" marT="76200" marB="76200"/>
                </a:tc>
                <a:tc>
                  <a:txBody>
                    <a:bodyPr/>
                    <a:lstStyle/>
                    <a:p>
                      <a:pPr fontAlgn="t"/>
                      <a:r>
                        <a:rPr lang="en-IN"/>
                        <a:t>['Spam', 'SPAM!']</a:t>
                      </a:r>
                    </a:p>
                  </a:txBody>
                  <a:tcPr marL="76200" marR="76200" marT="76200" marB="76200"/>
                </a:tc>
                <a:tc>
                  <a:txBody>
                    <a:bodyPr/>
                    <a:lstStyle/>
                    <a:p>
                      <a:pPr fontAlgn="t"/>
                      <a:r>
                        <a:rPr lang="en-IN" dirty="0"/>
                        <a:t>Slicing fetches sections</a:t>
                      </a:r>
                    </a:p>
                  </a:txBody>
                  <a:tcPr marL="76200" marR="76200" marT="76200" marB="76200"/>
                </a:tc>
              </a:tr>
              <a:tr h="370840">
                <a:tc>
                  <a:txBody>
                    <a:bodyPr/>
                    <a:lstStyle/>
                    <a:p>
                      <a:pPr fontAlgn="t"/>
                      <a:r>
                        <a:rPr lang="en-IN" dirty="0" smtClean="0"/>
                        <a:t>l[1:10:2]</a:t>
                      </a:r>
                      <a:endParaRPr lang="en-IN" dirty="0"/>
                    </a:p>
                  </a:txBody>
                  <a:tcPr marL="76200" marR="76200" marT="76200" marB="76200"/>
                </a:tc>
                <a:tc>
                  <a:txBody>
                    <a:bodyPr/>
                    <a:lstStyle/>
                    <a:p>
                      <a:pPr fontAlgn="t"/>
                      <a:r>
                        <a:rPr lang="en-IN" dirty="0" smtClean="0"/>
                        <a:t>[1, 3, 5, 7, 9]</a:t>
                      </a:r>
                      <a:endParaRPr lang="en-IN" dirty="0"/>
                    </a:p>
                  </a:txBody>
                  <a:tcPr marL="76200" marR="76200" marT="76200" marB="76200"/>
                </a:tc>
                <a:tc>
                  <a:txBody>
                    <a:bodyPr/>
                    <a:lstStyle/>
                    <a:p>
                      <a:pPr fontAlgn="t"/>
                      <a:r>
                        <a:rPr lang="en-IN" dirty="0" smtClean="0"/>
                        <a:t>Step</a:t>
                      </a:r>
                      <a:r>
                        <a:rPr lang="en-IN" baseline="0" dirty="0" smtClean="0"/>
                        <a:t> operation increment the value by 2</a:t>
                      </a:r>
                      <a:endParaRPr lang="en-IN" dirty="0"/>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582594"/>
          </a:xfrm>
        </p:spPr>
        <p:txBody>
          <a:bodyPr>
            <a:normAutofit fontScale="90000"/>
          </a:bodyPr>
          <a:lstStyle/>
          <a:p>
            <a:r>
              <a:rPr lang="en-IN" dirty="0" smtClean="0"/>
              <a:t>Built-in List Functions &amp; Methods</a:t>
            </a:r>
            <a:endParaRPr lang="en-IN" dirty="0"/>
          </a:p>
        </p:txBody>
      </p:sp>
      <p:graphicFrame>
        <p:nvGraphicFramePr>
          <p:cNvPr id="5" name="Content Placeholder 4"/>
          <p:cNvGraphicFramePr>
            <a:graphicFrameLocks noGrp="1"/>
          </p:cNvGraphicFramePr>
          <p:nvPr>
            <p:ph idx="1"/>
          </p:nvPr>
        </p:nvGraphicFramePr>
        <p:xfrm>
          <a:off x="285720" y="500042"/>
          <a:ext cx="8643999" cy="5974080"/>
        </p:xfrm>
        <a:graphic>
          <a:graphicData uri="http://schemas.openxmlformats.org/drawingml/2006/table">
            <a:tbl>
              <a:tblPr firstRow="1" bandRow="1">
                <a:tableStyleId>{5C22544A-7EE6-4342-B048-85BDC9FD1C3A}</a:tableStyleId>
              </a:tblPr>
              <a:tblGrid>
                <a:gridCol w="825388"/>
                <a:gridCol w="2596189"/>
                <a:gridCol w="5222422"/>
              </a:tblGrid>
              <a:tr h="370840">
                <a:tc>
                  <a:txBody>
                    <a:bodyPr/>
                    <a:lstStyle/>
                    <a:p>
                      <a:pPr algn="ctr" fontAlgn="t"/>
                      <a:r>
                        <a:rPr lang="en-IN" dirty="0" err="1"/>
                        <a:t>Sr.No</a:t>
                      </a:r>
                      <a:r>
                        <a:rPr lang="en-IN" dirty="0"/>
                        <a:t>.</a:t>
                      </a:r>
                    </a:p>
                  </a:txBody>
                  <a:tcPr marL="76200" marR="76200" marT="76200" marB="76200"/>
                </a:tc>
                <a:tc>
                  <a:txBody>
                    <a:bodyPr/>
                    <a:lstStyle/>
                    <a:p>
                      <a:pPr algn="ctr" fontAlgn="t"/>
                      <a:r>
                        <a:rPr lang="en-IN" dirty="0" smtClean="0"/>
                        <a:t>Function</a:t>
                      </a:r>
                      <a:endParaRPr lang="en-IN" dirty="0"/>
                    </a:p>
                  </a:txBody>
                  <a:tcPr marL="76200" marR="76200" marT="76200" marB="76200"/>
                </a:tc>
                <a:tc>
                  <a:txBody>
                    <a:bodyPr/>
                    <a:lstStyle/>
                    <a:p>
                      <a:pPr algn="ctr"/>
                      <a:r>
                        <a:rPr lang="en-IN" dirty="0" smtClean="0"/>
                        <a:t>Description</a:t>
                      </a:r>
                      <a:endParaRPr lang="en-IN" dirty="0"/>
                    </a:p>
                  </a:txBody>
                  <a:tcPr/>
                </a:tc>
              </a:tr>
              <a:tr h="370840">
                <a:tc>
                  <a:txBody>
                    <a:bodyPr/>
                    <a:lstStyle/>
                    <a:p>
                      <a:pPr algn="ctr"/>
                      <a:r>
                        <a:rPr lang="en-IN" dirty="0" smtClean="0"/>
                        <a:t>1</a:t>
                      </a:r>
                      <a:endParaRPr lang="en-IN" dirty="0"/>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err="1" smtClean="0">
                          <a:solidFill>
                            <a:schemeClr val="dk1"/>
                          </a:solidFill>
                          <a:latin typeface="+mn-lt"/>
                          <a:ea typeface="+mn-ea"/>
                          <a:cs typeface="+mn-cs"/>
                        </a:rPr>
                        <a:t>len</a:t>
                      </a:r>
                      <a:r>
                        <a:rPr lang="en-IN" sz="1800" kern="1200" dirty="0" smtClean="0">
                          <a:solidFill>
                            <a:schemeClr val="dk1"/>
                          </a:solidFill>
                          <a:latin typeface="+mn-lt"/>
                          <a:ea typeface="+mn-ea"/>
                          <a:cs typeface="+mn-cs"/>
                        </a:rPr>
                        <a:t>(list)  </a:t>
                      </a:r>
                    </a:p>
                  </a:txBody>
                  <a:tcPr marL="76200" marR="76200" marT="76200" marB="76200"/>
                </a:tc>
                <a:tc>
                  <a:txBody>
                    <a:bodyPr/>
                    <a:lstStyle/>
                    <a:p>
                      <a:pPr algn="l"/>
                      <a:r>
                        <a:rPr lang="en-IN" dirty="0" smtClean="0">
                          <a:solidFill>
                            <a:srgbClr val="000000"/>
                          </a:solidFill>
                        </a:rPr>
                        <a:t>Gives the total length of the list.</a:t>
                      </a:r>
                      <a:endParaRPr lang="en-IN" dirty="0"/>
                    </a:p>
                  </a:txBody>
                  <a:tcPr/>
                </a:tc>
              </a:tr>
              <a:tr h="370840">
                <a:tc>
                  <a:txBody>
                    <a:bodyPr/>
                    <a:lstStyle/>
                    <a:p>
                      <a:pPr algn="ctr" fontAlgn="t"/>
                      <a:r>
                        <a:rPr lang="en-IN" dirty="0"/>
                        <a:t>2</a:t>
                      </a: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max(list)  </a:t>
                      </a:r>
                    </a:p>
                  </a:txBody>
                  <a:tcPr marL="76200" marR="76200" marT="76200" marB="76200"/>
                </a:tc>
                <a:tc>
                  <a:txBody>
                    <a:bodyPr/>
                    <a:lstStyle/>
                    <a:p>
                      <a:pPr algn="l"/>
                      <a:r>
                        <a:rPr lang="en-IN" dirty="0" smtClean="0">
                          <a:solidFill>
                            <a:srgbClr val="000000"/>
                          </a:solidFill>
                        </a:rPr>
                        <a:t>Returns item from the list with max value.</a:t>
                      </a:r>
                      <a:endParaRPr lang="en-IN" dirty="0"/>
                    </a:p>
                  </a:txBody>
                  <a:tcPr/>
                </a:tc>
              </a:tr>
              <a:tr h="370840">
                <a:tc>
                  <a:txBody>
                    <a:bodyPr/>
                    <a:lstStyle/>
                    <a:p>
                      <a:pPr algn="ctr" fontAlgn="t"/>
                      <a:r>
                        <a:rPr lang="en-IN" dirty="0"/>
                        <a:t>3</a:t>
                      </a:r>
                    </a:p>
                  </a:txBody>
                  <a:tcPr marL="76200" marR="76200" marT="76200" marB="76200"/>
                </a:tc>
                <a:tc>
                  <a:txBody>
                    <a:bodyPr/>
                    <a:lstStyle/>
                    <a:p>
                      <a:r>
                        <a:rPr lang="en-IN" sz="1800" kern="1200" dirty="0" smtClean="0">
                          <a:solidFill>
                            <a:schemeClr val="dk1"/>
                          </a:solidFill>
                          <a:latin typeface="+mn-lt"/>
                          <a:ea typeface="+mn-ea"/>
                          <a:cs typeface="+mn-cs"/>
                        </a:rPr>
                        <a:t>min(list) </a:t>
                      </a:r>
                      <a:endParaRPr lang="en-IN" dirty="0"/>
                    </a:p>
                  </a:txBody>
                  <a:tcPr marL="76200" marR="76200" marT="76200" marB="76200"/>
                </a:tc>
                <a:tc>
                  <a:txBody>
                    <a:bodyPr/>
                    <a:lstStyle/>
                    <a:p>
                      <a:pPr algn="l"/>
                      <a:r>
                        <a:rPr lang="en-IN" dirty="0" smtClean="0">
                          <a:solidFill>
                            <a:srgbClr val="000000"/>
                          </a:solidFill>
                        </a:rPr>
                        <a:t>Returns item from the list with min value.</a:t>
                      </a:r>
                      <a:endParaRPr lang="en-IN" dirty="0"/>
                    </a:p>
                  </a:txBody>
                  <a:tcPr/>
                </a:tc>
              </a:tr>
              <a:tr h="370840">
                <a:tc>
                  <a:txBody>
                    <a:bodyPr/>
                    <a:lstStyle/>
                    <a:p>
                      <a:pPr algn="ctr" fontAlgn="t"/>
                      <a:r>
                        <a:rPr lang="en-IN" dirty="0"/>
                        <a:t>4</a:t>
                      </a:r>
                    </a:p>
                  </a:txBody>
                  <a:tcPr marL="76200" marR="76200" marT="76200" marB="76200"/>
                </a:tc>
                <a:tc>
                  <a:txBody>
                    <a:bodyPr/>
                    <a:lstStyle/>
                    <a:p>
                      <a:r>
                        <a:rPr lang="en-IN" sz="1800" kern="1200" dirty="0" smtClean="0">
                          <a:solidFill>
                            <a:schemeClr val="dk1"/>
                          </a:solidFill>
                          <a:latin typeface="+mn-lt"/>
                          <a:ea typeface="+mn-ea"/>
                          <a:cs typeface="+mn-cs"/>
                        </a:rPr>
                        <a:t>list(</a:t>
                      </a:r>
                      <a:r>
                        <a:rPr lang="en-IN" sz="1800" kern="1200" dirty="0" err="1" smtClean="0">
                          <a:solidFill>
                            <a:schemeClr val="dk1"/>
                          </a:solidFill>
                          <a:latin typeface="+mn-lt"/>
                          <a:ea typeface="+mn-ea"/>
                          <a:cs typeface="+mn-cs"/>
                        </a:rPr>
                        <a:t>seq</a:t>
                      </a:r>
                      <a:r>
                        <a:rPr lang="en-IN" sz="1800" kern="1200" dirty="0" smtClean="0">
                          <a:solidFill>
                            <a:schemeClr val="dk1"/>
                          </a:solidFill>
                          <a:latin typeface="+mn-lt"/>
                          <a:ea typeface="+mn-ea"/>
                          <a:cs typeface="+mn-cs"/>
                        </a:rPr>
                        <a:t>) </a:t>
                      </a:r>
                      <a:endParaRPr lang="en-IN" dirty="0"/>
                    </a:p>
                  </a:txBody>
                  <a:tcPr marL="76200" marR="76200" marT="76200" marB="76200"/>
                </a:tc>
                <a:tc>
                  <a:txBody>
                    <a:bodyPr/>
                    <a:lstStyle/>
                    <a:p>
                      <a:pPr algn="l"/>
                      <a:r>
                        <a:rPr lang="en-IN" dirty="0" smtClean="0">
                          <a:solidFill>
                            <a:srgbClr val="000000"/>
                          </a:solidFill>
                        </a:rPr>
                        <a:t>Converts a </a:t>
                      </a:r>
                      <a:r>
                        <a:rPr lang="en-IN" dirty="0" err="1" smtClean="0">
                          <a:solidFill>
                            <a:srgbClr val="000000"/>
                          </a:solidFill>
                        </a:rPr>
                        <a:t>tuple</a:t>
                      </a:r>
                      <a:r>
                        <a:rPr lang="en-IN" dirty="0" smtClean="0">
                          <a:solidFill>
                            <a:srgbClr val="000000"/>
                          </a:solidFill>
                        </a:rPr>
                        <a:t> into list.</a:t>
                      </a:r>
                      <a:endParaRPr lang="en-IN" dirty="0"/>
                    </a:p>
                  </a:txBody>
                  <a:tcPr/>
                </a:tc>
              </a:tr>
              <a:tr h="370840">
                <a:tc>
                  <a:txBody>
                    <a:bodyPr/>
                    <a:lstStyle/>
                    <a:p>
                      <a:pPr algn="ctr" fontAlgn="t"/>
                      <a:r>
                        <a:rPr lang="en-IN" dirty="0"/>
                        <a:t>5</a:t>
                      </a:r>
                    </a:p>
                  </a:txBody>
                  <a:tcPr marL="76200" marR="76200" marT="76200" marB="76200"/>
                </a:tc>
                <a:tc>
                  <a:txBody>
                    <a:bodyPr/>
                    <a:lstStyle/>
                    <a:p>
                      <a:r>
                        <a:rPr lang="en-IN" sz="1800" kern="1200" dirty="0" err="1" smtClean="0">
                          <a:solidFill>
                            <a:schemeClr val="dk1"/>
                          </a:solidFill>
                          <a:latin typeface="+mn-lt"/>
                          <a:ea typeface="+mn-ea"/>
                          <a:cs typeface="+mn-cs"/>
                        </a:rPr>
                        <a:t>list.append</a:t>
                      </a:r>
                      <a:r>
                        <a:rPr lang="en-IN" sz="1800" kern="1200" dirty="0" smtClean="0">
                          <a:solidFill>
                            <a:schemeClr val="dk1"/>
                          </a:solidFill>
                          <a:latin typeface="+mn-lt"/>
                          <a:ea typeface="+mn-ea"/>
                          <a:cs typeface="+mn-cs"/>
                        </a:rPr>
                        <a:t>(</a:t>
                      </a:r>
                      <a:r>
                        <a:rPr lang="en-IN" sz="1800" kern="1200" dirty="0" err="1" smtClean="0">
                          <a:solidFill>
                            <a:schemeClr val="dk1"/>
                          </a:solidFill>
                          <a:latin typeface="+mn-lt"/>
                          <a:ea typeface="+mn-ea"/>
                          <a:cs typeface="+mn-cs"/>
                        </a:rPr>
                        <a:t>obj</a:t>
                      </a:r>
                      <a:r>
                        <a:rPr lang="en-IN" sz="1800" kern="1200" dirty="0" smtClean="0">
                          <a:solidFill>
                            <a:schemeClr val="dk1"/>
                          </a:solidFill>
                          <a:latin typeface="+mn-lt"/>
                          <a:ea typeface="+mn-ea"/>
                          <a:cs typeface="+mn-cs"/>
                        </a:rPr>
                        <a:t>)</a:t>
                      </a:r>
                      <a:endParaRPr lang="en-IN" dirty="0"/>
                    </a:p>
                  </a:txBody>
                  <a:tcPr marL="76200" marR="76200" marT="76200" marB="76200"/>
                </a:tc>
                <a:tc>
                  <a:txBody>
                    <a:bodyPr/>
                    <a:lstStyle/>
                    <a:p>
                      <a:pPr algn="l"/>
                      <a:r>
                        <a:rPr lang="en-IN" dirty="0" smtClean="0">
                          <a:solidFill>
                            <a:srgbClr val="000000"/>
                          </a:solidFill>
                        </a:rPr>
                        <a:t>Appends object </a:t>
                      </a:r>
                      <a:r>
                        <a:rPr lang="en-IN" dirty="0" err="1" smtClean="0">
                          <a:solidFill>
                            <a:srgbClr val="000000"/>
                          </a:solidFill>
                        </a:rPr>
                        <a:t>obj</a:t>
                      </a:r>
                      <a:r>
                        <a:rPr lang="en-IN" dirty="0" smtClean="0">
                          <a:solidFill>
                            <a:srgbClr val="000000"/>
                          </a:solidFill>
                        </a:rPr>
                        <a:t> to list</a:t>
                      </a:r>
                      <a:endParaRPr lang="en-IN" dirty="0"/>
                    </a:p>
                  </a:txBody>
                  <a:tcPr/>
                </a:tc>
              </a:tr>
              <a:tr h="370840">
                <a:tc>
                  <a:txBody>
                    <a:bodyPr/>
                    <a:lstStyle/>
                    <a:p>
                      <a:pPr algn="ctr" fontAlgn="t"/>
                      <a:r>
                        <a:rPr lang="en-IN" dirty="0" smtClean="0"/>
                        <a:t>6</a:t>
                      </a:r>
                      <a:endParaRPr lang="en-IN" dirty="0"/>
                    </a:p>
                  </a:txBody>
                  <a:tcPr marL="76200" marR="76200" marT="76200" marB="76200"/>
                </a:tc>
                <a:tc>
                  <a:txBody>
                    <a:bodyPr/>
                    <a:lstStyle/>
                    <a:p>
                      <a:r>
                        <a:rPr lang="en-IN" sz="1800" kern="1200" dirty="0" err="1" smtClean="0">
                          <a:solidFill>
                            <a:schemeClr val="dk1"/>
                          </a:solidFill>
                          <a:latin typeface="+mn-lt"/>
                          <a:ea typeface="+mn-ea"/>
                          <a:cs typeface="+mn-cs"/>
                        </a:rPr>
                        <a:t>list.count</a:t>
                      </a:r>
                      <a:r>
                        <a:rPr lang="en-IN" sz="1800" kern="1200" dirty="0" smtClean="0">
                          <a:solidFill>
                            <a:schemeClr val="dk1"/>
                          </a:solidFill>
                          <a:latin typeface="+mn-lt"/>
                          <a:ea typeface="+mn-ea"/>
                          <a:cs typeface="+mn-cs"/>
                        </a:rPr>
                        <a:t>(</a:t>
                      </a:r>
                      <a:r>
                        <a:rPr lang="en-IN" sz="1800" kern="1200" dirty="0" err="1" smtClean="0">
                          <a:solidFill>
                            <a:schemeClr val="dk1"/>
                          </a:solidFill>
                          <a:latin typeface="+mn-lt"/>
                          <a:ea typeface="+mn-ea"/>
                          <a:cs typeface="+mn-cs"/>
                        </a:rPr>
                        <a:t>obj</a:t>
                      </a:r>
                      <a:r>
                        <a:rPr lang="en-IN" sz="1800" kern="1200" dirty="0" smtClean="0">
                          <a:solidFill>
                            <a:schemeClr val="dk1"/>
                          </a:solidFill>
                          <a:latin typeface="+mn-lt"/>
                          <a:ea typeface="+mn-ea"/>
                          <a:cs typeface="+mn-cs"/>
                        </a:rPr>
                        <a:t>)</a:t>
                      </a:r>
                      <a:endParaRPr lang="en-IN" dirty="0"/>
                    </a:p>
                  </a:txBody>
                  <a:tcPr marL="76200" marR="76200" marT="76200" marB="76200"/>
                </a:tc>
                <a:tc>
                  <a:txBody>
                    <a:bodyPr/>
                    <a:lstStyle/>
                    <a:p>
                      <a:pPr algn="l"/>
                      <a:r>
                        <a:rPr lang="en-IN" dirty="0" smtClean="0">
                          <a:solidFill>
                            <a:srgbClr val="000000"/>
                          </a:solidFill>
                        </a:rPr>
                        <a:t>Returns count of how many times </a:t>
                      </a:r>
                      <a:r>
                        <a:rPr lang="en-IN" dirty="0" err="1" smtClean="0">
                          <a:solidFill>
                            <a:srgbClr val="000000"/>
                          </a:solidFill>
                        </a:rPr>
                        <a:t>obj</a:t>
                      </a:r>
                      <a:r>
                        <a:rPr lang="en-IN" dirty="0" smtClean="0">
                          <a:solidFill>
                            <a:srgbClr val="000000"/>
                          </a:solidFill>
                        </a:rPr>
                        <a:t> occurs in list</a:t>
                      </a:r>
                      <a:endParaRPr lang="en-IN" dirty="0"/>
                    </a:p>
                  </a:txBody>
                  <a:tcPr/>
                </a:tc>
              </a:tr>
              <a:tr h="370840">
                <a:tc>
                  <a:txBody>
                    <a:bodyPr/>
                    <a:lstStyle/>
                    <a:p>
                      <a:pPr algn="ctr" fontAlgn="t"/>
                      <a:r>
                        <a:rPr lang="en-IN" dirty="0" smtClean="0"/>
                        <a:t>7</a:t>
                      </a:r>
                      <a:endParaRPr lang="en-IN" dirty="0"/>
                    </a:p>
                  </a:txBody>
                  <a:tcPr marL="76200" marR="76200" marT="76200" marB="76200"/>
                </a:tc>
                <a:tc>
                  <a:txBody>
                    <a:bodyPr/>
                    <a:lstStyle/>
                    <a:p>
                      <a:r>
                        <a:rPr lang="en-IN" sz="1800" kern="1200" dirty="0" err="1" smtClean="0">
                          <a:solidFill>
                            <a:schemeClr val="dk1"/>
                          </a:solidFill>
                          <a:latin typeface="+mn-lt"/>
                          <a:ea typeface="+mn-ea"/>
                          <a:cs typeface="+mn-cs"/>
                        </a:rPr>
                        <a:t>list.extend</a:t>
                      </a:r>
                      <a:r>
                        <a:rPr lang="en-IN" sz="1800" kern="1200" dirty="0" smtClean="0">
                          <a:solidFill>
                            <a:schemeClr val="dk1"/>
                          </a:solidFill>
                          <a:latin typeface="+mn-lt"/>
                          <a:ea typeface="+mn-ea"/>
                          <a:cs typeface="+mn-cs"/>
                        </a:rPr>
                        <a:t>(</a:t>
                      </a:r>
                      <a:r>
                        <a:rPr lang="en-IN" sz="1800" kern="1200" dirty="0" err="1" smtClean="0">
                          <a:solidFill>
                            <a:schemeClr val="dk1"/>
                          </a:solidFill>
                          <a:latin typeface="+mn-lt"/>
                          <a:ea typeface="+mn-ea"/>
                          <a:cs typeface="+mn-cs"/>
                        </a:rPr>
                        <a:t>seq</a:t>
                      </a:r>
                      <a:r>
                        <a:rPr lang="en-IN" sz="1800" kern="1200" dirty="0" smtClean="0">
                          <a:solidFill>
                            <a:schemeClr val="dk1"/>
                          </a:solidFill>
                          <a:latin typeface="+mn-lt"/>
                          <a:ea typeface="+mn-ea"/>
                          <a:cs typeface="+mn-cs"/>
                        </a:rPr>
                        <a:t>) </a:t>
                      </a:r>
                      <a:endParaRPr lang="en-IN" dirty="0"/>
                    </a:p>
                  </a:txBody>
                  <a:tcPr marL="76200" marR="76200" marT="76200" marB="76200"/>
                </a:tc>
                <a:tc>
                  <a:txBody>
                    <a:bodyPr/>
                    <a:lstStyle/>
                    <a:p>
                      <a:pPr algn="l"/>
                      <a:r>
                        <a:rPr lang="en-IN" dirty="0" smtClean="0">
                          <a:solidFill>
                            <a:srgbClr val="000000"/>
                          </a:solidFill>
                        </a:rPr>
                        <a:t>Appends the contents of </a:t>
                      </a:r>
                      <a:r>
                        <a:rPr lang="en-IN" dirty="0" err="1" smtClean="0">
                          <a:solidFill>
                            <a:srgbClr val="000000"/>
                          </a:solidFill>
                        </a:rPr>
                        <a:t>seq</a:t>
                      </a:r>
                      <a:r>
                        <a:rPr lang="en-IN" dirty="0" smtClean="0">
                          <a:solidFill>
                            <a:srgbClr val="000000"/>
                          </a:solidFill>
                        </a:rPr>
                        <a:t> to list</a:t>
                      </a:r>
                      <a:endParaRPr lang="en-IN" dirty="0"/>
                    </a:p>
                  </a:txBody>
                  <a:tcPr/>
                </a:tc>
              </a:tr>
              <a:tr h="370840">
                <a:tc>
                  <a:txBody>
                    <a:bodyPr/>
                    <a:lstStyle/>
                    <a:p>
                      <a:pPr algn="ctr" fontAlgn="t"/>
                      <a:r>
                        <a:rPr lang="en-IN" dirty="0" smtClean="0"/>
                        <a:t>8</a:t>
                      </a:r>
                      <a:endParaRPr lang="en-IN" dirty="0"/>
                    </a:p>
                  </a:txBody>
                  <a:tcPr marL="76200" marR="76200" marT="76200" marB="76200"/>
                </a:tc>
                <a:tc>
                  <a:txBody>
                    <a:bodyPr/>
                    <a:lstStyle/>
                    <a:p>
                      <a:r>
                        <a:rPr lang="en-IN" sz="1800" kern="1200" dirty="0" err="1" smtClean="0">
                          <a:solidFill>
                            <a:schemeClr val="dk1"/>
                          </a:solidFill>
                          <a:latin typeface="+mn-lt"/>
                          <a:ea typeface="+mn-ea"/>
                          <a:cs typeface="+mn-cs"/>
                        </a:rPr>
                        <a:t>list.index</a:t>
                      </a:r>
                      <a:r>
                        <a:rPr lang="en-IN" sz="1800" kern="1200" dirty="0" smtClean="0">
                          <a:solidFill>
                            <a:schemeClr val="dk1"/>
                          </a:solidFill>
                          <a:latin typeface="+mn-lt"/>
                          <a:ea typeface="+mn-ea"/>
                          <a:cs typeface="+mn-cs"/>
                        </a:rPr>
                        <a:t>(</a:t>
                      </a:r>
                      <a:r>
                        <a:rPr lang="en-IN" sz="1800" kern="1200" dirty="0" err="1" smtClean="0">
                          <a:solidFill>
                            <a:schemeClr val="dk1"/>
                          </a:solidFill>
                          <a:latin typeface="+mn-lt"/>
                          <a:ea typeface="+mn-ea"/>
                          <a:cs typeface="+mn-cs"/>
                        </a:rPr>
                        <a:t>obj</a:t>
                      </a:r>
                      <a:r>
                        <a:rPr lang="en-IN" sz="1800" kern="1200" dirty="0" smtClean="0">
                          <a:solidFill>
                            <a:schemeClr val="dk1"/>
                          </a:solidFill>
                          <a:latin typeface="+mn-lt"/>
                          <a:ea typeface="+mn-ea"/>
                          <a:cs typeface="+mn-cs"/>
                        </a:rPr>
                        <a:t>) </a:t>
                      </a:r>
                      <a:endParaRPr lang="en-IN" dirty="0"/>
                    </a:p>
                  </a:txBody>
                  <a:tcPr marL="76200" marR="76200" marT="76200" marB="76200"/>
                </a:tc>
                <a:tc>
                  <a:txBody>
                    <a:bodyPr/>
                    <a:lstStyle/>
                    <a:p>
                      <a:pPr algn="l"/>
                      <a:r>
                        <a:rPr lang="en-IN" dirty="0" smtClean="0">
                          <a:solidFill>
                            <a:srgbClr val="000000"/>
                          </a:solidFill>
                        </a:rPr>
                        <a:t>Returns the lowest index in list that </a:t>
                      </a:r>
                      <a:r>
                        <a:rPr lang="en-IN" dirty="0" err="1" smtClean="0">
                          <a:solidFill>
                            <a:srgbClr val="000000"/>
                          </a:solidFill>
                        </a:rPr>
                        <a:t>obj</a:t>
                      </a:r>
                      <a:r>
                        <a:rPr lang="en-IN" dirty="0" smtClean="0">
                          <a:solidFill>
                            <a:srgbClr val="000000"/>
                          </a:solidFill>
                        </a:rPr>
                        <a:t> appears</a:t>
                      </a:r>
                      <a:endParaRPr lang="en-IN" dirty="0"/>
                    </a:p>
                  </a:txBody>
                  <a:tcPr/>
                </a:tc>
              </a:tr>
              <a:tr h="370840">
                <a:tc>
                  <a:txBody>
                    <a:bodyPr/>
                    <a:lstStyle/>
                    <a:p>
                      <a:pPr algn="ctr" fontAlgn="t"/>
                      <a:r>
                        <a:rPr lang="en-IN" dirty="0" smtClean="0"/>
                        <a:t>9</a:t>
                      </a:r>
                      <a:endParaRPr lang="en-IN" dirty="0"/>
                    </a:p>
                  </a:txBody>
                  <a:tcPr marL="76200" marR="76200" marT="76200" marB="76200"/>
                </a:tc>
                <a:tc>
                  <a:txBody>
                    <a:bodyPr/>
                    <a:lstStyle/>
                    <a:p>
                      <a:r>
                        <a:rPr lang="en-IN" sz="1800" kern="1200" dirty="0" err="1" smtClean="0">
                          <a:solidFill>
                            <a:schemeClr val="dk1"/>
                          </a:solidFill>
                          <a:latin typeface="+mn-lt"/>
                          <a:ea typeface="+mn-ea"/>
                          <a:cs typeface="+mn-cs"/>
                        </a:rPr>
                        <a:t>list.insert</a:t>
                      </a:r>
                      <a:r>
                        <a:rPr lang="en-IN" sz="1800" kern="1200" dirty="0" smtClean="0">
                          <a:solidFill>
                            <a:schemeClr val="dk1"/>
                          </a:solidFill>
                          <a:latin typeface="+mn-lt"/>
                          <a:ea typeface="+mn-ea"/>
                          <a:cs typeface="+mn-cs"/>
                        </a:rPr>
                        <a:t>(index, </a:t>
                      </a:r>
                      <a:r>
                        <a:rPr lang="en-IN" sz="1800" kern="1200" dirty="0" err="1" smtClean="0">
                          <a:solidFill>
                            <a:schemeClr val="dk1"/>
                          </a:solidFill>
                          <a:latin typeface="+mn-lt"/>
                          <a:ea typeface="+mn-ea"/>
                          <a:cs typeface="+mn-cs"/>
                        </a:rPr>
                        <a:t>obj</a:t>
                      </a:r>
                      <a:r>
                        <a:rPr lang="en-IN" sz="1800" kern="1200" dirty="0" smtClean="0">
                          <a:solidFill>
                            <a:schemeClr val="dk1"/>
                          </a:solidFill>
                          <a:latin typeface="+mn-lt"/>
                          <a:ea typeface="+mn-ea"/>
                          <a:cs typeface="+mn-cs"/>
                        </a:rPr>
                        <a:t>) </a:t>
                      </a:r>
                      <a:endParaRPr lang="en-IN" dirty="0"/>
                    </a:p>
                  </a:txBody>
                  <a:tcPr marL="76200" marR="76200" marT="76200" marB="76200"/>
                </a:tc>
                <a:tc>
                  <a:txBody>
                    <a:bodyPr/>
                    <a:lstStyle/>
                    <a:p>
                      <a:pPr algn="l"/>
                      <a:r>
                        <a:rPr lang="en-IN" dirty="0" smtClean="0">
                          <a:solidFill>
                            <a:srgbClr val="000000"/>
                          </a:solidFill>
                        </a:rPr>
                        <a:t>Inserts object </a:t>
                      </a:r>
                      <a:r>
                        <a:rPr lang="en-IN" dirty="0" err="1" smtClean="0">
                          <a:solidFill>
                            <a:srgbClr val="000000"/>
                          </a:solidFill>
                        </a:rPr>
                        <a:t>obj</a:t>
                      </a:r>
                      <a:r>
                        <a:rPr lang="en-IN" dirty="0" smtClean="0">
                          <a:solidFill>
                            <a:srgbClr val="000000"/>
                          </a:solidFill>
                        </a:rPr>
                        <a:t> into list at offset index</a:t>
                      </a:r>
                      <a:endParaRPr lang="en-IN" dirty="0"/>
                    </a:p>
                  </a:txBody>
                  <a:tcPr/>
                </a:tc>
              </a:tr>
              <a:tr h="370840">
                <a:tc>
                  <a:txBody>
                    <a:bodyPr/>
                    <a:lstStyle/>
                    <a:p>
                      <a:pPr algn="ctr" fontAlgn="t"/>
                      <a:r>
                        <a:rPr lang="en-IN" dirty="0" smtClean="0"/>
                        <a:t>10</a:t>
                      </a:r>
                      <a:endParaRPr lang="en-IN" dirty="0"/>
                    </a:p>
                  </a:txBody>
                  <a:tcPr marL="76200" marR="76200" marT="76200" marB="76200"/>
                </a:tc>
                <a:tc>
                  <a:txBody>
                    <a:bodyPr/>
                    <a:lstStyle/>
                    <a:p>
                      <a:r>
                        <a:rPr lang="en-IN" sz="1800" kern="1200" dirty="0" smtClean="0">
                          <a:solidFill>
                            <a:schemeClr val="dk1"/>
                          </a:solidFill>
                          <a:latin typeface="+mn-lt"/>
                          <a:ea typeface="+mn-ea"/>
                          <a:cs typeface="+mn-cs"/>
                        </a:rPr>
                        <a:t>list.pop(</a:t>
                      </a:r>
                      <a:r>
                        <a:rPr lang="en-IN" sz="1800" kern="1200" dirty="0" err="1" smtClean="0">
                          <a:solidFill>
                            <a:schemeClr val="dk1"/>
                          </a:solidFill>
                          <a:latin typeface="+mn-lt"/>
                          <a:ea typeface="+mn-ea"/>
                          <a:cs typeface="+mn-cs"/>
                        </a:rPr>
                        <a:t>obj</a:t>
                      </a:r>
                      <a:r>
                        <a:rPr lang="en-IN" sz="1800" kern="1200" dirty="0" smtClean="0">
                          <a:solidFill>
                            <a:schemeClr val="dk1"/>
                          </a:solidFill>
                          <a:latin typeface="+mn-lt"/>
                          <a:ea typeface="+mn-ea"/>
                          <a:cs typeface="+mn-cs"/>
                        </a:rPr>
                        <a:t>=list[-1]) </a:t>
                      </a:r>
                      <a:endParaRPr lang="en-IN" dirty="0"/>
                    </a:p>
                  </a:txBody>
                  <a:tcPr marL="76200" marR="76200" marT="76200" marB="76200"/>
                </a:tc>
                <a:tc>
                  <a:txBody>
                    <a:bodyPr/>
                    <a:lstStyle/>
                    <a:p>
                      <a:pPr algn="l"/>
                      <a:r>
                        <a:rPr lang="en-IN" dirty="0" smtClean="0">
                          <a:solidFill>
                            <a:srgbClr val="000000"/>
                          </a:solidFill>
                        </a:rPr>
                        <a:t>Removes and returns last object or </a:t>
                      </a:r>
                      <a:r>
                        <a:rPr lang="en-IN" dirty="0" err="1" smtClean="0">
                          <a:solidFill>
                            <a:srgbClr val="000000"/>
                          </a:solidFill>
                        </a:rPr>
                        <a:t>obj</a:t>
                      </a:r>
                      <a:r>
                        <a:rPr lang="en-IN" dirty="0" smtClean="0">
                          <a:solidFill>
                            <a:srgbClr val="000000"/>
                          </a:solidFill>
                        </a:rPr>
                        <a:t> from list</a:t>
                      </a:r>
                      <a:endParaRPr lang="en-IN" dirty="0"/>
                    </a:p>
                  </a:txBody>
                  <a:tcPr/>
                </a:tc>
              </a:tr>
              <a:tr h="370840">
                <a:tc>
                  <a:txBody>
                    <a:bodyPr/>
                    <a:lstStyle/>
                    <a:p>
                      <a:pPr algn="ctr" fontAlgn="t"/>
                      <a:r>
                        <a:rPr lang="en-IN" dirty="0" smtClean="0"/>
                        <a:t>11</a:t>
                      </a:r>
                      <a:endParaRPr lang="en-IN" dirty="0"/>
                    </a:p>
                  </a:txBody>
                  <a:tcPr marL="76200" marR="76200" marT="76200" marB="76200"/>
                </a:tc>
                <a:tc>
                  <a:txBody>
                    <a:bodyPr/>
                    <a:lstStyle/>
                    <a:p>
                      <a:r>
                        <a:rPr lang="en-IN" sz="1800" kern="1200" dirty="0" err="1" smtClean="0">
                          <a:solidFill>
                            <a:schemeClr val="dk1"/>
                          </a:solidFill>
                          <a:latin typeface="+mn-lt"/>
                          <a:ea typeface="+mn-ea"/>
                          <a:cs typeface="+mn-cs"/>
                        </a:rPr>
                        <a:t>list.remove</a:t>
                      </a:r>
                      <a:r>
                        <a:rPr lang="en-IN" sz="1800" kern="1200" dirty="0" smtClean="0">
                          <a:solidFill>
                            <a:schemeClr val="dk1"/>
                          </a:solidFill>
                          <a:latin typeface="+mn-lt"/>
                          <a:ea typeface="+mn-ea"/>
                          <a:cs typeface="+mn-cs"/>
                        </a:rPr>
                        <a:t>(</a:t>
                      </a:r>
                      <a:r>
                        <a:rPr lang="en-IN" sz="1800" kern="1200" dirty="0" err="1" smtClean="0">
                          <a:solidFill>
                            <a:schemeClr val="dk1"/>
                          </a:solidFill>
                          <a:latin typeface="+mn-lt"/>
                          <a:ea typeface="+mn-ea"/>
                          <a:cs typeface="+mn-cs"/>
                        </a:rPr>
                        <a:t>obj</a:t>
                      </a:r>
                      <a:r>
                        <a:rPr lang="en-IN" sz="1800" kern="1200" dirty="0" smtClean="0">
                          <a:solidFill>
                            <a:schemeClr val="dk1"/>
                          </a:solidFill>
                          <a:latin typeface="+mn-lt"/>
                          <a:ea typeface="+mn-ea"/>
                          <a:cs typeface="+mn-cs"/>
                        </a:rPr>
                        <a:t>) </a:t>
                      </a:r>
                      <a:endParaRPr lang="en-IN" dirty="0"/>
                    </a:p>
                  </a:txBody>
                  <a:tcPr marL="76200" marR="76200" marT="76200" marB="76200"/>
                </a:tc>
                <a:tc>
                  <a:txBody>
                    <a:bodyPr/>
                    <a:lstStyle/>
                    <a:p>
                      <a:pPr algn="l"/>
                      <a:r>
                        <a:rPr lang="en-IN" dirty="0" smtClean="0">
                          <a:solidFill>
                            <a:srgbClr val="000000"/>
                          </a:solidFill>
                        </a:rPr>
                        <a:t>Removes object </a:t>
                      </a:r>
                      <a:r>
                        <a:rPr lang="en-IN" dirty="0" err="1" smtClean="0">
                          <a:solidFill>
                            <a:srgbClr val="000000"/>
                          </a:solidFill>
                        </a:rPr>
                        <a:t>obj</a:t>
                      </a:r>
                      <a:r>
                        <a:rPr lang="en-IN" dirty="0" smtClean="0">
                          <a:solidFill>
                            <a:srgbClr val="000000"/>
                          </a:solidFill>
                        </a:rPr>
                        <a:t> from list</a:t>
                      </a:r>
                      <a:endParaRPr lang="en-IN" dirty="0"/>
                    </a:p>
                  </a:txBody>
                  <a:tcPr/>
                </a:tc>
              </a:tr>
              <a:tr h="370840">
                <a:tc>
                  <a:txBody>
                    <a:bodyPr/>
                    <a:lstStyle/>
                    <a:p>
                      <a:pPr algn="ctr" fontAlgn="t"/>
                      <a:r>
                        <a:rPr lang="en-IN" dirty="0" smtClean="0"/>
                        <a:t>12</a:t>
                      </a:r>
                      <a:endParaRPr lang="en-IN" dirty="0"/>
                    </a:p>
                  </a:txBody>
                  <a:tcPr marL="76200" marR="76200" marT="76200" marB="76200"/>
                </a:tc>
                <a:tc>
                  <a:txBody>
                    <a:bodyPr/>
                    <a:lstStyle/>
                    <a:p>
                      <a:r>
                        <a:rPr lang="en-IN" sz="1800" kern="1200" dirty="0" err="1" smtClean="0">
                          <a:solidFill>
                            <a:schemeClr val="dk1"/>
                          </a:solidFill>
                          <a:latin typeface="+mn-lt"/>
                          <a:ea typeface="+mn-ea"/>
                          <a:cs typeface="+mn-cs"/>
                        </a:rPr>
                        <a:t>list.reverse</a:t>
                      </a:r>
                      <a:r>
                        <a:rPr lang="en-IN" sz="1800" kern="1200" dirty="0" smtClean="0">
                          <a:solidFill>
                            <a:schemeClr val="dk1"/>
                          </a:solidFill>
                          <a:latin typeface="+mn-lt"/>
                          <a:ea typeface="+mn-ea"/>
                          <a:cs typeface="+mn-cs"/>
                        </a:rPr>
                        <a:t>() </a:t>
                      </a:r>
                      <a:endParaRPr lang="en-IN" dirty="0"/>
                    </a:p>
                  </a:txBody>
                  <a:tcPr marL="76200" marR="76200" marT="76200" marB="76200"/>
                </a:tc>
                <a:tc>
                  <a:txBody>
                    <a:bodyPr/>
                    <a:lstStyle/>
                    <a:p>
                      <a:pPr algn="l"/>
                      <a:r>
                        <a:rPr lang="en-IN" dirty="0" smtClean="0">
                          <a:solidFill>
                            <a:srgbClr val="000000"/>
                          </a:solidFill>
                        </a:rPr>
                        <a:t>Reverses objects of list in place</a:t>
                      </a:r>
                      <a:endParaRPr lang="en-IN" dirty="0"/>
                    </a:p>
                  </a:txBody>
                  <a:tcPr/>
                </a:tc>
              </a:tr>
              <a:tr h="370840">
                <a:tc>
                  <a:txBody>
                    <a:bodyPr/>
                    <a:lstStyle/>
                    <a:p>
                      <a:pPr algn="ctr" fontAlgn="t"/>
                      <a:r>
                        <a:rPr lang="en-IN" dirty="0" smtClean="0"/>
                        <a:t>13</a:t>
                      </a:r>
                      <a:endParaRPr lang="en-IN" dirty="0"/>
                    </a:p>
                  </a:txBody>
                  <a:tcPr marL="76200" marR="76200" marT="76200" marB="76200"/>
                </a:tc>
                <a:tc>
                  <a:txBody>
                    <a:bodyPr/>
                    <a:lstStyle/>
                    <a:p>
                      <a:r>
                        <a:rPr lang="en-IN" sz="1800" kern="1200" dirty="0" err="1" smtClean="0">
                          <a:solidFill>
                            <a:schemeClr val="dk1"/>
                          </a:solidFill>
                          <a:latin typeface="+mn-lt"/>
                          <a:ea typeface="+mn-ea"/>
                          <a:cs typeface="+mn-cs"/>
                        </a:rPr>
                        <a:t>list.sort</a:t>
                      </a:r>
                      <a:r>
                        <a:rPr lang="en-IN" sz="1800" kern="1200" dirty="0" smtClean="0">
                          <a:solidFill>
                            <a:schemeClr val="dk1"/>
                          </a:solidFill>
                          <a:latin typeface="+mn-lt"/>
                          <a:ea typeface="+mn-ea"/>
                          <a:cs typeface="+mn-cs"/>
                        </a:rPr>
                        <a:t>()</a:t>
                      </a:r>
                      <a:endParaRPr lang="en-IN" dirty="0"/>
                    </a:p>
                  </a:txBody>
                  <a:tcPr marL="76200" marR="76200" marT="76200" marB="76200"/>
                </a:tc>
                <a:tc>
                  <a:txBody>
                    <a:bodyPr/>
                    <a:lstStyle/>
                    <a:p>
                      <a:pPr algn="l"/>
                      <a:r>
                        <a:rPr lang="en-IN" dirty="0" smtClean="0">
                          <a:solidFill>
                            <a:srgbClr val="000000"/>
                          </a:solidFill>
                        </a:rPr>
                        <a:t>Sorts objects </a:t>
                      </a:r>
                      <a:r>
                        <a:rPr lang="en-IN" smtClean="0">
                          <a:solidFill>
                            <a:srgbClr val="000000"/>
                          </a:solidFill>
                        </a:rPr>
                        <a:t>of list</a:t>
                      </a:r>
                      <a:endParaRPr lang="en-IN" dirty="0"/>
                    </a:p>
                  </a:txBody>
                  <a:tcPr/>
                </a:tc>
              </a:tr>
            </a:tbl>
          </a:graphicData>
        </a:graphic>
      </p:graphicFrame>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err="1" smtClean="0"/>
              <a:t>Tuples</a:t>
            </a:r>
            <a:endParaRPr lang="en-IN" dirty="0"/>
          </a:p>
        </p:txBody>
      </p:sp>
      <p:sp>
        <p:nvSpPr>
          <p:cNvPr id="3" name="Content Placeholder 2"/>
          <p:cNvSpPr>
            <a:spLocks noGrp="1"/>
          </p:cNvSpPr>
          <p:nvPr>
            <p:ph idx="1"/>
          </p:nvPr>
        </p:nvSpPr>
        <p:spPr>
          <a:xfrm>
            <a:off x="457200" y="1071546"/>
            <a:ext cx="8229600" cy="5643602"/>
          </a:xfrm>
        </p:spPr>
        <p:txBody>
          <a:bodyPr>
            <a:normAutofit fontScale="85000" lnSpcReduction="10000"/>
          </a:bodyPr>
          <a:lstStyle/>
          <a:p>
            <a:r>
              <a:rPr lang="en-IN" dirty="0" smtClean="0"/>
              <a:t>A </a:t>
            </a:r>
            <a:r>
              <a:rPr lang="en-IN" dirty="0" err="1" smtClean="0"/>
              <a:t>tuple</a:t>
            </a:r>
            <a:r>
              <a:rPr lang="en-IN" dirty="0" smtClean="0"/>
              <a:t> is a sequence of immutable Python objects</a:t>
            </a:r>
          </a:p>
          <a:p>
            <a:r>
              <a:rPr lang="en-IN" dirty="0" smtClean="0"/>
              <a:t>The main difference between the </a:t>
            </a:r>
            <a:r>
              <a:rPr lang="en-IN" dirty="0" err="1" smtClean="0"/>
              <a:t>tuples</a:t>
            </a:r>
            <a:r>
              <a:rPr lang="en-IN" dirty="0" smtClean="0"/>
              <a:t> and the lists is that the </a:t>
            </a:r>
            <a:r>
              <a:rPr lang="en-IN" dirty="0" err="1" smtClean="0"/>
              <a:t>tuples</a:t>
            </a:r>
            <a:r>
              <a:rPr lang="en-IN" dirty="0" smtClean="0"/>
              <a:t> cannot be changed unlike lists. </a:t>
            </a:r>
          </a:p>
          <a:p>
            <a:r>
              <a:rPr lang="en-IN" dirty="0" err="1" smtClean="0"/>
              <a:t>Tuples</a:t>
            </a:r>
            <a:r>
              <a:rPr lang="en-IN" dirty="0" smtClean="0"/>
              <a:t> use parentheses, whereas lists use square brackets.</a:t>
            </a:r>
          </a:p>
          <a:p>
            <a:pPr>
              <a:buNone/>
            </a:pPr>
            <a:r>
              <a:rPr lang="en-IN" dirty="0" smtClean="0"/>
              <a:t>	</a:t>
            </a:r>
            <a:r>
              <a:rPr lang="en-IN" dirty="0" err="1" smtClean="0"/>
              <a:t>tup</a:t>
            </a:r>
            <a:r>
              <a:rPr lang="en-IN" dirty="0" smtClean="0"/>
              <a:t> = (1,2,3,4,5)</a:t>
            </a:r>
          </a:p>
          <a:p>
            <a:r>
              <a:rPr lang="en-IN" dirty="0" smtClean="0"/>
              <a:t>The empty </a:t>
            </a:r>
            <a:r>
              <a:rPr lang="en-IN" dirty="0" err="1" smtClean="0"/>
              <a:t>tuple</a:t>
            </a:r>
            <a:r>
              <a:rPr lang="en-IN" dirty="0" smtClean="0"/>
              <a:t> is written as two parentheses containing nothing</a:t>
            </a:r>
          </a:p>
          <a:p>
            <a:pPr lvl="1"/>
            <a:r>
              <a:rPr lang="en-IN" dirty="0" smtClean="0"/>
              <a:t>tup1 = ();</a:t>
            </a:r>
          </a:p>
          <a:p>
            <a:r>
              <a:rPr lang="en-IN" dirty="0" smtClean="0"/>
              <a:t>To write a </a:t>
            </a:r>
            <a:r>
              <a:rPr lang="en-IN" dirty="0" err="1" smtClean="0"/>
              <a:t>tuple</a:t>
            </a:r>
            <a:r>
              <a:rPr lang="en-IN" dirty="0" smtClean="0"/>
              <a:t> containing a single value you have to include a comma, even though there is only one value</a:t>
            </a:r>
          </a:p>
          <a:p>
            <a:pPr lvl="1"/>
            <a:r>
              <a:rPr lang="en-IN" dirty="0" smtClean="0"/>
              <a:t>tup1 = (1,)</a:t>
            </a:r>
            <a:endParaRPr lang="en-IN"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Accessing Values in </a:t>
            </a:r>
            <a:r>
              <a:rPr lang="en-IN" dirty="0" err="1" smtClean="0"/>
              <a:t>Tuples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To access values in </a:t>
            </a:r>
            <a:r>
              <a:rPr lang="en-IN" dirty="0" err="1" smtClean="0"/>
              <a:t>tuple</a:t>
            </a:r>
            <a:r>
              <a:rPr lang="en-IN" dirty="0" smtClean="0"/>
              <a:t>, use the square brackets for slicing along with the index or indices to obtain the value available at that index.</a:t>
            </a:r>
          </a:p>
          <a:p>
            <a:endParaRPr lang="en-IN"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Updating </a:t>
            </a:r>
            <a:r>
              <a:rPr lang="en-IN" dirty="0" err="1" smtClean="0"/>
              <a:t>Tuples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err="1" smtClean="0"/>
              <a:t>Tuples</a:t>
            </a:r>
            <a:r>
              <a:rPr lang="en-IN" dirty="0" smtClean="0"/>
              <a:t> are immutable, which means you cannot update or change the values of </a:t>
            </a:r>
            <a:r>
              <a:rPr lang="en-IN" dirty="0" err="1" smtClean="0"/>
              <a:t>tuple</a:t>
            </a:r>
            <a:r>
              <a:rPr lang="en-IN" dirty="0" smtClean="0"/>
              <a:t> elements. </a:t>
            </a:r>
          </a:p>
          <a:p>
            <a:r>
              <a:rPr lang="en-IN" dirty="0" smtClean="0"/>
              <a:t>You are able to take portions of the existing </a:t>
            </a:r>
            <a:r>
              <a:rPr lang="en-IN" dirty="0" err="1" smtClean="0"/>
              <a:t>tuples</a:t>
            </a:r>
            <a:r>
              <a:rPr lang="en-IN" dirty="0" smtClean="0"/>
              <a:t> to create new </a:t>
            </a:r>
            <a:r>
              <a:rPr lang="en-IN" dirty="0" err="1" smtClean="0"/>
              <a:t>tuples</a:t>
            </a:r>
            <a:endParaRPr lang="en-IN" dirty="0" smtClean="0"/>
          </a:p>
          <a:p>
            <a:endParaRPr lang="en-IN"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Delete </a:t>
            </a:r>
            <a:r>
              <a:rPr lang="en-IN" dirty="0" err="1" smtClean="0"/>
              <a:t>Tuple</a:t>
            </a:r>
            <a:r>
              <a:rPr lang="en-IN" dirty="0" smtClean="0"/>
              <a:t> Elements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Removing individual </a:t>
            </a:r>
            <a:r>
              <a:rPr lang="en-IN" dirty="0" err="1" smtClean="0"/>
              <a:t>tuple</a:t>
            </a:r>
            <a:r>
              <a:rPr lang="en-IN" dirty="0" smtClean="0"/>
              <a:t> elements is not possible. </a:t>
            </a:r>
          </a:p>
          <a:p>
            <a:r>
              <a:rPr lang="en-IN" dirty="0" smtClean="0"/>
              <a:t>There is, of course, nothing wrong with putting together another </a:t>
            </a:r>
            <a:r>
              <a:rPr lang="en-IN" dirty="0" err="1" smtClean="0"/>
              <a:t>tuple</a:t>
            </a:r>
            <a:r>
              <a:rPr lang="en-IN" dirty="0" smtClean="0"/>
              <a:t> with the undesired elements discarded.</a:t>
            </a:r>
          </a:p>
          <a:p>
            <a:pPr lvl="1"/>
            <a:r>
              <a:rPr lang="en-IN" dirty="0" smtClean="0"/>
              <a:t>del (t1)</a:t>
            </a:r>
          </a:p>
          <a:p>
            <a:pPr lvl="1"/>
            <a:r>
              <a:rPr lang="en-IN" dirty="0" smtClean="0"/>
              <a:t>del t1</a:t>
            </a:r>
          </a:p>
          <a:p>
            <a:endParaRPr lang="en-IN"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0"/>
            <a:ext cx="8229600" cy="582594"/>
          </a:xfrm>
        </p:spPr>
        <p:txBody>
          <a:bodyPr>
            <a:normAutofit fontScale="90000"/>
          </a:bodyPr>
          <a:lstStyle/>
          <a:p>
            <a:r>
              <a:rPr lang="en-IN" dirty="0" smtClean="0"/>
              <a:t>Basic List Operations</a:t>
            </a:r>
            <a:endParaRPr lang="en-IN" dirty="0"/>
          </a:p>
        </p:txBody>
      </p:sp>
      <p:graphicFrame>
        <p:nvGraphicFramePr>
          <p:cNvPr id="4" name="Content Placeholder 3"/>
          <p:cNvGraphicFramePr>
            <a:graphicFrameLocks noGrp="1"/>
          </p:cNvGraphicFramePr>
          <p:nvPr>
            <p:ph idx="1"/>
          </p:nvPr>
        </p:nvGraphicFramePr>
        <p:xfrm>
          <a:off x="428596" y="571480"/>
          <a:ext cx="8229600" cy="256032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pPr algn="ctr" fontAlgn="t"/>
                      <a:r>
                        <a:rPr lang="en-IN" dirty="0"/>
                        <a:t>Python Expression</a:t>
                      </a:r>
                    </a:p>
                  </a:txBody>
                  <a:tcPr marL="76200" marR="76200" marT="76200" marB="76200"/>
                </a:tc>
                <a:tc>
                  <a:txBody>
                    <a:bodyPr/>
                    <a:lstStyle/>
                    <a:p>
                      <a:pPr algn="ctr" fontAlgn="t"/>
                      <a:r>
                        <a:rPr lang="en-IN" dirty="0"/>
                        <a:t>Results</a:t>
                      </a:r>
                    </a:p>
                  </a:txBody>
                  <a:tcPr marL="76200" marR="76200" marT="76200" marB="76200"/>
                </a:tc>
                <a:tc>
                  <a:txBody>
                    <a:bodyPr/>
                    <a:lstStyle/>
                    <a:p>
                      <a:pPr algn="ctr" fontAlgn="t"/>
                      <a:r>
                        <a:rPr lang="en-IN" dirty="0"/>
                        <a:t>Description</a:t>
                      </a:r>
                    </a:p>
                  </a:txBody>
                  <a:tcPr marL="76200" marR="76200" marT="76200" marB="76200"/>
                </a:tc>
              </a:tr>
              <a:tr h="370840">
                <a:tc>
                  <a:txBody>
                    <a:bodyPr/>
                    <a:lstStyle/>
                    <a:p>
                      <a:pPr fontAlgn="t"/>
                      <a:r>
                        <a:rPr lang="en-IN" dirty="0" err="1" smtClean="0"/>
                        <a:t>len</a:t>
                      </a:r>
                      <a:r>
                        <a:rPr lang="en-IN" dirty="0" smtClean="0"/>
                        <a:t>((1</a:t>
                      </a:r>
                      <a:r>
                        <a:rPr lang="en-IN" dirty="0"/>
                        <a:t>, 2, </a:t>
                      </a:r>
                      <a:r>
                        <a:rPr lang="en-IN" dirty="0" smtClean="0"/>
                        <a:t>3))</a:t>
                      </a:r>
                      <a:endParaRPr lang="en-IN" dirty="0"/>
                    </a:p>
                  </a:txBody>
                  <a:tcPr marL="76200" marR="76200" marT="76200" marB="76200"/>
                </a:tc>
                <a:tc>
                  <a:txBody>
                    <a:bodyPr/>
                    <a:lstStyle/>
                    <a:p>
                      <a:pPr fontAlgn="t"/>
                      <a:r>
                        <a:rPr lang="en-IN" dirty="0"/>
                        <a:t>3</a:t>
                      </a:r>
                    </a:p>
                  </a:txBody>
                  <a:tcPr marL="76200" marR="76200" marT="76200" marB="76200"/>
                </a:tc>
                <a:tc>
                  <a:txBody>
                    <a:bodyPr/>
                    <a:lstStyle/>
                    <a:p>
                      <a:pPr fontAlgn="t"/>
                      <a:r>
                        <a:rPr lang="en-IN" dirty="0"/>
                        <a:t>Length</a:t>
                      </a:r>
                    </a:p>
                  </a:txBody>
                  <a:tcPr marL="76200" marR="76200" marT="76200" marB="76200"/>
                </a:tc>
              </a:tr>
              <a:tr h="370840">
                <a:tc>
                  <a:txBody>
                    <a:bodyPr/>
                    <a:lstStyle/>
                    <a:p>
                      <a:pPr fontAlgn="t"/>
                      <a:r>
                        <a:rPr lang="en-IN" dirty="0"/>
                        <a:t>(</a:t>
                      </a:r>
                      <a:r>
                        <a:rPr lang="en-IN" dirty="0" smtClean="0"/>
                        <a:t>1</a:t>
                      </a:r>
                      <a:r>
                        <a:rPr lang="en-IN" dirty="0"/>
                        <a:t>, 2, </a:t>
                      </a:r>
                      <a:r>
                        <a:rPr lang="en-IN" dirty="0" smtClean="0"/>
                        <a:t>3)+ </a:t>
                      </a:r>
                      <a:r>
                        <a:rPr lang="en-IN" dirty="0"/>
                        <a:t>(</a:t>
                      </a:r>
                      <a:r>
                        <a:rPr lang="en-IN" dirty="0" smtClean="0"/>
                        <a:t>4</a:t>
                      </a:r>
                      <a:r>
                        <a:rPr lang="en-IN" dirty="0"/>
                        <a:t>, 5, </a:t>
                      </a:r>
                      <a:r>
                        <a:rPr lang="en-IN" dirty="0" smtClean="0"/>
                        <a:t>6)</a:t>
                      </a:r>
                      <a:endParaRPr lang="en-IN" dirty="0"/>
                    </a:p>
                  </a:txBody>
                  <a:tcPr marL="76200" marR="76200" marT="76200" marB="76200"/>
                </a:tc>
                <a:tc>
                  <a:txBody>
                    <a:bodyPr/>
                    <a:lstStyle/>
                    <a:p>
                      <a:pPr fontAlgn="t"/>
                      <a:r>
                        <a:rPr lang="en-IN"/>
                        <a:t>[1, 2, 3, 4, 5, 6]</a:t>
                      </a:r>
                    </a:p>
                  </a:txBody>
                  <a:tcPr marL="76200" marR="76200" marT="76200" marB="76200"/>
                </a:tc>
                <a:tc>
                  <a:txBody>
                    <a:bodyPr/>
                    <a:lstStyle/>
                    <a:p>
                      <a:pPr fontAlgn="t"/>
                      <a:r>
                        <a:rPr lang="en-IN"/>
                        <a:t>Concatenation</a:t>
                      </a:r>
                    </a:p>
                  </a:txBody>
                  <a:tcPr marL="76200" marR="76200" marT="76200" marB="76200"/>
                </a:tc>
              </a:tr>
              <a:tr h="370840">
                <a:tc>
                  <a:txBody>
                    <a:bodyPr/>
                    <a:lstStyle/>
                    <a:p>
                      <a:pPr fontAlgn="t"/>
                      <a:r>
                        <a:rPr lang="en-IN" dirty="0" smtClean="0"/>
                        <a:t>(‘Hi!‘]* </a:t>
                      </a:r>
                      <a:r>
                        <a:rPr lang="en-IN" dirty="0"/>
                        <a:t>4</a:t>
                      </a:r>
                    </a:p>
                  </a:txBody>
                  <a:tcPr marL="76200" marR="76200" marT="76200" marB="76200"/>
                </a:tc>
                <a:tc>
                  <a:txBody>
                    <a:bodyPr/>
                    <a:lstStyle/>
                    <a:p>
                      <a:pPr fontAlgn="t"/>
                      <a:r>
                        <a:rPr lang="en-IN"/>
                        <a:t>['Hi!', 'Hi!', 'Hi!', 'Hi!']</a:t>
                      </a:r>
                    </a:p>
                  </a:txBody>
                  <a:tcPr marL="76200" marR="76200" marT="76200" marB="76200"/>
                </a:tc>
                <a:tc>
                  <a:txBody>
                    <a:bodyPr/>
                    <a:lstStyle/>
                    <a:p>
                      <a:pPr fontAlgn="t"/>
                      <a:r>
                        <a:rPr lang="en-IN" dirty="0" err="1" smtClean="0"/>
                        <a:t>Repetation</a:t>
                      </a:r>
                      <a:endParaRPr lang="en-IN" dirty="0"/>
                    </a:p>
                  </a:txBody>
                  <a:tcPr marL="76200" marR="76200" marT="76200" marB="76200"/>
                </a:tc>
              </a:tr>
              <a:tr h="370840">
                <a:tc>
                  <a:txBody>
                    <a:bodyPr/>
                    <a:lstStyle/>
                    <a:p>
                      <a:pPr fontAlgn="t"/>
                      <a:r>
                        <a:rPr lang="en-IN" dirty="0"/>
                        <a:t>3 in </a:t>
                      </a:r>
                      <a:r>
                        <a:rPr lang="en-IN" dirty="0" smtClean="0"/>
                        <a:t>(1</a:t>
                      </a:r>
                      <a:r>
                        <a:rPr lang="en-IN" dirty="0"/>
                        <a:t>, 2, </a:t>
                      </a:r>
                      <a:r>
                        <a:rPr lang="en-IN" dirty="0" smtClean="0"/>
                        <a:t>3)</a:t>
                      </a:r>
                      <a:endParaRPr lang="en-IN" dirty="0"/>
                    </a:p>
                  </a:txBody>
                  <a:tcPr marL="76200" marR="76200" marT="76200" marB="76200"/>
                </a:tc>
                <a:tc>
                  <a:txBody>
                    <a:bodyPr/>
                    <a:lstStyle/>
                    <a:p>
                      <a:pPr fontAlgn="t"/>
                      <a:r>
                        <a:rPr lang="en-IN"/>
                        <a:t>True</a:t>
                      </a:r>
                    </a:p>
                  </a:txBody>
                  <a:tcPr marL="76200" marR="76200" marT="76200" marB="76200"/>
                </a:tc>
                <a:tc>
                  <a:txBody>
                    <a:bodyPr/>
                    <a:lstStyle/>
                    <a:p>
                      <a:pPr fontAlgn="t"/>
                      <a:r>
                        <a:rPr lang="en-IN"/>
                        <a:t>Membership</a:t>
                      </a:r>
                    </a:p>
                  </a:txBody>
                  <a:tcPr marL="76200" marR="76200" marT="76200" marB="76200"/>
                </a:tc>
              </a:tr>
              <a:tr h="370840">
                <a:tc>
                  <a:txBody>
                    <a:bodyPr/>
                    <a:lstStyle/>
                    <a:p>
                      <a:pPr fontAlgn="t"/>
                      <a:r>
                        <a:rPr lang="en-IN" dirty="0"/>
                        <a:t>for x in </a:t>
                      </a:r>
                      <a:r>
                        <a:rPr lang="en-IN" dirty="0" smtClean="0"/>
                        <a:t>(1, </a:t>
                      </a:r>
                      <a:r>
                        <a:rPr lang="en-IN" dirty="0"/>
                        <a:t>2, </a:t>
                      </a:r>
                      <a:r>
                        <a:rPr lang="en-IN" dirty="0" smtClean="0"/>
                        <a:t>3) </a:t>
                      </a:r>
                      <a:r>
                        <a:rPr lang="en-IN" dirty="0"/>
                        <a:t>print x,</a:t>
                      </a:r>
                    </a:p>
                  </a:txBody>
                  <a:tcPr marL="76200" marR="76200" marT="76200" marB="76200"/>
                </a:tc>
                <a:tc>
                  <a:txBody>
                    <a:bodyPr/>
                    <a:lstStyle/>
                    <a:p>
                      <a:pPr fontAlgn="t"/>
                      <a:r>
                        <a:rPr lang="en-IN" dirty="0"/>
                        <a:t>1 2 3</a:t>
                      </a:r>
                    </a:p>
                  </a:txBody>
                  <a:tcPr marL="76200" marR="76200" marT="76200" marB="76200"/>
                </a:tc>
                <a:tc>
                  <a:txBody>
                    <a:bodyPr/>
                    <a:lstStyle/>
                    <a:p>
                      <a:pPr fontAlgn="t"/>
                      <a:r>
                        <a:rPr lang="en-IN" dirty="0"/>
                        <a:t>Iteration</a:t>
                      </a:r>
                    </a:p>
                  </a:txBody>
                  <a:tcPr marL="76200" marR="76200" marT="76200" marB="76200"/>
                </a:tc>
              </a:tr>
            </a:tbl>
          </a:graphicData>
        </a:graphic>
      </p:graphicFrame>
      <p:sp>
        <p:nvSpPr>
          <p:cNvPr id="5" name="Title 1"/>
          <p:cNvSpPr txBox="1">
            <a:spLocks/>
          </p:cNvSpPr>
          <p:nvPr/>
        </p:nvSpPr>
        <p:spPr>
          <a:xfrm>
            <a:off x="428596" y="3143248"/>
            <a:ext cx="8229600" cy="1214446"/>
          </a:xfrm>
          <a:prstGeom prst="rect">
            <a:avLst/>
          </a:prstGeom>
        </p:spPr>
        <p:txBody>
          <a:bodyPr vert="horz" lIns="91440" tIns="45720" rIns="91440" bIns="45720" rtlCol="0" anchor="ctr">
            <a:noAutofit/>
          </a:bodyPr>
          <a:lstStyle/>
          <a:p>
            <a:pPr algn="ctr">
              <a:spcBef>
                <a:spcPct val="0"/>
              </a:spcBef>
            </a:pPr>
            <a:r>
              <a:rPr lang="en-IN" sz="4000" dirty="0" smtClean="0">
                <a:latin typeface="+mj-lt"/>
                <a:ea typeface="+mj-ea"/>
                <a:cs typeface="+mj-cs"/>
              </a:rPr>
              <a:t>Indexing, Slicing, and Matrixes</a:t>
            </a:r>
          </a:p>
          <a:p>
            <a:r>
              <a:rPr lang="en-IN" dirty="0" smtClean="0"/>
              <a:t>Assuming following input −</a:t>
            </a:r>
          </a:p>
          <a:p>
            <a:r>
              <a:rPr lang="en-IN" dirty="0" smtClean="0"/>
              <a:t>L = ['spam', 'Spam', 'SPAM!']</a:t>
            </a:r>
            <a:endParaRPr lang="en-IN" dirty="0" smtClean="0">
              <a:latin typeface="+mj-lt"/>
              <a:ea typeface="+mj-ea"/>
              <a:cs typeface="+mj-cs"/>
            </a:endParaRPr>
          </a:p>
        </p:txBody>
      </p:sp>
      <p:graphicFrame>
        <p:nvGraphicFramePr>
          <p:cNvPr id="6" name="Table 5"/>
          <p:cNvGraphicFramePr>
            <a:graphicFrameLocks noGrp="1"/>
          </p:cNvGraphicFramePr>
          <p:nvPr/>
        </p:nvGraphicFramePr>
        <p:xfrm>
          <a:off x="500034" y="4450080"/>
          <a:ext cx="8358246" cy="2407920"/>
        </p:xfrm>
        <a:graphic>
          <a:graphicData uri="http://schemas.openxmlformats.org/drawingml/2006/table">
            <a:tbl>
              <a:tblPr firstRow="1" bandRow="1">
                <a:tableStyleId>{5C22544A-7EE6-4342-B048-85BDC9FD1C3A}</a:tableStyleId>
              </a:tblPr>
              <a:tblGrid>
                <a:gridCol w="2286016"/>
                <a:gridCol w="2500330"/>
                <a:gridCol w="3571900"/>
              </a:tblGrid>
              <a:tr h="370840">
                <a:tc>
                  <a:txBody>
                    <a:bodyPr/>
                    <a:lstStyle/>
                    <a:p>
                      <a:pPr algn="ctr" fontAlgn="t"/>
                      <a:r>
                        <a:rPr lang="en-IN" dirty="0"/>
                        <a:t>Python Expression</a:t>
                      </a:r>
                    </a:p>
                  </a:txBody>
                  <a:tcPr marL="76200" marR="76200" marT="76200" marB="76200"/>
                </a:tc>
                <a:tc>
                  <a:txBody>
                    <a:bodyPr/>
                    <a:lstStyle/>
                    <a:p>
                      <a:pPr algn="ctr" fontAlgn="t"/>
                      <a:r>
                        <a:rPr lang="en-IN" dirty="0"/>
                        <a:t>Results</a:t>
                      </a:r>
                    </a:p>
                  </a:txBody>
                  <a:tcPr marL="76200" marR="76200" marT="76200" marB="76200"/>
                </a:tc>
                <a:tc>
                  <a:txBody>
                    <a:bodyPr/>
                    <a:lstStyle/>
                    <a:p>
                      <a:pPr algn="ctr" fontAlgn="t"/>
                      <a:r>
                        <a:rPr lang="en-IN" dirty="0"/>
                        <a:t>Description</a:t>
                      </a:r>
                    </a:p>
                  </a:txBody>
                  <a:tcPr marL="76200" marR="76200" marT="76200" marB="76200"/>
                </a:tc>
              </a:tr>
              <a:tr h="370840">
                <a:tc>
                  <a:txBody>
                    <a:bodyPr/>
                    <a:lstStyle/>
                    <a:p>
                      <a:pPr fontAlgn="t"/>
                      <a:r>
                        <a:rPr lang="en-IN" dirty="0"/>
                        <a:t>t</a:t>
                      </a:r>
                      <a:r>
                        <a:rPr lang="en-IN" dirty="0" smtClean="0"/>
                        <a:t>[2</a:t>
                      </a:r>
                      <a:r>
                        <a:rPr lang="en-IN" dirty="0"/>
                        <a:t>]</a:t>
                      </a:r>
                    </a:p>
                  </a:txBody>
                  <a:tcPr marL="76200" marR="76200" marT="76200" marB="76200"/>
                </a:tc>
                <a:tc>
                  <a:txBody>
                    <a:bodyPr/>
                    <a:lstStyle/>
                    <a:p>
                      <a:pPr fontAlgn="t"/>
                      <a:r>
                        <a:rPr lang="en-IN"/>
                        <a:t>SPAM!</a:t>
                      </a:r>
                    </a:p>
                  </a:txBody>
                  <a:tcPr marL="76200" marR="76200" marT="76200" marB="76200"/>
                </a:tc>
                <a:tc>
                  <a:txBody>
                    <a:bodyPr/>
                    <a:lstStyle/>
                    <a:p>
                      <a:pPr fontAlgn="t"/>
                      <a:r>
                        <a:rPr lang="en-IN"/>
                        <a:t>Offsets start at zero</a:t>
                      </a:r>
                    </a:p>
                  </a:txBody>
                  <a:tcPr marL="76200" marR="76200" marT="76200" marB="76200"/>
                </a:tc>
              </a:tr>
              <a:tr h="370840">
                <a:tc>
                  <a:txBody>
                    <a:bodyPr/>
                    <a:lstStyle/>
                    <a:p>
                      <a:pPr algn="l" fontAlgn="t"/>
                      <a:r>
                        <a:rPr lang="en-IN" dirty="0"/>
                        <a:t>t</a:t>
                      </a:r>
                      <a:r>
                        <a:rPr lang="en-IN" dirty="0" smtClean="0"/>
                        <a:t>[-</a:t>
                      </a:r>
                      <a:r>
                        <a:rPr lang="en-IN" dirty="0"/>
                        <a:t>2]</a:t>
                      </a:r>
                    </a:p>
                  </a:txBody>
                  <a:tcPr marL="76200" marR="76200" marT="76200" marB="76200"/>
                </a:tc>
                <a:tc>
                  <a:txBody>
                    <a:bodyPr/>
                    <a:lstStyle/>
                    <a:p>
                      <a:pPr algn="l" fontAlgn="t"/>
                      <a:r>
                        <a:rPr lang="en-IN" dirty="0"/>
                        <a:t>Spam</a:t>
                      </a:r>
                    </a:p>
                  </a:txBody>
                  <a:tcPr marL="76200" marR="76200" marT="76200" marB="76200"/>
                </a:tc>
                <a:tc>
                  <a:txBody>
                    <a:bodyPr/>
                    <a:lstStyle/>
                    <a:p>
                      <a:pPr fontAlgn="t"/>
                      <a:r>
                        <a:rPr lang="en-IN" dirty="0"/>
                        <a:t>Negative: count from the right</a:t>
                      </a:r>
                    </a:p>
                  </a:txBody>
                  <a:tcPr marL="76200" marR="76200" marT="76200" marB="76200"/>
                </a:tc>
              </a:tr>
              <a:tr h="370840">
                <a:tc>
                  <a:txBody>
                    <a:bodyPr/>
                    <a:lstStyle/>
                    <a:p>
                      <a:pPr fontAlgn="t"/>
                      <a:r>
                        <a:rPr lang="en-IN" dirty="0"/>
                        <a:t>t</a:t>
                      </a:r>
                      <a:r>
                        <a:rPr lang="en-IN" dirty="0" smtClean="0"/>
                        <a:t>[1</a:t>
                      </a:r>
                      <a:r>
                        <a:rPr lang="en-IN" dirty="0"/>
                        <a:t>:]</a:t>
                      </a:r>
                    </a:p>
                  </a:txBody>
                  <a:tcPr marL="76200" marR="76200" marT="76200" marB="76200"/>
                </a:tc>
                <a:tc>
                  <a:txBody>
                    <a:bodyPr/>
                    <a:lstStyle/>
                    <a:p>
                      <a:pPr fontAlgn="t"/>
                      <a:r>
                        <a:rPr lang="en-IN"/>
                        <a:t>['Spam', 'SPAM!']</a:t>
                      </a:r>
                    </a:p>
                  </a:txBody>
                  <a:tcPr marL="76200" marR="76200" marT="76200" marB="76200"/>
                </a:tc>
                <a:tc>
                  <a:txBody>
                    <a:bodyPr/>
                    <a:lstStyle/>
                    <a:p>
                      <a:pPr fontAlgn="t"/>
                      <a:r>
                        <a:rPr lang="en-IN" dirty="0"/>
                        <a:t>Slicing fetches sections</a:t>
                      </a:r>
                    </a:p>
                  </a:txBody>
                  <a:tcPr marL="76200" marR="76200" marT="76200" marB="76200"/>
                </a:tc>
              </a:tr>
              <a:tr h="370840">
                <a:tc>
                  <a:txBody>
                    <a:bodyPr/>
                    <a:lstStyle/>
                    <a:p>
                      <a:pPr fontAlgn="t"/>
                      <a:r>
                        <a:rPr lang="en-IN" dirty="0" smtClean="0"/>
                        <a:t>t[1:10:2]</a:t>
                      </a:r>
                      <a:endParaRPr lang="en-IN" dirty="0"/>
                    </a:p>
                  </a:txBody>
                  <a:tcPr marL="76200" marR="76200" marT="76200" marB="76200"/>
                </a:tc>
                <a:tc>
                  <a:txBody>
                    <a:bodyPr/>
                    <a:lstStyle/>
                    <a:p>
                      <a:pPr fontAlgn="t"/>
                      <a:r>
                        <a:rPr lang="en-IN" dirty="0" smtClean="0"/>
                        <a:t>[1, 3, 5, 7, 9]</a:t>
                      </a:r>
                      <a:endParaRPr lang="en-IN" dirty="0"/>
                    </a:p>
                  </a:txBody>
                  <a:tcPr marL="76200" marR="76200" marT="76200" marB="76200"/>
                </a:tc>
                <a:tc>
                  <a:txBody>
                    <a:bodyPr/>
                    <a:lstStyle/>
                    <a:p>
                      <a:pPr fontAlgn="t"/>
                      <a:r>
                        <a:rPr lang="en-IN" dirty="0" smtClean="0"/>
                        <a:t>Step</a:t>
                      </a:r>
                      <a:r>
                        <a:rPr lang="en-IN" baseline="0" dirty="0" smtClean="0"/>
                        <a:t> operation increment the value by 2</a:t>
                      </a:r>
                      <a:endParaRPr lang="en-IN" dirty="0"/>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582594"/>
          </a:xfrm>
        </p:spPr>
        <p:txBody>
          <a:bodyPr>
            <a:normAutofit fontScale="90000"/>
          </a:bodyPr>
          <a:lstStyle/>
          <a:p>
            <a:r>
              <a:rPr lang="en-IN" dirty="0" smtClean="0"/>
              <a:t>Built-in List Functions &amp; Methods</a:t>
            </a:r>
            <a:endParaRPr lang="en-IN" dirty="0"/>
          </a:p>
        </p:txBody>
      </p:sp>
      <p:graphicFrame>
        <p:nvGraphicFramePr>
          <p:cNvPr id="5" name="Content Placeholder 4"/>
          <p:cNvGraphicFramePr>
            <a:graphicFrameLocks noGrp="1"/>
          </p:cNvGraphicFramePr>
          <p:nvPr>
            <p:ph idx="1"/>
          </p:nvPr>
        </p:nvGraphicFramePr>
        <p:xfrm>
          <a:off x="285720" y="1071546"/>
          <a:ext cx="8643999" cy="2987040"/>
        </p:xfrm>
        <a:graphic>
          <a:graphicData uri="http://schemas.openxmlformats.org/drawingml/2006/table">
            <a:tbl>
              <a:tblPr firstRow="1" bandRow="1">
                <a:tableStyleId>{5C22544A-7EE6-4342-B048-85BDC9FD1C3A}</a:tableStyleId>
              </a:tblPr>
              <a:tblGrid>
                <a:gridCol w="825388"/>
                <a:gridCol w="2596189"/>
                <a:gridCol w="5222422"/>
              </a:tblGrid>
              <a:tr h="370840">
                <a:tc>
                  <a:txBody>
                    <a:bodyPr/>
                    <a:lstStyle/>
                    <a:p>
                      <a:pPr algn="ctr" fontAlgn="t"/>
                      <a:r>
                        <a:rPr lang="en-IN" dirty="0" err="1"/>
                        <a:t>Sr.No</a:t>
                      </a:r>
                      <a:r>
                        <a:rPr lang="en-IN" dirty="0"/>
                        <a:t>.</a:t>
                      </a:r>
                    </a:p>
                  </a:txBody>
                  <a:tcPr marL="76200" marR="76200" marT="76200" marB="76200"/>
                </a:tc>
                <a:tc>
                  <a:txBody>
                    <a:bodyPr/>
                    <a:lstStyle/>
                    <a:p>
                      <a:pPr algn="ctr" fontAlgn="t"/>
                      <a:r>
                        <a:rPr lang="en-IN" dirty="0" smtClean="0"/>
                        <a:t>Function</a:t>
                      </a:r>
                      <a:endParaRPr lang="en-IN" dirty="0"/>
                    </a:p>
                  </a:txBody>
                  <a:tcPr marL="76200" marR="76200" marT="76200" marB="76200"/>
                </a:tc>
                <a:tc>
                  <a:txBody>
                    <a:bodyPr/>
                    <a:lstStyle/>
                    <a:p>
                      <a:pPr algn="ctr"/>
                      <a:r>
                        <a:rPr lang="en-IN" dirty="0" smtClean="0"/>
                        <a:t>Description</a:t>
                      </a:r>
                      <a:endParaRPr lang="en-IN" dirty="0"/>
                    </a:p>
                  </a:txBody>
                  <a:tcPr/>
                </a:tc>
              </a:tr>
              <a:tr h="370840">
                <a:tc>
                  <a:txBody>
                    <a:bodyPr/>
                    <a:lstStyle/>
                    <a:p>
                      <a:pPr algn="ctr"/>
                      <a:r>
                        <a:rPr lang="en-IN" dirty="0" smtClean="0"/>
                        <a:t>1</a:t>
                      </a:r>
                      <a:endParaRPr lang="en-IN" dirty="0"/>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err="1" smtClean="0">
                          <a:solidFill>
                            <a:schemeClr val="dk1"/>
                          </a:solidFill>
                          <a:latin typeface="+mn-lt"/>
                          <a:ea typeface="+mn-ea"/>
                          <a:cs typeface="+mn-cs"/>
                        </a:rPr>
                        <a:t>len</a:t>
                      </a:r>
                      <a:r>
                        <a:rPr lang="en-IN" sz="1800" kern="1200" dirty="0" smtClean="0">
                          <a:solidFill>
                            <a:schemeClr val="dk1"/>
                          </a:solidFill>
                          <a:latin typeface="+mn-lt"/>
                          <a:ea typeface="+mn-ea"/>
                          <a:cs typeface="+mn-cs"/>
                        </a:rPr>
                        <a:t>(list)  </a:t>
                      </a:r>
                    </a:p>
                  </a:txBody>
                  <a:tcPr marL="76200" marR="76200" marT="76200" marB="76200"/>
                </a:tc>
                <a:tc>
                  <a:txBody>
                    <a:bodyPr/>
                    <a:lstStyle/>
                    <a:p>
                      <a:pPr algn="l"/>
                      <a:r>
                        <a:rPr lang="en-IN" dirty="0" smtClean="0">
                          <a:solidFill>
                            <a:srgbClr val="000000"/>
                          </a:solidFill>
                        </a:rPr>
                        <a:t>Gives the total length of the list.</a:t>
                      </a:r>
                      <a:endParaRPr lang="en-IN" dirty="0"/>
                    </a:p>
                  </a:txBody>
                  <a:tcPr/>
                </a:tc>
              </a:tr>
              <a:tr h="370840">
                <a:tc>
                  <a:txBody>
                    <a:bodyPr/>
                    <a:lstStyle/>
                    <a:p>
                      <a:pPr algn="ctr" fontAlgn="t"/>
                      <a:r>
                        <a:rPr lang="en-IN" dirty="0"/>
                        <a:t>2</a:t>
                      </a:r>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latin typeface="+mn-lt"/>
                          <a:ea typeface="+mn-ea"/>
                          <a:cs typeface="+mn-cs"/>
                        </a:rPr>
                        <a:t>max(list)  </a:t>
                      </a:r>
                    </a:p>
                  </a:txBody>
                  <a:tcPr marL="76200" marR="76200" marT="76200" marB="76200"/>
                </a:tc>
                <a:tc>
                  <a:txBody>
                    <a:bodyPr/>
                    <a:lstStyle/>
                    <a:p>
                      <a:pPr algn="l"/>
                      <a:r>
                        <a:rPr lang="en-IN" dirty="0" smtClean="0">
                          <a:solidFill>
                            <a:srgbClr val="000000"/>
                          </a:solidFill>
                        </a:rPr>
                        <a:t>Returns item from the list with max value.</a:t>
                      </a:r>
                      <a:endParaRPr lang="en-IN" dirty="0"/>
                    </a:p>
                  </a:txBody>
                  <a:tcPr/>
                </a:tc>
              </a:tr>
              <a:tr h="370840">
                <a:tc>
                  <a:txBody>
                    <a:bodyPr/>
                    <a:lstStyle/>
                    <a:p>
                      <a:pPr algn="ctr" fontAlgn="t"/>
                      <a:r>
                        <a:rPr lang="en-IN" dirty="0"/>
                        <a:t>3</a:t>
                      </a:r>
                    </a:p>
                  </a:txBody>
                  <a:tcPr marL="76200" marR="76200" marT="76200" marB="76200"/>
                </a:tc>
                <a:tc>
                  <a:txBody>
                    <a:bodyPr/>
                    <a:lstStyle/>
                    <a:p>
                      <a:r>
                        <a:rPr lang="en-IN" sz="1800" kern="1200" dirty="0" smtClean="0">
                          <a:solidFill>
                            <a:schemeClr val="dk1"/>
                          </a:solidFill>
                          <a:latin typeface="+mn-lt"/>
                          <a:ea typeface="+mn-ea"/>
                          <a:cs typeface="+mn-cs"/>
                        </a:rPr>
                        <a:t>min(list) </a:t>
                      </a:r>
                      <a:endParaRPr lang="en-IN" dirty="0"/>
                    </a:p>
                  </a:txBody>
                  <a:tcPr marL="76200" marR="76200" marT="76200" marB="76200"/>
                </a:tc>
                <a:tc>
                  <a:txBody>
                    <a:bodyPr/>
                    <a:lstStyle/>
                    <a:p>
                      <a:pPr algn="l"/>
                      <a:r>
                        <a:rPr lang="en-IN" dirty="0" smtClean="0">
                          <a:solidFill>
                            <a:srgbClr val="000000"/>
                          </a:solidFill>
                        </a:rPr>
                        <a:t>Returns item from the list with min value.</a:t>
                      </a:r>
                      <a:endParaRPr lang="en-IN" dirty="0"/>
                    </a:p>
                  </a:txBody>
                  <a:tcPr/>
                </a:tc>
              </a:tr>
              <a:tr h="370840">
                <a:tc>
                  <a:txBody>
                    <a:bodyPr/>
                    <a:lstStyle/>
                    <a:p>
                      <a:pPr algn="ctr" fontAlgn="t"/>
                      <a:r>
                        <a:rPr lang="en-IN" dirty="0"/>
                        <a:t>4</a:t>
                      </a:r>
                    </a:p>
                  </a:txBody>
                  <a:tcPr marL="76200" marR="76200" marT="76200" marB="76200"/>
                </a:tc>
                <a:tc>
                  <a:txBody>
                    <a:bodyPr/>
                    <a:lstStyle/>
                    <a:p>
                      <a:r>
                        <a:rPr lang="en-IN" sz="1800" kern="1200" dirty="0" err="1" smtClean="0">
                          <a:solidFill>
                            <a:schemeClr val="dk1"/>
                          </a:solidFill>
                          <a:latin typeface="+mn-lt"/>
                          <a:ea typeface="+mn-ea"/>
                          <a:cs typeface="+mn-cs"/>
                        </a:rPr>
                        <a:t>tuple</a:t>
                      </a:r>
                      <a:r>
                        <a:rPr lang="en-IN" sz="1800" kern="1200" dirty="0" smtClean="0">
                          <a:solidFill>
                            <a:schemeClr val="dk1"/>
                          </a:solidFill>
                          <a:latin typeface="+mn-lt"/>
                          <a:ea typeface="+mn-ea"/>
                          <a:cs typeface="+mn-cs"/>
                        </a:rPr>
                        <a:t>(</a:t>
                      </a:r>
                      <a:r>
                        <a:rPr lang="en-IN" sz="1800" kern="1200" dirty="0" err="1" smtClean="0">
                          <a:solidFill>
                            <a:schemeClr val="dk1"/>
                          </a:solidFill>
                          <a:latin typeface="+mn-lt"/>
                          <a:ea typeface="+mn-ea"/>
                          <a:cs typeface="+mn-cs"/>
                        </a:rPr>
                        <a:t>seq</a:t>
                      </a:r>
                      <a:r>
                        <a:rPr lang="en-IN" sz="1800" kern="1200" dirty="0" smtClean="0">
                          <a:solidFill>
                            <a:schemeClr val="dk1"/>
                          </a:solidFill>
                          <a:latin typeface="+mn-lt"/>
                          <a:ea typeface="+mn-ea"/>
                          <a:cs typeface="+mn-cs"/>
                        </a:rPr>
                        <a:t>) </a:t>
                      </a:r>
                      <a:endParaRPr lang="en-IN" dirty="0"/>
                    </a:p>
                  </a:txBody>
                  <a:tcPr marL="76200" marR="76200" marT="76200" marB="76200"/>
                </a:tc>
                <a:tc>
                  <a:txBody>
                    <a:bodyPr/>
                    <a:lstStyle/>
                    <a:p>
                      <a:pPr algn="l"/>
                      <a:r>
                        <a:rPr lang="en-IN" dirty="0" smtClean="0">
                          <a:solidFill>
                            <a:srgbClr val="000000"/>
                          </a:solidFill>
                        </a:rPr>
                        <a:t>Converts a </a:t>
                      </a:r>
                      <a:r>
                        <a:rPr lang="en-IN" dirty="0" err="1" smtClean="0">
                          <a:solidFill>
                            <a:srgbClr val="000000"/>
                          </a:solidFill>
                        </a:rPr>
                        <a:t>tuple</a:t>
                      </a:r>
                      <a:r>
                        <a:rPr lang="en-IN" dirty="0" smtClean="0">
                          <a:solidFill>
                            <a:srgbClr val="000000"/>
                          </a:solidFill>
                        </a:rPr>
                        <a:t> into list.</a:t>
                      </a:r>
                      <a:endParaRPr lang="en-IN" dirty="0"/>
                    </a:p>
                  </a:txBody>
                  <a:tcPr/>
                </a:tc>
              </a:tr>
              <a:tr h="370840">
                <a:tc>
                  <a:txBody>
                    <a:bodyPr/>
                    <a:lstStyle/>
                    <a:p>
                      <a:pPr algn="ctr" fontAlgn="t"/>
                      <a:r>
                        <a:rPr lang="en-IN" dirty="0" smtClean="0"/>
                        <a:t>5</a:t>
                      </a:r>
                      <a:endParaRPr lang="en-IN" dirty="0"/>
                    </a:p>
                  </a:txBody>
                  <a:tcPr marL="76200" marR="76200" marT="76200" marB="76200"/>
                </a:tc>
                <a:tc>
                  <a:txBody>
                    <a:bodyPr/>
                    <a:lstStyle/>
                    <a:p>
                      <a:r>
                        <a:rPr lang="en-IN" sz="1800" kern="1200" dirty="0" err="1" smtClean="0">
                          <a:solidFill>
                            <a:schemeClr val="dk1"/>
                          </a:solidFill>
                          <a:latin typeface="+mn-lt"/>
                          <a:ea typeface="+mn-ea"/>
                          <a:cs typeface="+mn-cs"/>
                        </a:rPr>
                        <a:t>list.count</a:t>
                      </a:r>
                      <a:r>
                        <a:rPr lang="en-IN" sz="1800" kern="1200" dirty="0" smtClean="0">
                          <a:solidFill>
                            <a:schemeClr val="dk1"/>
                          </a:solidFill>
                          <a:latin typeface="+mn-lt"/>
                          <a:ea typeface="+mn-ea"/>
                          <a:cs typeface="+mn-cs"/>
                        </a:rPr>
                        <a:t>(</a:t>
                      </a:r>
                      <a:r>
                        <a:rPr lang="en-IN" sz="1800" kern="1200" dirty="0" err="1" smtClean="0">
                          <a:solidFill>
                            <a:schemeClr val="dk1"/>
                          </a:solidFill>
                          <a:latin typeface="+mn-lt"/>
                          <a:ea typeface="+mn-ea"/>
                          <a:cs typeface="+mn-cs"/>
                        </a:rPr>
                        <a:t>obj</a:t>
                      </a:r>
                      <a:r>
                        <a:rPr lang="en-IN" sz="1800" kern="1200" dirty="0" smtClean="0">
                          <a:solidFill>
                            <a:schemeClr val="dk1"/>
                          </a:solidFill>
                          <a:latin typeface="+mn-lt"/>
                          <a:ea typeface="+mn-ea"/>
                          <a:cs typeface="+mn-cs"/>
                        </a:rPr>
                        <a:t>)</a:t>
                      </a:r>
                      <a:endParaRPr lang="en-IN" dirty="0"/>
                    </a:p>
                  </a:txBody>
                  <a:tcPr marL="76200" marR="76200" marT="76200" marB="76200"/>
                </a:tc>
                <a:tc>
                  <a:txBody>
                    <a:bodyPr/>
                    <a:lstStyle/>
                    <a:p>
                      <a:pPr algn="l"/>
                      <a:r>
                        <a:rPr lang="en-IN" dirty="0" smtClean="0">
                          <a:solidFill>
                            <a:srgbClr val="000000"/>
                          </a:solidFill>
                        </a:rPr>
                        <a:t>Returns count of how many times </a:t>
                      </a:r>
                      <a:r>
                        <a:rPr lang="en-IN" dirty="0" err="1" smtClean="0">
                          <a:solidFill>
                            <a:srgbClr val="000000"/>
                          </a:solidFill>
                        </a:rPr>
                        <a:t>obj</a:t>
                      </a:r>
                      <a:r>
                        <a:rPr lang="en-IN" dirty="0" smtClean="0">
                          <a:solidFill>
                            <a:srgbClr val="000000"/>
                          </a:solidFill>
                        </a:rPr>
                        <a:t> occurs in list</a:t>
                      </a:r>
                      <a:endParaRPr lang="en-IN" dirty="0"/>
                    </a:p>
                  </a:txBody>
                  <a:tcPr/>
                </a:tc>
              </a:tr>
              <a:tr h="370840">
                <a:tc>
                  <a:txBody>
                    <a:bodyPr/>
                    <a:lstStyle/>
                    <a:p>
                      <a:pPr algn="ctr" fontAlgn="t"/>
                      <a:r>
                        <a:rPr lang="en-IN" dirty="0" smtClean="0"/>
                        <a:t>6</a:t>
                      </a:r>
                      <a:endParaRPr lang="en-IN" dirty="0"/>
                    </a:p>
                  </a:txBody>
                  <a:tcPr marL="76200" marR="76200" marT="76200" marB="76200"/>
                </a:tc>
                <a:tc>
                  <a:txBody>
                    <a:bodyPr/>
                    <a:lstStyle/>
                    <a:p>
                      <a:r>
                        <a:rPr lang="en-IN" sz="1800" kern="1200" dirty="0" err="1" smtClean="0">
                          <a:solidFill>
                            <a:schemeClr val="dk1"/>
                          </a:solidFill>
                          <a:latin typeface="+mn-lt"/>
                          <a:ea typeface="+mn-ea"/>
                          <a:cs typeface="+mn-cs"/>
                        </a:rPr>
                        <a:t>list.index</a:t>
                      </a:r>
                      <a:r>
                        <a:rPr lang="en-IN" sz="1800" kern="1200" dirty="0" smtClean="0">
                          <a:solidFill>
                            <a:schemeClr val="dk1"/>
                          </a:solidFill>
                          <a:latin typeface="+mn-lt"/>
                          <a:ea typeface="+mn-ea"/>
                          <a:cs typeface="+mn-cs"/>
                        </a:rPr>
                        <a:t>(</a:t>
                      </a:r>
                      <a:r>
                        <a:rPr lang="en-IN" sz="1800" kern="1200" dirty="0" err="1" smtClean="0">
                          <a:solidFill>
                            <a:schemeClr val="dk1"/>
                          </a:solidFill>
                          <a:latin typeface="+mn-lt"/>
                          <a:ea typeface="+mn-ea"/>
                          <a:cs typeface="+mn-cs"/>
                        </a:rPr>
                        <a:t>obj</a:t>
                      </a:r>
                      <a:r>
                        <a:rPr lang="en-IN" sz="1800" kern="1200" dirty="0" smtClean="0">
                          <a:solidFill>
                            <a:schemeClr val="dk1"/>
                          </a:solidFill>
                          <a:latin typeface="+mn-lt"/>
                          <a:ea typeface="+mn-ea"/>
                          <a:cs typeface="+mn-cs"/>
                        </a:rPr>
                        <a:t>) </a:t>
                      </a:r>
                      <a:endParaRPr lang="en-IN" dirty="0"/>
                    </a:p>
                  </a:txBody>
                  <a:tcPr marL="76200" marR="76200" marT="76200" marB="76200"/>
                </a:tc>
                <a:tc>
                  <a:txBody>
                    <a:bodyPr/>
                    <a:lstStyle/>
                    <a:p>
                      <a:pPr algn="l"/>
                      <a:r>
                        <a:rPr lang="en-IN" dirty="0" smtClean="0">
                          <a:solidFill>
                            <a:srgbClr val="000000"/>
                          </a:solidFill>
                        </a:rPr>
                        <a:t>Returns the lowest index in list that </a:t>
                      </a:r>
                      <a:r>
                        <a:rPr lang="en-IN" dirty="0" err="1" smtClean="0">
                          <a:solidFill>
                            <a:srgbClr val="000000"/>
                          </a:solidFill>
                        </a:rPr>
                        <a:t>obj</a:t>
                      </a:r>
                      <a:r>
                        <a:rPr lang="en-IN" dirty="0" smtClean="0">
                          <a:solidFill>
                            <a:srgbClr val="000000"/>
                          </a:solidFill>
                        </a:rPr>
                        <a:t> appears</a:t>
                      </a:r>
                      <a:endParaRPr lang="en-IN" dirty="0"/>
                    </a:p>
                  </a:txBody>
                  <a:tcPr/>
                </a:tc>
              </a:tr>
            </a:tbl>
          </a:graphicData>
        </a:graphic>
      </p:graphicFrame>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Dictionary</a:t>
            </a:r>
            <a:endParaRPr lang="en-IN" dirty="0"/>
          </a:p>
        </p:txBody>
      </p:sp>
      <p:sp>
        <p:nvSpPr>
          <p:cNvPr id="3" name="Content Placeholder 2"/>
          <p:cNvSpPr>
            <a:spLocks noGrp="1"/>
          </p:cNvSpPr>
          <p:nvPr>
            <p:ph idx="1"/>
          </p:nvPr>
        </p:nvSpPr>
        <p:spPr>
          <a:xfrm>
            <a:off x="457200" y="1071546"/>
            <a:ext cx="8229600" cy="5643602"/>
          </a:xfrm>
        </p:spPr>
        <p:txBody>
          <a:bodyPr>
            <a:normAutofit lnSpcReduction="10000"/>
          </a:bodyPr>
          <a:lstStyle/>
          <a:p>
            <a:r>
              <a:rPr lang="en-IN" dirty="0" smtClean="0"/>
              <a:t>Its the combination of user defined key and value pair.</a:t>
            </a:r>
          </a:p>
          <a:p>
            <a:r>
              <a:rPr lang="en-IN" dirty="0" smtClean="0"/>
              <a:t>Each key is separated from its value by a colon (:).</a:t>
            </a:r>
          </a:p>
          <a:p>
            <a:r>
              <a:rPr lang="en-IN" dirty="0" smtClean="0"/>
              <a:t>The items are separated by commas, and the whole thing is enclosed in curly braces.</a:t>
            </a:r>
          </a:p>
          <a:p>
            <a:r>
              <a:rPr lang="en-IN" b="1" dirty="0" smtClean="0"/>
              <a:t>Keys are unique </a:t>
            </a:r>
            <a:r>
              <a:rPr lang="en-IN" dirty="0" smtClean="0"/>
              <a:t>within a dictionary while values may not be.</a:t>
            </a:r>
          </a:p>
          <a:p>
            <a:r>
              <a:rPr lang="en-IN" dirty="0" smtClean="0"/>
              <a:t>The values of a dictionary can be of any type, but the keys must be of an immutable data type such as strings, numbers, or </a:t>
            </a:r>
            <a:r>
              <a:rPr lang="en-IN" dirty="0" err="1" smtClean="0"/>
              <a:t>tuples</a:t>
            </a:r>
            <a:r>
              <a:rPr lang="en-IN" dirty="0" smtClean="0"/>
              <a:t>.</a:t>
            </a:r>
          </a:p>
          <a:p>
            <a:endParaRPr lang="en-IN"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Accessing Values in Dictionary</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To access dictionary elements, use the square brackets along with the key to obtain its value.</a:t>
            </a:r>
          </a:p>
          <a:p>
            <a:endParaRPr lang="en-IN" dirty="0" smtClean="0"/>
          </a:p>
          <a:p>
            <a:pPr lvl="1"/>
            <a:r>
              <a:rPr lang="en-IN" dirty="0" smtClean="0"/>
              <a:t>d = {1:'Anand','2':'Bala'}</a:t>
            </a:r>
          </a:p>
          <a:p>
            <a:pPr lvl="1"/>
            <a:r>
              <a:rPr lang="en-IN" dirty="0" smtClean="0"/>
              <a:t>print(d[1])</a:t>
            </a:r>
          </a:p>
          <a:p>
            <a:pPr lvl="1"/>
            <a:r>
              <a:rPr lang="en-IN" dirty="0" smtClean="0"/>
              <a:t>print(d['2'])</a:t>
            </a:r>
          </a:p>
          <a:p>
            <a:pPr lvl="1"/>
            <a:endParaRPr lang="en-IN" dirty="0" smtClean="0"/>
          </a:p>
          <a:p>
            <a:r>
              <a:rPr lang="en-IN" dirty="0" smtClean="0"/>
              <a:t>If we attempt to access a data item with a key, which is not a part of the dictionary, we get an error</a:t>
            </a:r>
            <a:endParaRPr lang="en-IN"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Updating Dictionary</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You can update a dictionary by adding a new entry or a key-value pair</a:t>
            </a:r>
          </a:p>
          <a:p>
            <a:endParaRPr lang="en-IN" dirty="0" smtClean="0"/>
          </a:p>
          <a:p>
            <a:pPr lvl="1"/>
            <a:r>
              <a:rPr lang="en-IN" dirty="0" smtClean="0"/>
              <a:t>d[1] = '</a:t>
            </a:r>
            <a:r>
              <a:rPr lang="en-IN" dirty="0" err="1" smtClean="0"/>
              <a:t>Anand</a:t>
            </a:r>
            <a:r>
              <a:rPr lang="en-IN" dirty="0" smtClean="0"/>
              <a:t> Kumar'</a:t>
            </a:r>
          </a:p>
          <a:p>
            <a:pPr lvl="1"/>
            <a:r>
              <a:rPr lang="en-IN" dirty="0" smtClean="0"/>
              <a:t>print(d[1])</a:t>
            </a:r>
          </a:p>
          <a:p>
            <a:pPr lvl="1"/>
            <a:r>
              <a:rPr lang="en-IN" dirty="0" smtClean="0"/>
              <a:t>print(d['2'])</a:t>
            </a:r>
          </a:p>
          <a:p>
            <a:pPr lvl="1"/>
            <a:endParaRPr lang="en-IN" dirty="0" smtClean="0"/>
          </a:p>
          <a:p>
            <a:endParaRPr lang="en-IN"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Delete Dictionary Elements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You can either remove individual dictionary elements or clear the entire contents of a dictionary. </a:t>
            </a:r>
          </a:p>
          <a:p>
            <a:r>
              <a:rPr lang="en-IN" dirty="0" smtClean="0"/>
              <a:t>You can also delete entire dictionary in a single operation.</a:t>
            </a:r>
          </a:p>
          <a:p>
            <a:pPr lvl="1"/>
            <a:r>
              <a:rPr lang="en-IN" dirty="0" smtClean="0"/>
              <a:t>del(d[1])</a:t>
            </a:r>
          </a:p>
          <a:p>
            <a:pPr lvl="1"/>
            <a:r>
              <a:rPr lang="en-IN" dirty="0" smtClean="0"/>
              <a:t>del d[1]</a:t>
            </a:r>
          </a:p>
          <a:p>
            <a:pPr lvl="1"/>
            <a:r>
              <a:rPr lang="en-IN" dirty="0" smtClean="0"/>
              <a:t>del (d)</a:t>
            </a:r>
          </a:p>
          <a:p>
            <a:pPr lvl="1"/>
            <a:r>
              <a:rPr lang="en-IN" dirty="0" err="1" smtClean="0"/>
              <a:t>d.clear</a:t>
            </a:r>
            <a:r>
              <a:rPr lang="en-IN" dirty="0" smtClean="0"/>
              <a:t>()</a:t>
            </a:r>
          </a:p>
          <a:p>
            <a:pPr lvl="1"/>
            <a:endParaRPr lang="en-IN"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Properties of Dictionary Keys</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There are two important points to remember about dictionary keys</a:t>
            </a:r>
          </a:p>
          <a:p>
            <a:pPr lvl="1"/>
            <a:r>
              <a:rPr lang="en-IN" dirty="0" smtClean="0"/>
              <a:t>No duplicate key is allowed. </a:t>
            </a:r>
          </a:p>
          <a:p>
            <a:pPr lvl="1"/>
            <a:r>
              <a:rPr lang="en-IN" dirty="0" smtClean="0"/>
              <a:t>When duplicate keys are encountered during assignment, the last assigned value only retains.</a:t>
            </a:r>
          </a:p>
          <a:p>
            <a:pPr lvl="1"/>
            <a:r>
              <a:rPr lang="en-IN" dirty="0" smtClean="0"/>
              <a:t>Keys must be immutable. </a:t>
            </a:r>
          </a:p>
          <a:p>
            <a:pPr lvl="1"/>
            <a:r>
              <a:rPr lang="en-IN" dirty="0" smtClean="0"/>
              <a:t>You can use strings, numbers or </a:t>
            </a:r>
            <a:r>
              <a:rPr lang="en-IN" dirty="0" err="1" smtClean="0"/>
              <a:t>tuples</a:t>
            </a:r>
            <a:r>
              <a:rPr lang="en-IN" dirty="0" smtClean="0"/>
              <a:t> as dictionary keys but something like {</a:t>
            </a:r>
            <a:r>
              <a:rPr lang="en-IN" dirty="0" err="1" smtClean="0"/>
              <a:t>list,tuple</a:t>
            </a:r>
            <a:r>
              <a:rPr lang="en-IN" dirty="0" smtClean="0"/>
              <a:t>} is not allowed. </a:t>
            </a:r>
            <a:endParaRPr lang="en-IN"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796908"/>
          </a:xfrm>
        </p:spPr>
        <p:txBody>
          <a:bodyPr>
            <a:normAutofit/>
          </a:bodyPr>
          <a:lstStyle/>
          <a:p>
            <a:r>
              <a:rPr lang="en-IN" sz="3200" dirty="0" smtClean="0"/>
              <a:t>Built-in Dictionary Functions and Methods</a:t>
            </a:r>
            <a:endParaRPr lang="en-IN" sz="3200" dirty="0"/>
          </a:p>
        </p:txBody>
      </p:sp>
      <p:graphicFrame>
        <p:nvGraphicFramePr>
          <p:cNvPr id="5" name="Content Placeholder 4"/>
          <p:cNvGraphicFramePr>
            <a:graphicFrameLocks noGrp="1"/>
          </p:cNvGraphicFramePr>
          <p:nvPr>
            <p:ph idx="1"/>
          </p:nvPr>
        </p:nvGraphicFramePr>
        <p:xfrm>
          <a:off x="0" y="785794"/>
          <a:ext cx="9144000" cy="5836285"/>
        </p:xfrm>
        <a:graphic>
          <a:graphicData uri="http://schemas.openxmlformats.org/drawingml/2006/table">
            <a:tbl>
              <a:tblPr firstRow="1" bandRow="1">
                <a:tableStyleId>{5C22544A-7EE6-4342-B048-85BDC9FD1C3A}</a:tableStyleId>
              </a:tblPr>
              <a:tblGrid>
                <a:gridCol w="920725"/>
                <a:gridCol w="2079639"/>
                <a:gridCol w="6143636"/>
              </a:tblGrid>
              <a:tr h="370840">
                <a:tc>
                  <a:txBody>
                    <a:bodyPr/>
                    <a:lstStyle/>
                    <a:p>
                      <a:r>
                        <a:rPr lang="en-IN" dirty="0" err="1" smtClean="0"/>
                        <a:t>Sl.No</a:t>
                      </a:r>
                      <a:r>
                        <a:rPr lang="en-IN" dirty="0" smtClean="0"/>
                        <a:t>.</a:t>
                      </a:r>
                      <a:endParaRPr lang="en-IN" dirty="0"/>
                    </a:p>
                  </a:txBody>
                  <a:tcPr/>
                </a:tc>
                <a:tc>
                  <a:txBody>
                    <a:bodyPr/>
                    <a:lstStyle/>
                    <a:p>
                      <a:r>
                        <a:rPr lang="en-IN" dirty="0" smtClean="0"/>
                        <a:t>Function</a:t>
                      </a:r>
                      <a:endParaRPr lang="en-IN" dirty="0"/>
                    </a:p>
                  </a:txBody>
                  <a:tcPr/>
                </a:tc>
                <a:tc>
                  <a:txBody>
                    <a:bodyPr/>
                    <a:lstStyle/>
                    <a:p>
                      <a:r>
                        <a:rPr lang="en-IN" dirty="0" smtClean="0"/>
                        <a:t>Description</a:t>
                      </a:r>
                      <a:endParaRPr lang="en-IN" dirty="0"/>
                    </a:p>
                  </a:txBody>
                  <a:tcPr/>
                </a:tc>
              </a:tr>
              <a:tr h="370840">
                <a:tc>
                  <a:txBody>
                    <a:bodyPr/>
                    <a:lstStyle/>
                    <a:p>
                      <a:pPr algn="ctr" fontAlgn="t"/>
                      <a:r>
                        <a:rPr lang="en-IN" dirty="0" smtClean="0"/>
                        <a:t>1</a:t>
                      </a:r>
                      <a:endParaRPr lang="en-IN" dirty="0"/>
                    </a:p>
                  </a:txBody>
                  <a:tcPr marL="76200" marR="76200" marT="76200" marB="76200"/>
                </a:tc>
                <a:tc>
                  <a:txBody>
                    <a:bodyPr/>
                    <a:lstStyle/>
                    <a:p>
                      <a:r>
                        <a:rPr lang="en-IN" dirty="0" err="1" smtClean="0"/>
                        <a:t>len</a:t>
                      </a:r>
                      <a:r>
                        <a:rPr lang="en-IN" dirty="0" smtClean="0"/>
                        <a:t>(</a:t>
                      </a:r>
                      <a:r>
                        <a:rPr lang="en-IN" dirty="0" err="1" smtClean="0"/>
                        <a:t>dict</a:t>
                      </a:r>
                      <a:r>
                        <a:rPr lang="en-IN" dirty="0" smtClean="0"/>
                        <a:t>) </a:t>
                      </a:r>
                      <a:endParaRPr lang="en-IN" dirty="0"/>
                    </a:p>
                  </a:txBody>
                  <a:tcPr marL="76200" marR="76200" marT="76200" marB="76200"/>
                </a:tc>
                <a:tc>
                  <a:txBody>
                    <a:bodyPr/>
                    <a:lstStyle/>
                    <a:p>
                      <a:r>
                        <a:rPr lang="en-IN" dirty="0" smtClean="0">
                          <a:solidFill>
                            <a:srgbClr val="000000"/>
                          </a:solidFill>
                        </a:rPr>
                        <a:t>Gives the total length of the dictionary. This would be equal to the number of items in the dictionary.</a:t>
                      </a:r>
                      <a:endParaRPr lang="en-IN" dirty="0"/>
                    </a:p>
                  </a:txBody>
                  <a:tcPr/>
                </a:tc>
              </a:tr>
              <a:tr h="370840">
                <a:tc>
                  <a:txBody>
                    <a:bodyPr/>
                    <a:lstStyle/>
                    <a:p>
                      <a:pPr algn="ctr" fontAlgn="t"/>
                      <a:r>
                        <a:rPr lang="en-IN" dirty="0" smtClean="0"/>
                        <a:t>2</a:t>
                      </a:r>
                      <a:endParaRPr lang="en-IN" dirty="0"/>
                    </a:p>
                  </a:txBody>
                  <a:tcPr marL="76200" marR="76200" marT="76200" marB="76200"/>
                </a:tc>
                <a:tc>
                  <a:txBody>
                    <a:bodyPr/>
                    <a:lstStyle/>
                    <a:p>
                      <a:r>
                        <a:rPr lang="en-IN" dirty="0" err="1" smtClean="0"/>
                        <a:t>str</a:t>
                      </a:r>
                      <a:r>
                        <a:rPr lang="en-IN" dirty="0" smtClean="0"/>
                        <a:t>(</a:t>
                      </a:r>
                      <a:r>
                        <a:rPr lang="en-IN" dirty="0" err="1" smtClean="0"/>
                        <a:t>dict</a:t>
                      </a:r>
                      <a:r>
                        <a:rPr lang="en-IN" dirty="0" smtClean="0"/>
                        <a:t>) </a:t>
                      </a:r>
                      <a:endParaRPr lang="en-IN" dirty="0"/>
                    </a:p>
                  </a:txBody>
                  <a:tcPr marL="76200" marR="76200" marT="76200" marB="76200"/>
                </a:tc>
                <a:tc>
                  <a:txBody>
                    <a:bodyPr/>
                    <a:lstStyle/>
                    <a:p>
                      <a:r>
                        <a:rPr lang="en-IN" dirty="0" smtClean="0">
                          <a:solidFill>
                            <a:srgbClr val="000000"/>
                          </a:solidFill>
                        </a:rPr>
                        <a:t>Produces a printable string representation of a dictionary</a:t>
                      </a:r>
                      <a:endParaRPr lang="en-IN" dirty="0"/>
                    </a:p>
                  </a:txBody>
                  <a:tcPr/>
                </a:tc>
              </a:tr>
              <a:tr h="370840">
                <a:tc>
                  <a:txBody>
                    <a:bodyPr/>
                    <a:lstStyle/>
                    <a:p>
                      <a:pPr algn="ctr" fontAlgn="t"/>
                      <a:r>
                        <a:rPr lang="en-IN" dirty="0" smtClean="0"/>
                        <a:t>3</a:t>
                      </a:r>
                      <a:endParaRPr lang="en-IN" dirty="0"/>
                    </a:p>
                  </a:txBody>
                  <a:tcPr marL="76200" marR="76200" marT="76200" marB="76200"/>
                </a:tc>
                <a:tc>
                  <a:txBody>
                    <a:bodyPr/>
                    <a:lstStyle/>
                    <a:p>
                      <a:r>
                        <a:rPr lang="en-IN" dirty="0" smtClean="0"/>
                        <a:t>type(variable) </a:t>
                      </a:r>
                      <a:endParaRPr lang="en-IN" dirty="0"/>
                    </a:p>
                  </a:txBody>
                  <a:tcPr marL="76200" marR="76200" marT="76200" marB="76200"/>
                </a:tc>
                <a:tc>
                  <a:txBody>
                    <a:bodyPr/>
                    <a:lstStyle/>
                    <a:p>
                      <a:r>
                        <a:rPr lang="en-IN" dirty="0" smtClean="0">
                          <a:solidFill>
                            <a:srgbClr val="000000"/>
                          </a:solidFill>
                        </a:rPr>
                        <a:t>Returns the type of the passed variable. If passed variable is dictionary, then it would return a dictionary type.</a:t>
                      </a:r>
                      <a:endParaRPr lang="en-IN" dirty="0"/>
                    </a:p>
                  </a:txBody>
                  <a:tcPr/>
                </a:tc>
              </a:tr>
              <a:tr h="370840">
                <a:tc>
                  <a:txBody>
                    <a:bodyPr/>
                    <a:lstStyle/>
                    <a:p>
                      <a:pPr algn="ctr" fontAlgn="t"/>
                      <a:r>
                        <a:rPr lang="en-IN" dirty="0" smtClean="0"/>
                        <a:t>4</a:t>
                      </a:r>
                      <a:endParaRPr lang="en-IN" dirty="0"/>
                    </a:p>
                  </a:txBody>
                  <a:tcPr marL="76200" marR="76200" marT="76200" marB="76200"/>
                </a:tc>
                <a:tc>
                  <a:txBody>
                    <a:bodyPr/>
                    <a:lstStyle/>
                    <a:p>
                      <a:r>
                        <a:rPr lang="en-IN" dirty="0" err="1" smtClean="0"/>
                        <a:t>dict.clear</a:t>
                      </a:r>
                      <a:r>
                        <a:rPr lang="en-IN" dirty="0" smtClean="0"/>
                        <a:t>()</a:t>
                      </a:r>
                      <a:endParaRPr lang="en-IN" dirty="0"/>
                    </a:p>
                  </a:txBody>
                  <a:tcPr marL="76200" marR="76200" marT="76200" marB="762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Removes all elements of dictionary </a:t>
                      </a:r>
                      <a:r>
                        <a:rPr lang="en-IN" dirty="0" err="1" smtClean="0"/>
                        <a:t>dict</a:t>
                      </a:r>
                      <a:endParaRPr lang="en-IN" dirty="0" smtClean="0"/>
                    </a:p>
                  </a:txBody>
                  <a:tcPr/>
                </a:tc>
              </a:tr>
              <a:tr h="370840">
                <a:tc>
                  <a:txBody>
                    <a:bodyPr/>
                    <a:lstStyle/>
                    <a:p>
                      <a:pPr algn="ctr" fontAlgn="t"/>
                      <a:r>
                        <a:rPr lang="en-IN" dirty="0"/>
                        <a:t>2</a:t>
                      </a:r>
                    </a:p>
                  </a:txBody>
                  <a:tcPr marL="76200" marR="76200" marT="76200" marB="76200"/>
                </a:tc>
                <a:tc>
                  <a:txBody>
                    <a:bodyPr/>
                    <a:lstStyle/>
                    <a:p>
                      <a:pPr marL="0" algn="l" defTabSz="914400" rtl="0" eaLnBrk="1" fontAlgn="b" latinLnBrk="0" hangingPunct="1"/>
                      <a:r>
                        <a:rPr lang="en-IN" sz="1800" kern="1200" dirty="0" smtClean="0">
                          <a:solidFill>
                            <a:schemeClr val="dk1"/>
                          </a:solidFill>
                          <a:latin typeface="+mn-lt"/>
                          <a:ea typeface="+mn-ea"/>
                          <a:cs typeface="+mn-cs"/>
                        </a:rPr>
                        <a:t> </a:t>
                      </a:r>
                      <a:r>
                        <a:rPr lang="en-IN" sz="1800" kern="1200" dirty="0" err="1" smtClean="0">
                          <a:solidFill>
                            <a:schemeClr val="dk1"/>
                          </a:solidFill>
                          <a:latin typeface="+mn-lt"/>
                          <a:ea typeface="+mn-ea"/>
                          <a:cs typeface="+mn-cs"/>
                        </a:rPr>
                        <a:t>dict.copy</a:t>
                      </a:r>
                      <a:r>
                        <a:rPr lang="en-IN" sz="1800" kern="1200" dirty="0" smtClean="0">
                          <a:solidFill>
                            <a:schemeClr val="dk1"/>
                          </a:solidFill>
                          <a:latin typeface="+mn-lt"/>
                          <a:ea typeface="+mn-ea"/>
                          <a:cs typeface="+mn-cs"/>
                        </a:rPr>
                        <a:t>() </a:t>
                      </a:r>
                    </a:p>
                  </a:txBody>
                  <a:tcPr marL="9525" marR="9525" marT="9525" marB="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0000"/>
                          </a:solidFill>
                        </a:rPr>
                        <a:t>Returns a shallow copy of dictionary </a:t>
                      </a:r>
                      <a:r>
                        <a:rPr lang="en-IN" i="1" dirty="0" err="1" smtClean="0">
                          <a:solidFill>
                            <a:srgbClr val="000000"/>
                          </a:solidFill>
                        </a:rPr>
                        <a:t>dict</a:t>
                      </a:r>
                      <a:endParaRPr lang="en-IN" dirty="0" smtClean="0"/>
                    </a:p>
                  </a:txBody>
                  <a:tcPr/>
                </a:tc>
              </a:tr>
              <a:tr h="370840">
                <a:tc>
                  <a:txBody>
                    <a:bodyPr/>
                    <a:lstStyle/>
                    <a:p>
                      <a:pPr algn="ctr" fontAlgn="t"/>
                      <a:r>
                        <a:rPr lang="en-IN"/>
                        <a:t>3</a:t>
                      </a:r>
                    </a:p>
                  </a:txBody>
                  <a:tcPr marL="76200" marR="76200" marT="76200" marB="76200"/>
                </a:tc>
                <a:tc>
                  <a:txBody>
                    <a:bodyPr/>
                    <a:lstStyle/>
                    <a:p>
                      <a:pPr marL="0" algn="l" defTabSz="914400" rtl="0" eaLnBrk="1" fontAlgn="b" latinLnBrk="0" hangingPunct="1"/>
                      <a:r>
                        <a:rPr lang="en-IN" sz="1800" kern="1200" dirty="0" smtClean="0">
                          <a:solidFill>
                            <a:schemeClr val="dk1"/>
                          </a:solidFill>
                          <a:latin typeface="+mn-lt"/>
                          <a:ea typeface="+mn-ea"/>
                          <a:cs typeface="+mn-cs"/>
                        </a:rPr>
                        <a:t> </a:t>
                      </a:r>
                      <a:r>
                        <a:rPr lang="en-IN" sz="1800" kern="1200" dirty="0" err="1" smtClean="0">
                          <a:solidFill>
                            <a:schemeClr val="dk1"/>
                          </a:solidFill>
                          <a:latin typeface="+mn-lt"/>
                          <a:ea typeface="+mn-ea"/>
                          <a:cs typeface="+mn-cs"/>
                        </a:rPr>
                        <a:t>dict.fromkeys</a:t>
                      </a:r>
                      <a:r>
                        <a:rPr lang="en-IN" sz="1800" kern="1200" dirty="0" smtClean="0">
                          <a:solidFill>
                            <a:schemeClr val="dk1"/>
                          </a:solidFill>
                          <a:latin typeface="+mn-lt"/>
                          <a:ea typeface="+mn-ea"/>
                          <a:cs typeface="+mn-cs"/>
                        </a:rPr>
                        <a:t>(</a:t>
                      </a:r>
                      <a:r>
                        <a:rPr lang="en-IN" sz="1800" kern="1200" dirty="0" err="1" smtClean="0">
                          <a:solidFill>
                            <a:schemeClr val="dk1"/>
                          </a:solidFill>
                          <a:latin typeface="+mn-lt"/>
                          <a:ea typeface="+mn-ea"/>
                          <a:cs typeface="+mn-cs"/>
                        </a:rPr>
                        <a:t>seq,val</a:t>
                      </a:r>
                      <a:r>
                        <a:rPr lang="en-IN" sz="1800" kern="1200" dirty="0" smtClean="0">
                          <a:solidFill>
                            <a:schemeClr val="dk1"/>
                          </a:solidFill>
                          <a:latin typeface="+mn-lt"/>
                          <a:ea typeface="+mn-ea"/>
                          <a:cs typeface="+mn-cs"/>
                        </a:rPr>
                        <a:t>) </a:t>
                      </a:r>
                    </a:p>
                  </a:txBody>
                  <a:tcPr marL="9525" marR="9525" marT="9525" marB="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0000"/>
                          </a:solidFill>
                        </a:rPr>
                        <a:t>Create a new dictionary with keys from </a:t>
                      </a:r>
                      <a:r>
                        <a:rPr lang="en-IN" dirty="0" err="1" smtClean="0">
                          <a:solidFill>
                            <a:srgbClr val="000000"/>
                          </a:solidFill>
                        </a:rPr>
                        <a:t>seq</a:t>
                      </a:r>
                      <a:r>
                        <a:rPr lang="en-IN" dirty="0" smtClean="0">
                          <a:solidFill>
                            <a:srgbClr val="000000"/>
                          </a:solidFill>
                        </a:rPr>
                        <a:t> and values </a:t>
                      </a:r>
                      <a:r>
                        <a:rPr lang="en-IN" i="1" dirty="0" smtClean="0">
                          <a:solidFill>
                            <a:srgbClr val="000000"/>
                          </a:solidFill>
                        </a:rPr>
                        <a:t>set</a:t>
                      </a:r>
                      <a:r>
                        <a:rPr lang="en-IN" dirty="0" smtClean="0">
                          <a:solidFill>
                            <a:srgbClr val="000000"/>
                          </a:solidFill>
                        </a:rPr>
                        <a:t> to </a:t>
                      </a:r>
                      <a:r>
                        <a:rPr lang="en-IN" i="1" dirty="0" smtClean="0">
                          <a:solidFill>
                            <a:srgbClr val="000000"/>
                          </a:solidFill>
                        </a:rPr>
                        <a:t>value</a:t>
                      </a:r>
                      <a:r>
                        <a:rPr lang="en-IN" dirty="0" smtClean="0">
                          <a:solidFill>
                            <a:srgbClr val="000000"/>
                          </a:solidFill>
                        </a:rPr>
                        <a:t>. </a:t>
                      </a:r>
                      <a:r>
                        <a:rPr lang="en-IN" b="1" dirty="0" smtClean="0">
                          <a:solidFill>
                            <a:srgbClr val="000000"/>
                          </a:solidFill>
                        </a:rPr>
                        <a:t>Value is optional part</a:t>
                      </a:r>
                      <a:endParaRPr lang="en-IN" b="1" dirty="0" smtClean="0"/>
                    </a:p>
                  </a:txBody>
                  <a:tcPr/>
                </a:tc>
              </a:tr>
              <a:tr h="370840">
                <a:tc>
                  <a:txBody>
                    <a:bodyPr/>
                    <a:lstStyle/>
                    <a:p>
                      <a:pPr algn="ctr" fontAlgn="t"/>
                      <a:r>
                        <a:rPr lang="en-IN"/>
                        <a:t>4</a:t>
                      </a:r>
                    </a:p>
                  </a:txBody>
                  <a:tcPr marL="76200" marR="76200" marT="76200" marB="76200"/>
                </a:tc>
                <a:tc>
                  <a:txBody>
                    <a:bodyPr/>
                    <a:lstStyle/>
                    <a:p>
                      <a:pPr marL="0" algn="l" defTabSz="914400" rtl="0" eaLnBrk="1" fontAlgn="b" latinLnBrk="0" hangingPunct="1"/>
                      <a:r>
                        <a:rPr lang="en-IN" sz="1800" kern="1200" dirty="0" smtClean="0">
                          <a:solidFill>
                            <a:schemeClr val="dk1"/>
                          </a:solidFill>
                          <a:latin typeface="+mn-lt"/>
                          <a:ea typeface="+mn-ea"/>
                          <a:cs typeface="+mn-cs"/>
                        </a:rPr>
                        <a:t> </a:t>
                      </a:r>
                      <a:r>
                        <a:rPr lang="en-IN" sz="1800" kern="1200" dirty="0" err="1" smtClean="0">
                          <a:solidFill>
                            <a:schemeClr val="dk1"/>
                          </a:solidFill>
                          <a:latin typeface="+mn-lt"/>
                          <a:ea typeface="+mn-ea"/>
                          <a:cs typeface="+mn-cs"/>
                        </a:rPr>
                        <a:t>dict.get</a:t>
                      </a:r>
                      <a:r>
                        <a:rPr lang="en-IN" sz="1800" kern="1200" dirty="0" smtClean="0">
                          <a:solidFill>
                            <a:schemeClr val="dk1"/>
                          </a:solidFill>
                          <a:latin typeface="+mn-lt"/>
                          <a:ea typeface="+mn-ea"/>
                          <a:cs typeface="+mn-cs"/>
                        </a:rPr>
                        <a:t>(key,  default=None) </a:t>
                      </a:r>
                    </a:p>
                  </a:txBody>
                  <a:tcPr marL="9525" marR="9525" marT="9525" marB="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0000"/>
                          </a:solidFill>
                        </a:rPr>
                        <a:t>For </a:t>
                      </a:r>
                      <a:r>
                        <a:rPr lang="en-IN" i="1" dirty="0" smtClean="0">
                          <a:solidFill>
                            <a:srgbClr val="000000"/>
                          </a:solidFill>
                        </a:rPr>
                        <a:t>key</a:t>
                      </a:r>
                      <a:r>
                        <a:rPr lang="en-IN" dirty="0" smtClean="0">
                          <a:solidFill>
                            <a:srgbClr val="000000"/>
                          </a:solidFill>
                        </a:rPr>
                        <a:t> </a:t>
                      </a:r>
                      <a:r>
                        <a:rPr lang="en-IN" dirty="0" err="1" smtClean="0">
                          <a:solidFill>
                            <a:srgbClr val="000000"/>
                          </a:solidFill>
                        </a:rPr>
                        <a:t>key</a:t>
                      </a:r>
                      <a:r>
                        <a:rPr lang="en-IN" dirty="0" smtClean="0">
                          <a:solidFill>
                            <a:srgbClr val="000000"/>
                          </a:solidFill>
                        </a:rPr>
                        <a:t>, returns value or default if key not in dictionary</a:t>
                      </a:r>
                      <a:endParaRPr lang="en-IN" dirty="0" smtClean="0"/>
                    </a:p>
                  </a:txBody>
                  <a:tcPr/>
                </a:tc>
              </a:tr>
              <a:tr h="370840">
                <a:tc>
                  <a:txBody>
                    <a:bodyPr/>
                    <a:lstStyle/>
                    <a:p>
                      <a:pPr algn="ctr" fontAlgn="t"/>
                      <a:r>
                        <a:rPr lang="en-IN" dirty="0"/>
                        <a:t>6</a:t>
                      </a:r>
                    </a:p>
                  </a:txBody>
                  <a:tcPr marL="76200" marR="76200" marT="76200" marB="76200"/>
                </a:tc>
                <a:tc>
                  <a:txBody>
                    <a:bodyPr/>
                    <a:lstStyle/>
                    <a:p>
                      <a:pPr marL="0" algn="l" defTabSz="914400" rtl="0" eaLnBrk="1" fontAlgn="b" latinLnBrk="0" hangingPunct="1"/>
                      <a:r>
                        <a:rPr lang="en-IN" sz="1800" kern="1200" dirty="0" smtClean="0">
                          <a:solidFill>
                            <a:schemeClr val="dk1"/>
                          </a:solidFill>
                          <a:latin typeface="+mn-lt"/>
                          <a:ea typeface="+mn-ea"/>
                          <a:cs typeface="+mn-cs"/>
                        </a:rPr>
                        <a:t> </a:t>
                      </a:r>
                      <a:r>
                        <a:rPr lang="en-IN" sz="1800" kern="1200" dirty="0" err="1" smtClean="0">
                          <a:solidFill>
                            <a:schemeClr val="dk1"/>
                          </a:solidFill>
                          <a:latin typeface="+mn-lt"/>
                          <a:ea typeface="+mn-ea"/>
                          <a:cs typeface="+mn-cs"/>
                        </a:rPr>
                        <a:t>dict.items</a:t>
                      </a:r>
                      <a:r>
                        <a:rPr lang="en-IN" sz="1800" kern="1200" dirty="0" smtClean="0">
                          <a:solidFill>
                            <a:schemeClr val="dk1"/>
                          </a:solidFill>
                          <a:latin typeface="+mn-lt"/>
                          <a:ea typeface="+mn-ea"/>
                          <a:cs typeface="+mn-cs"/>
                        </a:rPr>
                        <a:t>() </a:t>
                      </a:r>
                    </a:p>
                  </a:txBody>
                  <a:tcPr marL="9525" marR="9525" marT="9525" marB="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0000"/>
                          </a:solidFill>
                        </a:rPr>
                        <a:t>Returns a list of </a:t>
                      </a:r>
                      <a:r>
                        <a:rPr lang="en-IN" i="1" dirty="0" err="1" smtClean="0">
                          <a:solidFill>
                            <a:srgbClr val="000000"/>
                          </a:solidFill>
                        </a:rPr>
                        <a:t>dict</a:t>
                      </a:r>
                      <a:r>
                        <a:rPr lang="en-IN" dirty="0" err="1" smtClean="0">
                          <a:solidFill>
                            <a:srgbClr val="000000"/>
                          </a:solidFill>
                        </a:rPr>
                        <a:t>'s</a:t>
                      </a:r>
                      <a:r>
                        <a:rPr lang="en-IN" dirty="0" smtClean="0">
                          <a:solidFill>
                            <a:srgbClr val="000000"/>
                          </a:solidFill>
                        </a:rPr>
                        <a:t> (key, value) </a:t>
                      </a:r>
                      <a:r>
                        <a:rPr lang="en-IN" dirty="0" err="1" smtClean="0">
                          <a:solidFill>
                            <a:srgbClr val="000000"/>
                          </a:solidFill>
                        </a:rPr>
                        <a:t>tuple</a:t>
                      </a:r>
                      <a:r>
                        <a:rPr lang="en-IN" dirty="0" smtClean="0">
                          <a:solidFill>
                            <a:srgbClr val="000000"/>
                          </a:solidFill>
                        </a:rPr>
                        <a:t> pairs</a:t>
                      </a:r>
                      <a:endParaRPr lang="en-IN" dirty="0" smtClean="0"/>
                    </a:p>
                  </a:txBody>
                  <a:tcPr/>
                </a:tc>
              </a:tr>
              <a:tr h="370840">
                <a:tc>
                  <a:txBody>
                    <a:bodyPr/>
                    <a:lstStyle/>
                    <a:p>
                      <a:pPr algn="ctr" fontAlgn="t"/>
                      <a:r>
                        <a:rPr lang="en-IN"/>
                        <a:t>7</a:t>
                      </a:r>
                    </a:p>
                  </a:txBody>
                  <a:tcPr marL="76200" marR="76200" marT="76200" marB="76200"/>
                </a:tc>
                <a:tc>
                  <a:txBody>
                    <a:bodyPr/>
                    <a:lstStyle/>
                    <a:p>
                      <a:pPr marL="0" algn="l" defTabSz="914400" rtl="0" eaLnBrk="1" fontAlgn="b" latinLnBrk="0" hangingPunct="1"/>
                      <a:r>
                        <a:rPr lang="en-IN" sz="1800" kern="1200" dirty="0" smtClean="0">
                          <a:solidFill>
                            <a:schemeClr val="dk1"/>
                          </a:solidFill>
                          <a:latin typeface="+mn-lt"/>
                          <a:ea typeface="+mn-ea"/>
                          <a:cs typeface="+mn-cs"/>
                        </a:rPr>
                        <a:t> </a:t>
                      </a:r>
                      <a:r>
                        <a:rPr lang="en-IN" sz="1800" kern="1200" dirty="0" err="1" smtClean="0">
                          <a:solidFill>
                            <a:schemeClr val="dk1"/>
                          </a:solidFill>
                          <a:latin typeface="+mn-lt"/>
                          <a:ea typeface="+mn-ea"/>
                          <a:cs typeface="+mn-cs"/>
                        </a:rPr>
                        <a:t>dict.keys</a:t>
                      </a:r>
                      <a:r>
                        <a:rPr lang="en-IN" sz="1800" kern="1200" dirty="0" smtClean="0">
                          <a:solidFill>
                            <a:schemeClr val="dk1"/>
                          </a:solidFill>
                          <a:latin typeface="+mn-lt"/>
                          <a:ea typeface="+mn-ea"/>
                          <a:cs typeface="+mn-cs"/>
                        </a:rPr>
                        <a:t>() </a:t>
                      </a:r>
                    </a:p>
                  </a:txBody>
                  <a:tcPr marL="9525" marR="9525" marT="9525" marB="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0000"/>
                          </a:solidFill>
                        </a:rPr>
                        <a:t>Returns list of dictionary </a:t>
                      </a:r>
                      <a:r>
                        <a:rPr lang="en-IN" dirty="0" err="1" smtClean="0">
                          <a:solidFill>
                            <a:srgbClr val="000000"/>
                          </a:solidFill>
                        </a:rPr>
                        <a:t>dict's</a:t>
                      </a:r>
                      <a:r>
                        <a:rPr lang="en-IN" dirty="0" smtClean="0">
                          <a:solidFill>
                            <a:srgbClr val="000000"/>
                          </a:solidFill>
                        </a:rPr>
                        <a:t> keys</a:t>
                      </a:r>
                      <a:endParaRPr lang="en-IN" dirty="0" smtClean="0"/>
                    </a:p>
                  </a:txBody>
                  <a:tcPr/>
                </a:tc>
              </a:tr>
              <a:tr h="370840">
                <a:tc>
                  <a:txBody>
                    <a:bodyPr/>
                    <a:lstStyle/>
                    <a:p>
                      <a:pPr algn="ctr" fontAlgn="t"/>
                      <a:r>
                        <a:rPr lang="en-IN" dirty="0"/>
                        <a:t>9</a:t>
                      </a:r>
                    </a:p>
                  </a:txBody>
                  <a:tcPr marL="76200" marR="76200" marT="76200" marB="76200"/>
                </a:tc>
                <a:tc>
                  <a:txBody>
                    <a:bodyPr/>
                    <a:lstStyle/>
                    <a:p>
                      <a:pPr marL="0" algn="l" defTabSz="914400" rtl="0" eaLnBrk="1" fontAlgn="b" latinLnBrk="0" hangingPunct="1"/>
                      <a:r>
                        <a:rPr lang="en-IN" sz="1800" kern="1200" dirty="0" smtClean="0">
                          <a:solidFill>
                            <a:schemeClr val="dk1"/>
                          </a:solidFill>
                          <a:latin typeface="+mn-lt"/>
                          <a:ea typeface="+mn-ea"/>
                          <a:cs typeface="+mn-cs"/>
                        </a:rPr>
                        <a:t> </a:t>
                      </a:r>
                      <a:r>
                        <a:rPr lang="en-IN" sz="1800" kern="1200" dirty="0" err="1" smtClean="0">
                          <a:solidFill>
                            <a:schemeClr val="dk1"/>
                          </a:solidFill>
                          <a:latin typeface="+mn-lt"/>
                          <a:ea typeface="+mn-ea"/>
                          <a:cs typeface="+mn-cs"/>
                        </a:rPr>
                        <a:t>dict.update</a:t>
                      </a:r>
                      <a:r>
                        <a:rPr lang="en-IN" sz="1800" kern="1200" dirty="0" smtClean="0">
                          <a:solidFill>
                            <a:schemeClr val="dk1"/>
                          </a:solidFill>
                          <a:latin typeface="+mn-lt"/>
                          <a:ea typeface="+mn-ea"/>
                          <a:cs typeface="+mn-cs"/>
                        </a:rPr>
                        <a:t>(dict2) </a:t>
                      </a:r>
                    </a:p>
                  </a:txBody>
                  <a:tcPr marL="9525" marR="9525" marT="9525" marB="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0000"/>
                          </a:solidFill>
                        </a:rPr>
                        <a:t>Adds dictionary </a:t>
                      </a:r>
                      <a:r>
                        <a:rPr lang="en-IN" i="1" dirty="0" smtClean="0">
                          <a:solidFill>
                            <a:srgbClr val="000000"/>
                          </a:solidFill>
                        </a:rPr>
                        <a:t>dict2</a:t>
                      </a:r>
                      <a:r>
                        <a:rPr lang="en-IN" dirty="0" smtClean="0">
                          <a:solidFill>
                            <a:srgbClr val="000000"/>
                          </a:solidFill>
                        </a:rPr>
                        <a:t>'s key-values pairs to </a:t>
                      </a:r>
                      <a:r>
                        <a:rPr lang="en-IN" i="1" dirty="0" err="1" smtClean="0">
                          <a:solidFill>
                            <a:srgbClr val="000000"/>
                          </a:solidFill>
                        </a:rPr>
                        <a:t>dict</a:t>
                      </a:r>
                      <a:endParaRPr lang="en-IN" dirty="0" smtClean="0"/>
                    </a:p>
                  </a:txBody>
                  <a:tcPr/>
                </a:tc>
              </a:tr>
              <a:tr h="312154">
                <a:tc>
                  <a:txBody>
                    <a:bodyPr/>
                    <a:lstStyle/>
                    <a:p>
                      <a:pPr algn="ctr" fontAlgn="t"/>
                      <a:r>
                        <a:rPr lang="en-IN"/>
                        <a:t>10</a:t>
                      </a:r>
                    </a:p>
                  </a:txBody>
                  <a:tcPr marL="76200" marR="76200" marT="76200" marB="76200"/>
                </a:tc>
                <a:tc>
                  <a:txBody>
                    <a:bodyPr/>
                    <a:lstStyle/>
                    <a:p>
                      <a:pPr marL="0" algn="l" defTabSz="914400" rtl="0" eaLnBrk="1" fontAlgn="b" latinLnBrk="0" hangingPunct="1"/>
                      <a:r>
                        <a:rPr lang="en-IN" sz="1800" kern="1200" dirty="0" smtClean="0">
                          <a:solidFill>
                            <a:schemeClr val="dk1"/>
                          </a:solidFill>
                          <a:latin typeface="+mn-lt"/>
                          <a:ea typeface="+mn-ea"/>
                          <a:cs typeface="+mn-cs"/>
                        </a:rPr>
                        <a:t> </a:t>
                      </a:r>
                      <a:r>
                        <a:rPr lang="en-IN" sz="1800" kern="1200" dirty="0" err="1" smtClean="0">
                          <a:solidFill>
                            <a:schemeClr val="dk1"/>
                          </a:solidFill>
                          <a:latin typeface="+mn-lt"/>
                          <a:ea typeface="+mn-ea"/>
                          <a:cs typeface="+mn-cs"/>
                        </a:rPr>
                        <a:t>dict.values</a:t>
                      </a:r>
                      <a:r>
                        <a:rPr lang="en-IN" sz="1800" kern="1200" dirty="0" smtClean="0">
                          <a:solidFill>
                            <a:schemeClr val="dk1"/>
                          </a:solidFill>
                          <a:latin typeface="+mn-lt"/>
                          <a:ea typeface="+mn-ea"/>
                          <a:cs typeface="+mn-cs"/>
                        </a:rPr>
                        <a:t>() </a:t>
                      </a:r>
                    </a:p>
                  </a:txBody>
                  <a:tcPr marL="9525" marR="9525" marT="9525" marB="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solidFill>
                            <a:srgbClr val="000000"/>
                          </a:solidFill>
                        </a:rPr>
                        <a:t>Returns list of dictionary </a:t>
                      </a:r>
                      <a:r>
                        <a:rPr lang="en-IN" i="1" dirty="0" err="1" smtClean="0">
                          <a:solidFill>
                            <a:srgbClr val="000000"/>
                          </a:solidFill>
                        </a:rPr>
                        <a:t>dict</a:t>
                      </a:r>
                      <a:r>
                        <a:rPr lang="en-IN" dirty="0" err="1" smtClean="0">
                          <a:solidFill>
                            <a:srgbClr val="000000"/>
                          </a:solidFill>
                        </a:rPr>
                        <a:t>'s</a:t>
                      </a:r>
                      <a:r>
                        <a:rPr lang="en-IN" dirty="0" smtClean="0">
                          <a:solidFill>
                            <a:srgbClr val="000000"/>
                          </a:solidFill>
                        </a:rPr>
                        <a:t> values</a:t>
                      </a:r>
                      <a:endParaRPr lang="en-IN" dirty="0" smtClean="0"/>
                    </a:p>
                  </a:txBody>
                  <a:tcPr/>
                </a:tc>
              </a:tr>
            </a:tbl>
          </a:graphicData>
        </a:graphic>
      </p:graphicFrame>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Sets</a:t>
            </a:r>
            <a:endParaRPr lang="en-IN" dirty="0"/>
          </a:p>
        </p:txBody>
      </p:sp>
      <p:sp>
        <p:nvSpPr>
          <p:cNvPr id="3" name="Content Placeholder 2"/>
          <p:cNvSpPr>
            <a:spLocks noGrp="1"/>
          </p:cNvSpPr>
          <p:nvPr>
            <p:ph idx="1"/>
          </p:nvPr>
        </p:nvSpPr>
        <p:spPr>
          <a:xfrm>
            <a:off x="457200" y="1071546"/>
            <a:ext cx="8229600" cy="5643602"/>
          </a:xfrm>
        </p:spPr>
        <p:txBody>
          <a:bodyPr>
            <a:normAutofit fontScale="85000" lnSpcReduction="10000"/>
          </a:bodyPr>
          <a:lstStyle/>
          <a:p>
            <a:r>
              <a:rPr lang="en-IN" dirty="0" smtClean="0"/>
              <a:t>Mathematically a set is a collection of items not in any particular order. </a:t>
            </a:r>
          </a:p>
          <a:p>
            <a:r>
              <a:rPr lang="en-IN" dirty="0" smtClean="0"/>
              <a:t>A Python set is similar to this mathematical definition with below additional conditions.</a:t>
            </a:r>
          </a:p>
          <a:p>
            <a:pPr lvl="1"/>
            <a:r>
              <a:rPr lang="en-IN" dirty="0" smtClean="0"/>
              <a:t>The elements in the set cannot be duplicates.</a:t>
            </a:r>
          </a:p>
          <a:p>
            <a:pPr lvl="1"/>
            <a:r>
              <a:rPr lang="en-IN" dirty="0" smtClean="0"/>
              <a:t>The elements in the set are immutable(cannot be modified) but the set as a whole is mutable.</a:t>
            </a:r>
          </a:p>
          <a:p>
            <a:pPr lvl="1"/>
            <a:r>
              <a:rPr lang="en-IN" dirty="0" smtClean="0"/>
              <a:t>There is no index attached to any element in a python set. So they do not support any indexing or slicing operation.</a:t>
            </a:r>
          </a:p>
          <a:p>
            <a:r>
              <a:rPr lang="en-IN" dirty="0" smtClean="0"/>
              <a:t>The sets in python are typically used for mathematical operations like union, intersection, difference and complement etc. </a:t>
            </a:r>
          </a:p>
          <a:p>
            <a:r>
              <a:rPr lang="en-IN" dirty="0" smtClean="0"/>
              <a:t>We can create a set, access it’s elements and carry out these mathematical operations</a:t>
            </a:r>
          </a:p>
          <a:p>
            <a:endParaRPr lang="en-IN" dirty="0" smtClean="0"/>
          </a:p>
          <a:p>
            <a:endParaRPr lang="en-IN"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Creating a set</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A set is created by using the set() function.</a:t>
            </a:r>
          </a:p>
          <a:p>
            <a:r>
              <a:rPr lang="en-IN" dirty="0" smtClean="0"/>
              <a:t>Also by Placing all the elements within a pair of curly braces.</a:t>
            </a:r>
          </a:p>
          <a:p>
            <a:pPr lvl="1"/>
            <a:r>
              <a:rPr lang="en-IN" dirty="0" smtClean="0"/>
              <a:t>s1=set([1,2,3,4,5])</a:t>
            </a:r>
          </a:p>
          <a:p>
            <a:pPr lvl="2"/>
            <a:r>
              <a:rPr lang="en-IN" dirty="0" smtClean="0"/>
              <a:t>Can be passed as list / </a:t>
            </a:r>
            <a:r>
              <a:rPr lang="en-IN" dirty="0" err="1" smtClean="0"/>
              <a:t>tuple</a:t>
            </a:r>
            <a:endParaRPr lang="en-IN" dirty="0" smtClean="0"/>
          </a:p>
          <a:p>
            <a:pPr lvl="1"/>
            <a:r>
              <a:rPr lang="en-IN" dirty="0" smtClean="0"/>
              <a:t>S2 = {1,2,3,4,5}</a:t>
            </a:r>
            <a:endParaRPr lang="en-IN"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Accessing Values in a Set</a:t>
            </a:r>
            <a:endParaRPr lang="en-IN" dirty="0"/>
          </a:p>
        </p:txBody>
      </p:sp>
      <p:sp>
        <p:nvSpPr>
          <p:cNvPr id="3" name="Content Placeholder 2"/>
          <p:cNvSpPr>
            <a:spLocks noGrp="1"/>
          </p:cNvSpPr>
          <p:nvPr>
            <p:ph idx="1"/>
          </p:nvPr>
        </p:nvSpPr>
        <p:spPr>
          <a:xfrm>
            <a:off x="457200" y="1071546"/>
            <a:ext cx="8229600" cy="5643602"/>
          </a:xfrm>
        </p:spPr>
        <p:txBody>
          <a:bodyPr>
            <a:normAutofit/>
          </a:bodyPr>
          <a:lstStyle/>
          <a:p>
            <a:r>
              <a:rPr lang="en-IN" dirty="0" smtClean="0"/>
              <a:t>We cannot access individual values in a set. </a:t>
            </a:r>
          </a:p>
          <a:p>
            <a:r>
              <a:rPr lang="en-IN" dirty="0" smtClean="0"/>
              <a:t>We can only access all the elements together as shown above. </a:t>
            </a:r>
          </a:p>
          <a:p>
            <a:r>
              <a:rPr lang="en-IN" dirty="0" smtClean="0"/>
              <a:t>But we can also get a list of individual elements by looping through the set.</a:t>
            </a:r>
          </a:p>
          <a:p>
            <a:pPr>
              <a:buNone/>
            </a:pPr>
            <a:endParaRPr lang="en-IN" b="1" dirty="0" smtClean="0"/>
          </a:p>
          <a:p>
            <a:endParaRPr lang="en-IN"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smtClean="0"/>
              <a:t>Set Operations</a:t>
            </a:r>
            <a:endParaRPr lang="en-IN" dirty="0"/>
          </a:p>
        </p:txBody>
      </p:sp>
      <p:graphicFrame>
        <p:nvGraphicFramePr>
          <p:cNvPr id="5" name="Content Placeholder 4"/>
          <p:cNvGraphicFramePr>
            <a:graphicFrameLocks noGrp="1"/>
          </p:cNvGraphicFramePr>
          <p:nvPr>
            <p:ph idx="1"/>
          </p:nvPr>
        </p:nvGraphicFramePr>
        <p:xfrm>
          <a:off x="457200" y="1214422"/>
          <a:ext cx="8229600" cy="2560320"/>
        </p:xfrm>
        <a:graphic>
          <a:graphicData uri="http://schemas.openxmlformats.org/drawingml/2006/table">
            <a:tbl>
              <a:tblPr firstRow="1" bandRow="1">
                <a:tableStyleId>{5C22544A-7EE6-4342-B048-85BDC9FD1C3A}</a:tableStyleId>
              </a:tblPr>
              <a:tblGrid>
                <a:gridCol w="971528"/>
                <a:gridCol w="2071702"/>
                <a:gridCol w="5186370"/>
              </a:tblGrid>
              <a:tr h="227981">
                <a:tc>
                  <a:txBody>
                    <a:bodyPr/>
                    <a:lstStyle/>
                    <a:p>
                      <a:pPr algn="ctr"/>
                      <a:r>
                        <a:rPr lang="en-IN" dirty="0" smtClean="0"/>
                        <a:t>Sl. No.</a:t>
                      </a:r>
                      <a:endParaRPr lang="en-IN" dirty="0"/>
                    </a:p>
                  </a:txBody>
                  <a:tcPr/>
                </a:tc>
                <a:tc>
                  <a:txBody>
                    <a:bodyPr/>
                    <a:lstStyle/>
                    <a:p>
                      <a:pPr algn="ctr"/>
                      <a:r>
                        <a:rPr lang="en-IN" dirty="0" smtClean="0"/>
                        <a:t>Method</a:t>
                      </a:r>
                      <a:endParaRPr lang="en-IN" dirty="0"/>
                    </a:p>
                  </a:txBody>
                  <a:tcPr/>
                </a:tc>
                <a:tc>
                  <a:txBody>
                    <a:bodyPr/>
                    <a:lstStyle/>
                    <a:p>
                      <a:pPr algn="ctr"/>
                      <a:r>
                        <a:rPr lang="en-IN" dirty="0" smtClean="0"/>
                        <a:t>Description</a:t>
                      </a:r>
                      <a:endParaRPr lang="en-IN" dirty="0"/>
                    </a:p>
                  </a:txBody>
                  <a:tcPr/>
                </a:tc>
              </a:tr>
              <a:tr h="227981">
                <a:tc>
                  <a:txBody>
                    <a:bodyPr/>
                    <a:lstStyle/>
                    <a:p>
                      <a:pPr algn="l"/>
                      <a:r>
                        <a:rPr lang="en-IN" dirty="0" smtClean="0"/>
                        <a:t>1</a:t>
                      </a:r>
                      <a:endParaRPr lang="en-IN" dirty="0"/>
                    </a:p>
                  </a:txBody>
                  <a:tcPr/>
                </a:tc>
                <a:tc>
                  <a:txBody>
                    <a:bodyPr/>
                    <a:lstStyle/>
                    <a:p>
                      <a:pPr algn="l"/>
                      <a:r>
                        <a:rPr lang="en-IN" dirty="0" err="1" smtClean="0"/>
                        <a:t>Set.add</a:t>
                      </a:r>
                      <a:r>
                        <a:rPr lang="en-IN" dirty="0" smtClean="0"/>
                        <a:t>(Object)</a:t>
                      </a:r>
                      <a:endParaRPr lang="en-IN" dirty="0"/>
                    </a:p>
                  </a:txBody>
                  <a:tcPr/>
                </a:tc>
                <a:tc>
                  <a:txBody>
                    <a:bodyPr/>
                    <a:lstStyle/>
                    <a:p>
                      <a:pPr algn="l"/>
                      <a:r>
                        <a:rPr lang="en-IN" dirty="0" smtClean="0"/>
                        <a:t>To add the element in the set</a:t>
                      </a:r>
                      <a:endParaRPr lang="en-IN" dirty="0"/>
                    </a:p>
                  </a:txBody>
                  <a:tcPr/>
                </a:tc>
              </a:tr>
              <a:tr h="227981">
                <a:tc>
                  <a:txBody>
                    <a:bodyPr/>
                    <a:lstStyle/>
                    <a:p>
                      <a:pPr algn="l"/>
                      <a:r>
                        <a:rPr lang="en-IN" dirty="0" smtClean="0"/>
                        <a:t>2</a:t>
                      </a:r>
                      <a:endParaRPr lang="en-IN" dirty="0"/>
                    </a:p>
                  </a:txBody>
                  <a:tcPr/>
                </a:tc>
                <a:tc>
                  <a:txBody>
                    <a:bodyPr/>
                    <a:lstStyle/>
                    <a:p>
                      <a:pPr algn="l"/>
                      <a:r>
                        <a:rPr lang="en-IN" dirty="0" smtClean="0"/>
                        <a:t>Set. discard(Object)</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To remove the element from</a:t>
                      </a:r>
                      <a:r>
                        <a:rPr lang="en-IN" baseline="0" dirty="0" smtClean="0"/>
                        <a:t> </a:t>
                      </a:r>
                      <a:r>
                        <a:rPr lang="en-IN" dirty="0" smtClean="0"/>
                        <a:t>the set</a:t>
                      </a:r>
                    </a:p>
                  </a:txBody>
                  <a:tcPr/>
                </a:tc>
              </a:tr>
              <a:tr h="227981">
                <a:tc>
                  <a:txBody>
                    <a:bodyPr/>
                    <a:lstStyle/>
                    <a:p>
                      <a:pPr algn="l"/>
                      <a:r>
                        <a:rPr lang="en-IN" dirty="0" smtClean="0"/>
                        <a:t>3</a:t>
                      </a:r>
                      <a:endParaRPr lang="en-IN" dirty="0"/>
                    </a:p>
                  </a:txBody>
                  <a:tcPr/>
                </a:tc>
                <a:tc>
                  <a:txBody>
                    <a:bodyPr/>
                    <a:lstStyle/>
                    <a:p>
                      <a:pPr algn="l"/>
                      <a:r>
                        <a:rPr lang="en-IN" dirty="0" smtClean="0"/>
                        <a:t>Set1|Set2</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Perform the union of two sets</a:t>
                      </a:r>
                    </a:p>
                  </a:txBody>
                  <a:tcPr/>
                </a:tc>
              </a:tr>
              <a:tr h="227981">
                <a:tc>
                  <a:txBody>
                    <a:bodyPr/>
                    <a:lstStyle/>
                    <a:p>
                      <a:pPr algn="l"/>
                      <a:r>
                        <a:rPr lang="en-IN" dirty="0" smtClean="0"/>
                        <a:t>4</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Set1&amp;Set2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Perform the intersection of two sets</a:t>
                      </a:r>
                    </a:p>
                  </a:txBody>
                  <a:tcPr/>
                </a:tc>
              </a:tr>
              <a:tr h="227981">
                <a:tc>
                  <a:txBody>
                    <a:bodyPr/>
                    <a:lstStyle/>
                    <a:p>
                      <a:pPr algn="l"/>
                      <a:r>
                        <a:rPr lang="en-IN" dirty="0" smtClean="0"/>
                        <a:t>5</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Set1 – Set2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Perform the difference of two sets</a:t>
                      </a:r>
                    </a:p>
                  </a:txBody>
                  <a:tcPr/>
                </a:tc>
              </a:tr>
              <a:tr h="227981">
                <a:tc>
                  <a:txBody>
                    <a:bodyPr/>
                    <a:lstStyle/>
                    <a:p>
                      <a:pPr algn="l"/>
                      <a:r>
                        <a:rPr lang="en-IN" dirty="0" smtClean="0"/>
                        <a:t>6</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Set1 &lt;= Set2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Perform the </a:t>
                      </a:r>
                      <a:r>
                        <a:rPr lang="en-IN" dirty="0" err="1" smtClean="0"/>
                        <a:t>comparision</a:t>
                      </a:r>
                      <a:r>
                        <a:rPr lang="en-IN" smtClean="0"/>
                        <a:t> of </a:t>
                      </a:r>
                      <a:r>
                        <a:rPr lang="en-IN" dirty="0" smtClean="0"/>
                        <a:t>two sets</a:t>
                      </a:r>
                    </a:p>
                  </a:txBody>
                  <a:tcPr/>
                </a:tc>
              </a:tr>
            </a:tbl>
          </a:graphicData>
        </a:graphic>
      </p:graphicFrame>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endParaRPr lang="en-IN" dirty="0"/>
          </a:p>
        </p:txBody>
      </p:sp>
      <p:sp>
        <p:nvSpPr>
          <p:cNvPr id="3" name="Content Placeholder 2"/>
          <p:cNvSpPr>
            <a:spLocks noGrp="1"/>
          </p:cNvSpPr>
          <p:nvPr>
            <p:ph idx="1"/>
          </p:nvPr>
        </p:nvSpPr>
        <p:spPr>
          <a:xfrm>
            <a:off x="457200" y="1071546"/>
            <a:ext cx="8229600" cy="5643602"/>
          </a:xfrm>
        </p:spPr>
        <p:txBody>
          <a:bodyPr>
            <a:normAutofit/>
          </a:bodyPr>
          <a:lstStyle/>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1199</TotalTime>
  <Words>6246</Words>
  <Application>Microsoft Office PowerPoint</Application>
  <PresentationFormat>On-screen Show (4:3)</PresentationFormat>
  <Paragraphs>1155</Paragraphs>
  <Slides>108</Slides>
  <Notes>0</Notes>
  <HiddenSlides>0</HiddenSlides>
  <MMClips>0</MMClips>
  <ScaleCrop>false</ScaleCrop>
  <HeadingPairs>
    <vt:vector size="4" baseType="variant">
      <vt:variant>
        <vt:lpstr>Theme</vt:lpstr>
      </vt:variant>
      <vt:variant>
        <vt:i4>1</vt:i4>
      </vt:variant>
      <vt:variant>
        <vt:lpstr>Slide Titles</vt:lpstr>
      </vt:variant>
      <vt:variant>
        <vt:i4>108</vt:i4>
      </vt:variant>
    </vt:vector>
  </HeadingPairs>
  <TitlesOfParts>
    <vt:vector size="109" baseType="lpstr">
      <vt:lpstr>Office Theme</vt:lpstr>
      <vt:lpstr>Python</vt:lpstr>
      <vt:lpstr> Introduction</vt:lpstr>
      <vt:lpstr>Python Features</vt:lpstr>
      <vt:lpstr>Identifiers</vt:lpstr>
      <vt:lpstr>Reserved Keywords</vt:lpstr>
      <vt:lpstr>Lines and Indentation</vt:lpstr>
      <vt:lpstr>Quotation in Python</vt:lpstr>
      <vt:lpstr>Comments in Python</vt:lpstr>
      <vt:lpstr>Multiple Statements on a Single Line</vt:lpstr>
      <vt:lpstr>Command Line Arguments</vt:lpstr>
      <vt:lpstr>Variables</vt:lpstr>
      <vt:lpstr>Data Types</vt:lpstr>
      <vt:lpstr>Numbers</vt:lpstr>
      <vt:lpstr>Strings</vt:lpstr>
      <vt:lpstr>Lists</vt:lpstr>
      <vt:lpstr>Tuples</vt:lpstr>
      <vt:lpstr>Dictionary</vt:lpstr>
      <vt:lpstr>Data Type Conversion</vt:lpstr>
      <vt:lpstr>Data Type Conversion</vt:lpstr>
      <vt:lpstr>Operators</vt:lpstr>
      <vt:lpstr>Arithmetic Operators  Assume variable a holds 10 and variable b holds 20, then</vt:lpstr>
      <vt:lpstr>Comparison Operators Assume variable a holds 10 and variable b holds 20, then</vt:lpstr>
      <vt:lpstr>Assignment Operators Assume variable a holds 10 and variable b holds 20, then</vt:lpstr>
      <vt:lpstr>Bitwise Operators</vt:lpstr>
      <vt:lpstr>Slide 25</vt:lpstr>
      <vt:lpstr>Logical Operators</vt:lpstr>
      <vt:lpstr>Membership Operators</vt:lpstr>
      <vt:lpstr>Identity Operators</vt:lpstr>
      <vt:lpstr>Operators Precedence</vt:lpstr>
      <vt:lpstr>Decision Making</vt:lpstr>
      <vt:lpstr>Slide 31</vt:lpstr>
      <vt:lpstr>Loops</vt:lpstr>
      <vt:lpstr>Slide 33</vt:lpstr>
      <vt:lpstr>Loop Control Statements</vt:lpstr>
      <vt:lpstr>Number Type Conversion</vt:lpstr>
      <vt:lpstr>Mathematical Functions</vt:lpstr>
      <vt:lpstr>Mathematical Functions</vt:lpstr>
      <vt:lpstr>Random Number Functions</vt:lpstr>
      <vt:lpstr>Trigonometric Functions</vt:lpstr>
      <vt:lpstr>Mathematical Constants</vt:lpstr>
      <vt:lpstr>Strings</vt:lpstr>
      <vt:lpstr>Accessing Values in Strings</vt:lpstr>
      <vt:lpstr>Updating Strings</vt:lpstr>
      <vt:lpstr>Escape Characters</vt:lpstr>
      <vt:lpstr>String Special Operators</vt:lpstr>
      <vt:lpstr>Built in String Methods</vt:lpstr>
      <vt:lpstr>Built in String Methods</vt:lpstr>
      <vt:lpstr>Built in String Methods</vt:lpstr>
      <vt:lpstr>Built in String Methods</vt:lpstr>
      <vt:lpstr>Built in String Methods</vt:lpstr>
      <vt:lpstr>Functions</vt:lpstr>
      <vt:lpstr>Defining a Function</vt:lpstr>
      <vt:lpstr>Slide 53</vt:lpstr>
      <vt:lpstr>Function Arguments</vt:lpstr>
      <vt:lpstr>Required arguments</vt:lpstr>
      <vt:lpstr>Keyword arguments</vt:lpstr>
      <vt:lpstr>Default arguments</vt:lpstr>
      <vt:lpstr>Variable-length arguments</vt:lpstr>
      <vt:lpstr>The Anonymous Functions</vt:lpstr>
      <vt:lpstr>Slide 60</vt:lpstr>
      <vt:lpstr>Scope of Variables</vt:lpstr>
      <vt:lpstr>Collections</vt:lpstr>
      <vt:lpstr>Collections</vt:lpstr>
      <vt:lpstr>List</vt:lpstr>
      <vt:lpstr>Accessing Values in Lists</vt:lpstr>
      <vt:lpstr>Updating Lists</vt:lpstr>
      <vt:lpstr>Deleting Lists</vt:lpstr>
      <vt:lpstr>Basic List Operations</vt:lpstr>
      <vt:lpstr>Built-in List Functions &amp; Methods</vt:lpstr>
      <vt:lpstr>Tuples</vt:lpstr>
      <vt:lpstr>Accessing Values in Tuples</vt:lpstr>
      <vt:lpstr>Updating Tuples</vt:lpstr>
      <vt:lpstr>Delete Tuple Elements</vt:lpstr>
      <vt:lpstr>Basic List Operations</vt:lpstr>
      <vt:lpstr>Built-in List Functions &amp; Methods</vt:lpstr>
      <vt:lpstr>Dictionary</vt:lpstr>
      <vt:lpstr>Accessing Values in Dictionary</vt:lpstr>
      <vt:lpstr>Updating Dictionary</vt:lpstr>
      <vt:lpstr>Delete Dictionary Elements</vt:lpstr>
      <vt:lpstr>Properties of Dictionary Keys</vt:lpstr>
      <vt:lpstr>Built-in Dictionary Functions and Methods</vt:lpstr>
      <vt:lpstr>Sets</vt:lpstr>
      <vt:lpstr>Creating a set</vt:lpstr>
      <vt:lpstr>Accessing Values in a Set</vt:lpstr>
      <vt:lpstr>Set Operations</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dc:creator>admin</dc:creator>
  <cp:lastModifiedBy>admin</cp:lastModifiedBy>
  <cp:revision>198</cp:revision>
  <dcterms:created xsi:type="dcterms:W3CDTF">2019-03-22T04:46:45Z</dcterms:created>
  <dcterms:modified xsi:type="dcterms:W3CDTF">2019-05-16T10:33:02Z</dcterms:modified>
</cp:coreProperties>
</file>